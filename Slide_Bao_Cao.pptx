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8288000" cy="10287000"/>
  <p:notesSz cx="6858000" cy="9144000"/>
  <p:embeddedFontLst>
    <p:embeddedFont>
      <p:font typeface="Clear Sans" panose="020B0604020202020204" charset="0"/>
      <p:regular r:id="rId18"/>
    </p:embeddedFont>
    <p:embeddedFont>
      <p:font typeface="Clear Sans Bold" panose="020B0604020202020204" charset="0"/>
      <p:regular r:id="rId19"/>
    </p:embeddedFont>
    <p:embeddedFont>
      <p:font typeface="Open Sans" panose="020B0606030504020204" pitchFamily="34" charset="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101" d="100"/>
          <a:sy n="101" d="100"/>
        </p:scale>
        <p:origin x="654" y="12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8/3/2025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7.sv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a:off x="0" y="-343"/>
            <a:ext cx="1538409" cy="1603701"/>
          </a:xfrm>
          <a:custGeom>
            <a:avLst/>
            <a:gdLst/>
            <a:ahLst/>
            <a:cxnLst/>
            <a:rect l="l" t="t" r="r" b="b"/>
            <a:pathLst>
              <a:path w="1538409" h="1603701">
                <a:moveTo>
                  <a:pt x="0" y="0"/>
                </a:moveTo>
                <a:lnTo>
                  <a:pt x="1538409" y="0"/>
                </a:lnTo>
                <a:lnTo>
                  <a:pt x="1538409" y="1603700"/>
                </a:lnTo>
                <a:lnTo>
                  <a:pt x="0" y="1603700"/>
                </a:lnTo>
                <a:lnTo>
                  <a:pt x="0" y="0"/>
                </a:lnTo>
                <a:close/>
              </a:path>
            </a:pathLst>
          </a:custGeom>
          <a:blipFill>
            <a:blip r:embed="rId2"/>
            <a:stretch>
              <a:fillRect r="-10403"/>
            </a:stretch>
          </a:blipFill>
        </p:spPr>
        <p:txBody>
          <a:bodyPr/>
          <a:lstStyle/>
          <a:p>
            <a:endParaRPr lang="en-US"/>
          </a:p>
        </p:txBody>
      </p:sp>
      <p:sp>
        <p:nvSpPr>
          <p:cNvPr id="3" name="TextBox 3"/>
          <p:cNvSpPr txBox="1"/>
          <p:nvPr/>
        </p:nvSpPr>
        <p:spPr>
          <a:xfrm>
            <a:off x="2677982" y="359506"/>
            <a:ext cx="12124096" cy="484395"/>
          </a:xfrm>
          <a:prstGeom prst="rect">
            <a:avLst/>
          </a:prstGeom>
        </p:spPr>
        <p:txBody>
          <a:bodyPr lIns="0" tIns="0" rIns="0" bIns="0" rtlCol="0" anchor="t">
            <a:spAutoFit/>
          </a:bodyPr>
          <a:lstStyle/>
          <a:p>
            <a:pPr algn="ctr">
              <a:lnSpc>
                <a:spcPts val="3428"/>
              </a:lnSpc>
            </a:pPr>
            <a:r>
              <a:rPr lang="en-US" sz="4285" b="1">
                <a:solidFill>
                  <a:srgbClr val="F1F6F9"/>
                </a:solidFill>
                <a:latin typeface="Clear Sans Bold"/>
                <a:ea typeface="Clear Sans Bold"/>
                <a:cs typeface="Clear Sans Bold"/>
                <a:sym typeface="Clear Sans Bold"/>
              </a:rPr>
              <a:t>NHẬP MÔN XỬ LÝ ẢNH SỐ</a:t>
            </a:r>
          </a:p>
        </p:txBody>
      </p:sp>
      <p:sp>
        <p:nvSpPr>
          <p:cNvPr id="4" name="TextBox 4"/>
          <p:cNvSpPr txBox="1"/>
          <p:nvPr/>
        </p:nvSpPr>
        <p:spPr>
          <a:xfrm>
            <a:off x="3877369" y="9447449"/>
            <a:ext cx="9000619" cy="679450"/>
          </a:xfrm>
          <a:prstGeom prst="rect">
            <a:avLst/>
          </a:prstGeom>
        </p:spPr>
        <p:txBody>
          <a:bodyPr lIns="0" tIns="0" rIns="0" bIns="0" rtlCol="0" anchor="t">
            <a:spAutoFit/>
          </a:bodyPr>
          <a:lstStyle/>
          <a:p>
            <a:pPr algn="ctr">
              <a:lnSpc>
                <a:spcPts val="5599"/>
              </a:lnSpc>
            </a:pPr>
            <a:r>
              <a:rPr lang="en-US" sz="3999">
                <a:solidFill>
                  <a:srgbClr val="F1F6F9"/>
                </a:solidFill>
                <a:latin typeface="Clear Sans"/>
                <a:ea typeface="Clear Sans"/>
                <a:cs typeface="Clear Sans"/>
                <a:sym typeface="Clear Sans"/>
              </a:rPr>
              <a:t>By: Nhóm 20</a:t>
            </a:r>
          </a:p>
        </p:txBody>
      </p:sp>
      <p:sp>
        <p:nvSpPr>
          <p:cNvPr id="5" name="TextBox 5"/>
          <p:cNvSpPr txBox="1"/>
          <p:nvPr/>
        </p:nvSpPr>
        <p:spPr>
          <a:xfrm>
            <a:off x="1672165" y="7221186"/>
            <a:ext cx="6198039" cy="450850"/>
          </a:xfrm>
          <a:prstGeom prst="rect">
            <a:avLst/>
          </a:prstGeom>
        </p:spPr>
        <p:txBody>
          <a:bodyPr lIns="0" tIns="0" rIns="0" bIns="0" rtlCol="0" anchor="t">
            <a:spAutoFit/>
          </a:bodyPr>
          <a:lstStyle/>
          <a:p>
            <a:pPr algn="r">
              <a:lnSpc>
                <a:spcPts val="3199"/>
              </a:lnSpc>
            </a:pPr>
            <a:r>
              <a:rPr lang="en-US" sz="3999" b="1">
                <a:solidFill>
                  <a:srgbClr val="F1F6F9"/>
                </a:solidFill>
                <a:latin typeface="Clear Sans Bold"/>
                <a:ea typeface="Clear Sans Bold"/>
                <a:cs typeface="Clear Sans Bold"/>
                <a:sym typeface="Clear Sans Bold"/>
              </a:rPr>
              <a:t>GVHD: TS.ĐỖ HỮU QUÂN</a:t>
            </a:r>
          </a:p>
        </p:txBody>
      </p:sp>
      <p:sp>
        <p:nvSpPr>
          <p:cNvPr id="6" name="TextBox 6"/>
          <p:cNvSpPr txBox="1"/>
          <p:nvPr/>
        </p:nvSpPr>
        <p:spPr>
          <a:xfrm>
            <a:off x="1672165" y="3241657"/>
            <a:ext cx="1649282" cy="450850"/>
          </a:xfrm>
          <a:prstGeom prst="rect">
            <a:avLst/>
          </a:prstGeom>
        </p:spPr>
        <p:txBody>
          <a:bodyPr lIns="0" tIns="0" rIns="0" bIns="0" rtlCol="0" anchor="t">
            <a:spAutoFit/>
          </a:bodyPr>
          <a:lstStyle/>
          <a:p>
            <a:pPr algn="r">
              <a:lnSpc>
                <a:spcPts val="3199"/>
              </a:lnSpc>
            </a:pPr>
            <a:r>
              <a:rPr lang="en-US" sz="3999" b="1">
                <a:solidFill>
                  <a:srgbClr val="F1F6F9"/>
                </a:solidFill>
                <a:latin typeface="Clear Sans Bold"/>
                <a:ea typeface="Clear Sans Bold"/>
                <a:cs typeface="Clear Sans Bold"/>
                <a:sym typeface="Clear Sans Bold"/>
              </a:rPr>
              <a:t>SVTH:</a:t>
            </a:r>
          </a:p>
        </p:txBody>
      </p:sp>
      <p:sp>
        <p:nvSpPr>
          <p:cNvPr id="7" name="TextBox 7"/>
          <p:cNvSpPr txBox="1"/>
          <p:nvPr/>
        </p:nvSpPr>
        <p:spPr>
          <a:xfrm>
            <a:off x="1028700" y="3959207"/>
            <a:ext cx="13147128" cy="850900"/>
          </a:xfrm>
          <a:prstGeom prst="rect">
            <a:avLst/>
          </a:prstGeom>
        </p:spPr>
        <p:txBody>
          <a:bodyPr lIns="0" tIns="0" rIns="0" bIns="0" rtlCol="0" anchor="t">
            <a:spAutoFit/>
          </a:bodyPr>
          <a:lstStyle/>
          <a:p>
            <a:pPr algn="r">
              <a:lnSpc>
                <a:spcPts val="3199"/>
              </a:lnSpc>
            </a:pPr>
            <a:r>
              <a:rPr lang="en-US" sz="3999">
                <a:solidFill>
                  <a:srgbClr val="F1F6F9"/>
                </a:solidFill>
                <a:latin typeface="Clear Sans"/>
                <a:ea typeface="Clear Sans"/>
                <a:cs typeface="Clear Sans"/>
                <a:sym typeface="Clear Sans"/>
              </a:rPr>
              <a:t> NGUYỄN HUỲNH ANH TÚ-2374802010536</a:t>
            </a:r>
          </a:p>
          <a:p>
            <a:pPr algn="r">
              <a:lnSpc>
                <a:spcPts val="3199"/>
              </a:lnSpc>
            </a:pPr>
            <a:endParaRPr lang="en-US" sz="3999">
              <a:solidFill>
                <a:srgbClr val="F1F6F9"/>
              </a:solidFill>
              <a:latin typeface="Clear Sans"/>
              <a:ea typeface="Clear Sans"/>
              <a:cs typeface="Clear Sans"/>
              <a:sym typeface="Clear Sans"/>
            </a:endParaRPr>
          </a:p>
        </p:txBody>
      </p:sp>
      <p:sp>
        <p:nvSpPr>
          <p:cNvPr id="8" name="TextBox 8"/>
          <p:cNvSpPr txBox="1"/>
          <p:nvPr/>
        </p:nvSpPr>
        <p:spPr>
          <a:xfrm>
            <a:off x="1208542" y="4762482"/>
            <a:ext cx="10877016" cy="450850"/>
          </a:xfrm>
          <a:prstGeom prst="rect">
            <a:avLst/>
          </a:prstGeom>
        </p:spPr>
        <p:txBody>
          <a:bodyPr lIns="0" tIns="0" rIns="0" bIns="0" rtlCol="0" anchor="t">
            <a:spAutoFit/>
          </a:bodyPr>
          <a:lstStyle/>
          <a:p>
            <a:pPr algn="r">
              <a:lnSpc>
                <a:spcPts val="3199"/>
              </a:lnSpc>
            </a:pPr>
            <a:r>
              <a:rPr lang="en-US" sz="3999">
                <a:solidFill>
                  <a:srgbClr val="F1F6F9"/>
                </a:solidFill>
                <a:latin typeface="Clear Sans"/>
                <a:ea typeface="Clear Sans"/>
                <a:cs typeface="Clear Sans"/>
                <a:sym typeface="Clear Sans"/>
              </a:rPr>
              <a:t>LÊ HOÀNG HIỆP-2374802010139</a:t>
            </a:r>
          </a:p>
        </p:txBody>
      </p:sp>
      <p:sp>
        <p:nvSpPr>
          <p:cNvPr id="9" name="TextBox 9"/>
          <p:cNvSpPr txBox="1"/>
          <p:nvPr/>
        </p:nvSpPr>
        <p:spPr>
          <a:xfrm>
            <a:off x="3550624" y="5589236"/>
            <a:ext cx="10906906" cy="850900"/>
          </a:xfrm>
          <a:prstGeom prst="rect">
            <a:avLst/>
          </a:prstGeom>
        </p:spPr>
        <p:txBody>
          <a:bodyPr lIns="0" tIns="0" rIns="0" bIns="0" rtlCol="0" anchor="t">
            <a:spAutoFit/>
          </a:bodyPr>
          <a:lstStyle/>
          <a:p>
            <a:pPr algn="r">
              <a:lnSpc>
                <a:spcPts val="3199"/>
              </a:lnSpc>
            </a:pPr>
            <a:r>
              <a:rPr lang="en-US" sz="3999">
                <a:solidFill>
                  <a:srgbClr val="F1F6F9"/>
                </a:solidFill>
                <a:latin typeface="Clear Sans"/>
                <a:ea typeface="Clear Sans"/>
                <a:cs typeface="Clear Sans"/>
                <a:sym typeface="Clear Sans"/>
              </a:rPr>
              <a:t> NGUYỄN XUÂN CÔNG SƠN-2374802013440</a:t>
            </a:r>
          </a:p>
          <a:p>
            <a:pPr algn="r">
              <a:lnSpc>
                <a:spcPts val="3199"/>
              </a:lnSpc>
            </a:pPr>
            <a:endParaRPr lang="en-US" sz="3999">
              <a:solidFill>
                <a:srgbClr val="F1F6F9"/>
              </a:solidFill>
              <a:latin typeface="Clear Sans"/>
              <a:ea typeface="Clear Sans"/>
              <a:cs typeface="Clear Sans"/>
              <a:sym typeface="Clear Sans"/>
            </a:endParaRPr>
          </a:p>
        </p:txBody>
      </p:sp>
      <p:sp>
        <p:nvSpPr>
          <p:cNvPr id="10" name="TextBox 10"/>
          <p:cNvSpPr txBox="1"/>
          <p:nvPr/>
        </p:nvSpPr>
        <p:spPr>
          <a:xfrm>
            <a:off x="1056142" y="6365857"/>
            <a:ext cx="12881360" cy="850900"/>
          </a:xfrm>
          <a:prstGeom prst="rect">
            <a:avLst/>
          </a:prstGeom>
        </p:spPr>
        <p:txBody>
          <a:bodyPr lIns="0" tIns="0" rIns="0" bIns="0" rtlCol="0" anchor="t">
            <a:spAutoFit/>
          </a:bodyPr>
          <a:lstStyle/>
          <a:p>
            <a:pPr algn="r">
              <a:lnSpc>
                <a:spcPts val="3199"/>
              </a:lnSpc>
            </a:pPr>
            <a:r>
              <a:rPr lang="en-US" sz="3999">
                <a:solidFill>
                  <a:srgbClr val="F1F6F9"/>
                </a:solidFill>
                <a:latin typeface="Clear Sans"/>
                <a:ea typeface="Clear Sans"/>
                <a:cs typeface="Clear Sans"/>
                <a:sym typeface="Clear Sans"/>
              </a:rPr>
              <a:t>NGUYỄN PHƯỚC THÀNH-2374802013578</a:t>
            </a:r>
          </a:p>
          <a:p>
            <a:pPr algn="r">
              <a:lnSpc>
                <a:spcPts val="3199"/>
              </a:lnSpc>
            </a:pPr>
            <a:endParaRPr lang="en-US" sz="3999">
              <a:solidFill>
                <a:srgbClr val="F1F6F9"/>
              </a:solidFill>
              <a:latin typeface="Clear Sans"/>
              <a:ea typeface="Clear Sans"/>
              <a:cs typeface="Clear Sans"/>
              <a:sym typeface="Clear Sans"/>
            </a:endParaRPr>
          </a:p>
        </p:txBody>
      </p:sp>
      <p:sp>
        <p:nvSpPr>
          <p:cNvPr id="11" name="TextBox 11"/>
          <p:cNvSpPr txBox="1"/>
          <p:nvPr/>
        </p:nvSpPr>
        <p:spPr>
          <a:xfrm>
            <a:off x="9304865" y="7221186"/>
            <a:ext cx="8237937" cy="450850"/>
          </a:xfrm>
          <a:prstGeom prst="rect">
            <a:avLst/>
          </a:prstGeom>
        </p:spPr>
        <p:txBody>
          <a:bodyPr lIns="0" tIns="0" rIns="0" bIns="0" rtlCol="0" anchor="t">
            <a:spAutoFit/>
          </a:bodyPr>
          <a:lstStyle/>
          <a:p>
            <a:pPr algn="r">
              <a:lnSpc>
                <a:spcPts val="3199"/>
              </a:lnSpc>
            </a:pPr>
            <a:r>
              <a:rPr lang="en-US" sz="3999" b="1">
                <a:solidFill>
                  <a:srgbClr val="F1F6F9"/>
                </a:solidFill>
                <a:latin typeface="Clear Sans Bold"/>
                <a:ea typeface="Clear Sans Bold"/>
                <a:cs typeface="Clear Sans Bold"/>
                <a:sym typeface="Clear Sans Bold"/>
              </a:rPr>
              <a:t>NGÀNH: CÔNG NGHỆ THÔNG TIN</a:t>
            </a:r>
          </a:p>
        </p:txBody>
      </p:sp>
      <p:sp>
        <p:nvSpPr>
          <p:cNvPr id="12" name="TextBox 12"/>
          <p:cNvSpPr txBox="1"/>
          <p:nvPr/>
        </p:nvSpPr>
        <p:spPr>
          <a:xfrm>
            <a:off x="1672165" y="877264"/>
            <a:ext cx="14943669" cy="1526193"/>
          </a:xfrm>
          <a:prstGeom prst="rect">
            <a:avLst/>
          </a:prstGeom>
        </p:spPr>
        <p:txBody>
          <a:bodyPr lIns="0" tIns="0" rIns="0" bIns="0" rtlCol="0" anchor="t">
            <a:spAutoFit/>
          </a:bodyPr>
          <a:lstStyle/>
          <a:p>
            <a:pPr algn="ctr">
              <a:lnSpc>
                <a:spcPts val="6179"/>
              </a:lnSpc>
            </a:pPr>
            <a:r>
              <a:rPr lang="en-US" sz="4413" b="1">
                <a:solidFill>
                  <a:srgbClr val="F1F6F9"/>
                </a:solidFill>
                <a:latin typeface="Clear Sans Bold"/>
                <a:ea typeface="Clear Sans Bold"/>
                <a:cs typeface="Clear Sans Bold"/>
                <a:sym typeface="Clear Sans Bold"/>
              </a:rPr>
              <a:t>TÊN ĐỀ TÀI: PHÁT HIỆN VÀ ĐẾM SỐ LƯỢNG ĐỐI TƯỢNG TRONG ẢNH (NGƯỜI, XE, VẬT THỂ)</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a:off x="0" y="622935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flipV="1">
            <a:off x="14173200" y="-5715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028700" y="1219719"/>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4038600" y="1842962"/>
            <a:ext cx="8414221" cy="955674"/>
          </a:xfrm>
          <a:prstGeom prst="rect">
            <a:avLst/>
          </a:prstGeom>
        </p:spPr>
        <p:txBody>
          <a:bodyPr wrap="square" lIns="0" tIns="0" rIns="0" bIns="0" rtlCol="0" anchor="t">
            <a:spAutoFit/>
          </a:bodyPr>
          <a:lstStyle/>
          <a:p>
            <a:pPr algn="just">
              <a:lnSpc>
                <a:spcPts val="6799"/>
              </a:lnSpc>
            </a:pPr>
            <a:r>
              <a:rPr lang="en-US" sz="8499" b="1" dirty="0" err="1">
                <a:solidFill>
                  <a:srgbClr val="14274E"/>
                </a:solidFill>
                <a:latin typeface="Clear Sans Bold"/>
                <a:ea typeface="Clear Sans Bold"/>
                <a:cs typeface="Clear Sans Bold"/>
                <a:sym typeface="Clear Sans Bold"/>
              </a:rPr>
              <a:t>Giới</a:t>
            </a:r>
            <a:r>
              <a:rPr lang="en-US" sz="8499" b="1" dirty="0">
                <a:solidFill>
                  <a:srgbClr val="14274E"/>
                </a:solidFill>
                <a:latin typeface="Clear Sans Bold"/>
                <a:ea typeface="Clear Sans Bold"/>
                <a:cs typeface="Clear Sans Bold"/>
                <a:sym typeface="Clear Sans Bold"/>
              </a:rPr>
              <a:t> </a:t>
            </a:r>
            <a:r>
              <a:rPr lang="en-US" sz="8499" b="1" dirty="0" err="1">
                <a:solidFill>
                  <a:srgbClr val="14274E"/>
                </a:solidFill>
                <a:latin typeface="Clear Sans Bold"/>
                <a:ea typeface="Clear Sans Bold"/>
                <a:cs typeface="Clear Sans Bold"/>
                <a:sym typeface="Clear Sans Bold"/>
              </a:rPr>
              <a:t>thiệu</a:t>
            </a:r>
            <a:r>
              <a:rPr lang="en-US" sz="8499" b="1" dirty="0">
                <a:solidFill>
                  <a:srgbClr val="14274E"/>
                </a:solidFill>
                <a:latin typeface="Clear Sans Bold"/>
                <a:ea typeface="Clear Sans Bold"/>
                <a:cs typeface="Clear Sans Bold"/>
                <a:sym typeface="Clear Sans Bold"/>
              </a:rPr>
              <a:t> </a:t>
            </a:r>
            <a:r>
              <a:rPr lang="en-US" sz="8499" b="1" dirty="0" err="1">
                <a:solidFill>
                  <a:srgbClr val="14274E"/>
                </a:solidFill>
                <a:latin typeface="Clear Sans Bold"/>
                <a:ea typeface="Clear Sans Bold"/>
                <a:cs typeface="Clear Sans Bold"/>
                <a:sym typeface="Clear Sans Bold"/>
              </a:rPr>
              <a:t>đề</a:t>
            </a:r>
            <a:r>
              <a:rPr lang="en-US" sz="8499" b="1" dirty="0">
                <a:solidFill>
                  <a:srgbClr val="14274E"/>
                </a:solidFill>
                <a:latin typeface="Clear Sans Bold"/>
                <a:ea typeface="Clear Sans Bold"/>
                <a:cs typeface="Clear Sans Bold"/>
                <a:sym typeface="Clear Sans Bold"/>
              </a:rPr>
              <a:t> </a:t>
            </a:r>
            <a:r>
              <a:rPr lang="en-US" sz="8499" b="1" dirty="0" err="1">
                <a:solidFill>
                  <a:srgbClr val="14274E"/>
                </a:solidFill>
                <a:latin typeface="Clear Sans Bold"/>
                <a:ea typeface="Clear Sans Bold"/>
                <a:cs typeface="Clear Sans Bold"/>
                <a:sym typeface="Clear Sans Bold"/>
              </a:rPr>
              <a:t>tài</a:t>
            </a:r>
            <a:endParaRPr lang="en-US" sz="8499" b="1" dirty="0">
              <a:solidFill>
                <a:srgbClr val="14274E"/>
              </a:solidFill>
              <a:latin typeface="Clear Sans Bold"/>
              <a:ea typeface="Clear Sans Bold"/>
              <a:cs typeface="Clear Sans Bold"/>
              <a:sym typeface="Clear Sans Bold"/>
            </a:endParaRPr>
          </a:p>
        </p:txBody>
      </p:sp>
      <p:sp>
        <p:nvSpPr>
          <p:cNvPr id="8" name="TextBox 8"/>
          <p:cNvSpPr txBox="1"/>
          <p:nvPr/>
        </p:nvSpPr>
        <p:spPr>
          <a:xfrm>
            <a:off x="1381125" y="2790827"/>
            <a:ext cx="16230600" cy="4495798"/>
          </a:xfrm>
          <a:prstGeom prst="rect">
            <a:avLst/>
          </a:prstGeom>
        </p:spPr>
        <p:txBody>
          <a:bodyPr lIns="0" tIns="0" rIns="0" bIns="0" rtlCol="0" anchor="t">
            <a:spAutoFit/>
          </a:bodyPr>
          <a:lstStyle/>
          <a:p>
            <a:pPr algn="l">
              <a:lnSpc>
                <a:spcPts val="6000"/>
              </a:lnSpc>
            </a:pPr>
            <a:r>
              <a:rPr lang="en-US" sz="3000" dirty="0">
                <a:solidFill>
                  <a:srgbClr val="14274E"/>
                </a:solidFill>
                <a:latin typeface="Clear Sans"/>
                <a:ea typeface="Clear Sans"/>
                <a:cs typeface="Clear Sans"/>
                <a:sym typeface="Clear Sans"/>
              </a:rPr>
              <a:t>PHÁT HIỆN VÀ ĐẾM ĐỐI TƯỢNG (NGƯỜI, XE, VẬT THỂ) TRONG ẢNH/VIDEO.</a:t>
            </a:r>
          </a:p>
          <a:p>
            <a:pPr algn="l">
              <a:lnSpc>
                <a:spcPts val="6000"/>
              </a:lnSpc>
            </a:pPr>
            <a:r>
              <a:rPr lang="en-US" sz="3000" dirty="0">
                <a:solidFill>
                  <a:srgbClr val="14274E"/>
                </a:solidFill>
                <a:latin typeface="Clear Sans"/>
                <a:ea typeface="Clear Sans"/>
                <a:cs typeface="Clear Sans"/>
                <a:sym typeface="Clear Sans"/>
              </a:rPr>
              <a:t>TẦM QUAN TRỌNG CỦA VIỆC ÁP DỤNG VÀO THỰC TẾ:</a:t>
            </a:r>
          </a:p>
          <a:p>
            <a:pPr marL="647705" lvl="1" indent="-323852" algn="l">
              <a:lnSpc>
                <a:spcPts val="6000"/>
              </a:lnSpc>
              <a:buFont typeface="Arial"/>
              <a:buChar char="•"/>
            </a:pPr>
            <a:r>
              <a:rPr lang="en-US" sz="3000" dirty="0">
                <a:solidFill>
                  <a:srgbClr val="14274E"/>
                </a:solidFill>
                <a:latin typeface="Clear Sans"/>
                <a:ea typeface="Clear Sans"/>
                <a:cs typeface="Clear Sans"/>
                <a:sym typeface="Clear Sans"/>
              </a:rPr>
              <a:t>GIÁM SÁT GIAO THÔNG</a:t>
            </a:r>
          </a:p>
          <a:p>
            <a:pPr marL="647705" lvl="1" indent="-323852" algn="l">
              <a:lnSpc>
                <a:spcPts val="6000"/>
              </a:lnSpc>
              <a:buFont typeface="Arial"/>
              <a:buChar char="•"/>
            </a:pPr>
            <a:r>
              <a:rPr lang="en-US" sz="3000" dirty="0">
                <a:solidFill>
                  <a:srgbClr val="14274E"/>
                </a:solidFill>
                <a:latin typeface="Clear Sans"/>
                <a:ea typeface="Clear Sans"/>
                <a:cs typeface="Clear Sans"/>
                <a:sym typeface="Clear Sans"/>
              </a:rPr>
              <a:t>ĐẾM NGƯỜI RA VÀO</a:t>
            </a:r>
          </a:p>
          <a:p>
            <a:pPr marL="647705" lvl="1" indent="-323852" algn="l">
              <a:lnSpc>
                <a:spcPts val="6000"/>
              </a:lnSpc>
              <a:buFont typeface="Arial"/>
              <a:buChar char="•"/>
            </a:pPr>
            <a:r>
              <a:rPr lang="en-US" sz="3000" dirty="0">
                <a:solidFill>
                  <a:srgbClr val="14274E"/>
                </a:solidFill>
                <a:latin typeface="Clear Sans"/>
                <a:ea typeface="Clear Sans"/>
                <a:cs typeface="Clear Sans"/>
                <a:sym typeface="Clear Sans"/>
              </a:rPr>
              <a:t>THEO DÕI AN NINH TỰ ĐỘNG</a:t>
            </a:r>
          </a:p>
          <a:p>
            <a:pPr algn="l">
              <a:lnSpc>
                <a:spcPts val="6000"/>
              </a:lnSpc>
            </a:pPr>
            <a:endParaRPr lang="en-US" sz="3000" dirty="0">
              <a:solidFill>
                <a:srgbClr val="14274E"/>
              </a:solidFill>
              <a:latin typeface="Clear Sans"/>
              <a:ea typeface="Clear Sans"/>
              <a:cs typeface="Clear Sans"/>
              <a:sym typeface="Clear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V="1">
            <a:off x="0" y="0"/>
            <a:ext cx="3970782" cy="4114800"/>
          </a:xfrm>
          <a:custGeom>
            <a:avLst/>
            <a:gdLst/>
            <a:ahLst/>
            <a:cxnLst/>
            <a:rect l="l" t="t" r="r" b="b"/>
            <a:pathLst>
              <a:path w="3970782" h="4114800">
                <a:moveTo>
                  <a:pt x="0" y="4114800"/>
                </a:moveTo>
                <a:lnTo>
                  <a:pt x="3970782" y="4114800"/>
                </a:lnTo>
                <a:lnTo>
                  <a:pt x="3970782" y="0"/>
                </a:lnTo>
                <a:lnTo>
                  <a:pt x="0" y="0"/>
                </a:lnTo>
                <a:lnTo>
                  <a:pt x="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a:off x="14317218" y="6172200"/>
            <a:ext cx="3970782" cy="4114800"/>
          </a:xfrm>
          <a:custGeom>
            <a:avLst/>
            <a:gdLst/>
            <a:ahLst/>
            <a:cxnLst/>
            <a:rect l="l" t="t" r="r" b="b"/>
            <a:pathLst>
              <a:path w="3970782" h="4114800">
                <a:moveTo>
                  <a:pt x="3970782" y="0"/>
                </a:moveTo>
                <a:lnTo>
                  <a:pt x="0" y="0"/>
                </a:lnTo>
                <a:lnTo>
                  <a:pt x="0" y="4114800"/>
                </a:lnTo>
                <a:lnTo>
                  <a:pt x="3970782" y="4114800"/>
                </a:lnTo>
                <a:lnTo>
                  <a:pt x="397078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028700" y="1067319"/>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3433107" y="3539997"/>
            <a:ext cx="11421785" cy="3580765"/>
          </a:xfrm>
          <a:prstGeom prst="rect">
            <a:avLst/>
          </a:prstGeom>
        </p:spPr>
        <p:txBody>
          <a:bodyPr lIns="0" tIns="0" rIns="0" bIns="0" rtlCol="0" anchor="t">
            <a:spAutoFit/>
          </a:bodyPr>
          <a:lstStyle/>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Tìm hiểu thuật toán phát hiện đối tượng (Object Detection)</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Áp dụng mô hình YOLOv8s</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Thực hiện đếm chính xác số lượng vật thể qua vùng xác định</a:t>
            </a:r>
          </a:p>
          <a:p>
            <a:pPr algn="l">
              <a:lnSpc>
                <a:spcPts val="4759"/>
              </a:lnSpc>
            </a:pPr>
            <a:endParaRPr lang="en-US" sz="3399">
              <a:solidFill>
                <a:srgbClr val="14274E"/>
              </a:solidFill>
              <a:latin typeface="Clear Sans"/>
              <a:ea typeface="Clear Sans"/>
              <a:cs typeface="Clear Sans"/>
              <a:sym typeface="Clear Sans"/>
            </a:endParaRPr>
          </a:p>
        </p:txBody>
      </p:sp>
      <p:sp>
        <p:nvSpPr>
          <p:cNvPr id="8" name="TextBox 8"/>
          <p:cNvSpPr txBox="1"/>
          <p:nvPr/>
        </p:nvSpPr>
        <p:spPr>
          <a:xfrm>
            <a:off x="5139538" y="1995868"/>
            <a:ext cx="8008924" cy="181292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Mục tiêu đề tài:</a:t>
            </a:r>
          </a:p>
          <a:p>
            <a:pPr algn="just">
              <a:lnSpc>
                <a:spcPts val="6799"/>
              </a:lnSpc>
            </a:pPr>
            <a:endParaRPr lang="en-US" sz="8499" b="1">
              <a:solidFill>
                <a:srgbClr val="14274E"/>
              </a:solidFill>
              <a:latin typeface="Clear Sans Bold"/>
              <a:ea typeface="Clear Sans Bold"/>
              <a:cs typeface="Clear Sans Bold"/>
              <a:sym typeface="Clear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a:off x="0" y="622935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flipV="1">
            <a:off x="14173200" y="-5715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028700" y="1067319"/>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4537996" y="1842962"/>
            <a:ext cx="8540270"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Công cụ sử dụng</a:t>
            </a:r>
          </a:p>
        </p:txBody>
      </p:sp>
      <p:sp>
        <p:nvSpPr>
          <p:cNvPr id="8" name="TextBox 8"/>
          <p:cNvSpPr txBox="1"/>
          <p:nvPr/>
        </p:nvSpPr>
        <p:spPr>
          <a:xfrm>
            <a:off x="1883840" y="3797822"/>
            <a:ext cx="14520319" cy="3203578"/>
          </a:xfrm>
          <a:prstGeom prst="rect">
            <a:avLst/>
          </a:prstGeom>
        </p:spPr>
        <p:txBody>
          <a:bodyPr lIns="0" tIns="0" rIns="0" bIns="0" rtlCol="0" anchor="t">
            <a:spAutoFit/>
          </a:bodyPr>
          <a:lstStyle/>
          <a:p>
            <a:pPr algn="l">
              <a:lnSpc>
                <a:spcPts val="4620"/>
              </a:lnSpc>
              <a:spcBef>
                <a:spcPct val="0"/>
              </a:spcBef>
            </a:pPr>
            <a:r>
              <a:rPr lang="en-US" sz="3300">
                <a:solidFill>
                  <a:srgbClr val="14274E"/>
                </a:solidFill>
                <a:latin typeface="Open Sans"/>
                <a:ea typeface="Open Sans"/>
                <a:cs typeface="Open Sans"/>
                <a:sym typeface="Open Sans"/>
              </a:rPr>
              <a:t>·Visual Stadio Code</a:t>
            </a:r>
          </a:p>
          <a:p>
            <a:pPr algn="l">
              <a:lnSpc>
                <a:spcPts val="4620"/>
              </a:lnSpc>
              <a:spcBef>
                <a:spcPct val="0"/>
              </a:spcBef>
            </a:pPr>
            <a:r>
              <a:rPr lang="en-US" sz="3300">
                <a:solidFill>
                  <a:srgbClr val="14274E"/>
                </a:solidFill>
                <a:latin typeface="Open Sans"/>
                <a:ea typeface="Open Sans"/>
                <a:cs typeface="Open Sans"/>
                <a:sym typeface="Open Sans"/>
              </a:rPr>
              <a:t>·OpenCV</a:t>
            </a:r>
          </a:p>
          <a:p>
            <a:pPr algn="l">
              <a:lnSpc>
                <a:spcPts val="4620"/>
              </a:lnSpc>
              <a:spcBef>
                <a:spcPct val="0"/>
              </a:spcBef>
            </a:pPr>
            <a:r>
              <a:rPr lang="en-US" sz="3300">
                <a:solidFill>
                  <a:srgbClr val="14274E"/>
                </a:solidFill>
                <a:latin typeface="Open Sans"/>
                <a:ea typeface="Open Sans"/>
                <a:cs typeface="Open Sans"/>
                <a:sym typeface="Open Sans"/>
              </a:rPr>
              <a:t>·NumPy</a:t>
            </a:r>
          </a:p>
          <a:p>
            <a:pPr algn="l">
              <a:lnSpc>
                <a:spcPts val="4620"/>
              </a:lnSpc>
              <a:spcBef>
                <a:spcPct val="0"/>
              </a:spcBef>
            </a:pPr>
            <a:r>
              <a:rPr lang="en-US" sz="3300">
                <a:solidFill>
                  <a:srgbClr val="14274E"/>
                </a:solidFill>
                <a:latin typeface="Open Sans"/>
                <a:ea typeface="Open Sans"/>
                <a:cs typeface="Open Sans"/>
                <a:sym typeface="Open Sans"/>
              </a:rPr>
              <a:t>·Mô hình YOLOv8</a:t>
            </a:r>
          </a:p>
          <a:p>
            <a:pPr algn="l">
              <a:lnSpc>
                <a:spcPts val="4620"/>
              </a:lnSpc>
              <a:spcBef>
                <a:spcPct val="0"/>
              </a:spcBef>
            </a:pPr>
            <a:r>
              <a:rPr lang="en-US" sz="3300">
                <a:solidFill>
                  <a:srgbClr val="14274E"/>
                </a:solidFill>
                <a:latin typeface="Open Sans"/>
                <a:ea typeface="Open Sans"/>
                <a:cs typeface="Open Sans"/>
                <a:sym typeface="Open Sans"/>
              </a:rPr>
              <a:t>·ByteTrack</a:t>
            </a:r>
          </a:p>
          <a:p>
            <a:pPr algn="ctr">
              <a:lnSpc>
                <a:spcPts val="2379"/>
              </a:lnSpc>
              <a:spcBef>
                <a:spcPct val="0"/>
              </a:spcBef>
            </a:pPr>
            <a:endParaRPr lang="en-US" sz="3300">
              <a:solidFill>
                <a:srgbClr val="14274E"/>
              </a:solidFill>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V="1">
            <a:off x="0" y="-57150"/>
            <a:ext cx="3657759" cy="3657759"/>
          </a:xfrm>
          <a:custGeom>
            <a:avLst/>
            <a:gdLst/>
            <a:ahLst/>
            <a:cxnLst/>
            <a:rect l="l" t="t" r="r" b="b"/>
            <a:pathLst>
              <a:path w="3657759" h="3657759">
                <a:moveTo>
                  <a:pt x="0" y="3657759"/>
                </a:moveTo>
                <a:lnTo>
                  <a:pt x="3657759" y="3657759"/>
                </a:lnTo>
                <a:lnTo>
                  <a:pt x="3657759" y="0"/>
                </a:lnTo>
                <a:lnTo>
                  <a:pt x="0" y="0"/>
                </a:lnTo>
                <a:lnTo>
                  <a:pt x="0" y="3657759"/>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flipV="1">
            <a:off x="13439929" y="0"/>
            <a:ext cx="4848071" cy="4114800"/>
          </a:xfrm>
          <a:custGeom>
            <a:avLst/>
            <a:gdLst/>
            <a:ahLst/>
            <a:cxnLst/>
            <a:rect l="l" t="t" r="r" b="b"/>
            <a:pathLst>
              <a:path w="4848071" h="4114800">
                <a:moveTo>
                  <a:pt x="4848071" y="4114800"/>
                </a:moveTo>
                <a:lnTo>
                  <a:pt x="0" y="4114800"/>
                </a:lnTo>
                <a:lnTo>
                  <a:pt x="0" y="0"/>
                </a:lnTo>
                <a:lnTo>
                  <a:pt x="4848071" y="0"/>
                </a:lnTo>
                <a:lnTo>
                  <a:pt x="4848071" y="4114800"/>
                </a:lnTo>
                <a:close/>
              </a:path>
            </a:pathLst>
          </a:custGeom>
          <a:blipFill>
            <a:blip r:embed="rId4">
              <a:alphaModFix amt="50000"/>
              <a:extLst>
                <a:ext uri="{96DAC541-7B7A-43D3-8B79-37D633B846F1}">
                  <asvg:svgBlip xmlns:asvg="http://schemas.microsoft.com/office/drawing/2016/SVG/main" r:embed="rId5"/>
                </a:ext>
              </a:extLst>
            </a:blip>
            <a:stretch>
              <a:fillRect/>
            </a:stretch>
          </a:blipFill>
        </p:spPr>
        <p:txBody>
          <a:bodyPr/>
          <a:lstStyle/>
          <a:p>
            <a:endParaRPr lang="en-US"/>
          </a:p>
        </p:txBody>
      </p:sp>
      <p:sp>
        <p:nvSpPr>
          <p:cNvPr id="4" name="Freeform 4"/>
          <p:cNvSpPr/>
          <p:nvPr/>
        </p:nvSpPr>
        <p:spPr>
          <a:xfrm>
            <a:off x="0" y="6172200"/>
            <a:ext cx="4848071" cy="4114800"/>
          </a:xfrm>
          <a:custGeom>
            <a:avLst/>
            <a:gdLst/>
            <a:ahLst/>
            <a:cxnLst/>
            <a:rect l="l" t="t" r="r" b="b"/>
            <a:pathLst>
              <a:path w="4848071" h="4114800">
                <a:moveTo>
                  <a:pt x="0" y="0"/>
                </a:moveTo>
                <a:lnTo>
                  <a:pt x="4848071" y="0"/>
                </a:lnTo>
                <a:lnTo>
                  <a:pt x="4848071" y="4114800"/>
                </a:lnTo>
                <a:lnTo>
                  <a:pt x="0" y="4114800"/>
                </a:lnTo>
                <a:lnTo>
                  <a:pt x="0" y="0"/>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Freeform 5"/>
          <p:cNvSpPr/>
          <p:nvPr/>
        </p:nvSpPr>
        <p:spPr>
          <a:xfrm flipH="1">
            <a:off x="14630241" y="6629241"/>
            <a:ext cx="3657759" cy="3657759"/>
          </a:xfrm>
          <a:custGeom>
            <a:avLst/>
            <a:gdLst/>
            <a:ahLst/>
            <a:cxnLst/>
            <a:rect l="l" t="t" r="r" b="b"/>
            <a:pathLst>
              <a:path w="3657759" h="3657759">
                <a:moveTo>
                  <a:pt x="3657759" y="0"/>
                </a:moveTo>
                <a:lnTo>
                  <a:pt x="0" y="0"/>
                </a:lnTo>
                <a:lnTo>
                  <a:pt x="0" y="3657759"/>
                </a:lnTo>
                <a:lnTo>
                  <a:pt x="3657759" y="3657759"/>
                </a:lnTo>
                <a:lnTo>
                  <a:pt x="3657759"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6" name="Group 6"/>
          <p:cNvGrpSpPr/>
          <p:nvPr/>
        </p:nvGrpSpPr>
        <p:grpSpPr>
          <a:xfrm>
            <a:off x="1028700" y="1067319"/>
            <a:ext cx="16230600" cy="8190981"/>
            <a:chOff x="0" y="0"/>
            <a:chExt cx="4274726" cy="2157295"/>
          </a:xfrm>
        </p:grpSpPr>
        <p:sp>
          <p:nvSpPr>
            <p:cNvPr id="7" name="Freeform 7"/>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8" name="TextBox 8"/>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9" name="TextBox 9"/>
          <p:cNvSpPr txBox="1"/>
          <p:nvPr/>
        </p:nvSpPr>
        <p:spPr>
          <a:xfrm>
            <a:off x="1716554" y="1787685"/>
            <a:ext cx="14742567" cy="1812924"/>
          </a:xfrm>
          <a:prstGeom prst="rect">
            <a:avLst/>
          </a:prstGeom>
        </p:spPr>
        <p:txBody>
          <a:bodyPr lIns="0" tIns="0" rIns="0" bIns="0" rtlCol="0" anchor="t">
            <a:spAutoFit/>
          </a:bodyPr>
          <a:lstStyle/>
          <a:p>
            <a:pPr algn="ctr">
              <a:lnSpc>
                <a:spcPts val="6799"/>
              </a:lnSpc>
            </a:pPr>
            <a:r>
              <a:rPr lang="en-US" sz="8499" b="1">
                <a:solidFill>
                  <a:srgbClr val="14274E"/>
                </a:solidFill>
                <a:latin typeface="Clear Sans Bold"/>
                <a:ea typeface="Clear Sans Bold"/>
                <a:cs typeface="Clear Sans Bold"/>
                <a:sym typeface="Clear Sans Bold"/>
              </a:rPr>
              <a:t>Cơ sở lý thuyết</a:t>
            </a:r>
          </a:p>
          <a:p>
            <a:pPr algn="ctr">
              <a:lnSpc>
                <a:spcPts val="6799"/>
              </a:lnSpc>
            </a:pPr>
            <a:endParaRPr lang="en-US" sz="8499" b="1">
              <a:solidFill>
                <a:srgbClr val="14274E"/>
              </a:solidFill>
              <a:latin typeface="Clear Sans Bold"/>
              <a:ea typeface="Clear Sans Bold"/>
              <a:cs typeface="Clear Sans Bold"/>
              <a:sym typeface="Clear Sans Bold"/>
            </a:endParaRPr>
          </a:p>
        </p:txBody>
      </p:sp>
      <p:sp>
        <p:nvSpPr>
          <p:cNvPr id="10" name="TextBox 10"/>
          <p:cNvSpPr txBox="1"/>
          <p:nvPr/>
        </p:nvSpPr>
        <p:spPr>
          <a:xfrm>
            <a:off x="1716554" y="2984413"/>
            <a:ext cx="15057649" cy="5380990"/>
          </a:xfrm>
          <a:prstGeom prst="rect">
            <a:avLst/>
          </a:prstGeom>
        </p:spPr>
        <p:txBody>
          <a:bodyPr lIns="0" tIns="0" rIns="0" bIns="0" rtlCol="0" anchor="t">
            <a:spAutoFit/>
          </a:bodyPr>
          <a:lstStyle/>
          <a:p>
            <a:pPr algn="l">
              <a:lnSpc>
                <a:spcPts val="4759"/>
              </a:lnSpc>
            </a:pPr>
            <a:r>
              <a:rPr lang="en-US" sz="3399" b="1">
                <a:solidFill>
                  <a:srgbClr val="14274E"/>
                </a:solidFill>
                <a:latin typeface="Clear Sans Bold"/>
                <a:ea typeface="Clear Sans Bold"/>
                <a:cs typeface="Clear Sans Bold"/>
                <a:sym typeface="Clear Sans Bold"/>
              </a:rPr>
              <a:t>YOLO</a:t>
            </a:r>
            <a:r>
              <a:rPr lang="en-US" sz="3399">
                <a:solidFill>
                  <a:srgbClr val="14274E"/>
                </a:solidFill>
                <a:latin typeface="Clear Sans"/>
                <a:ea typeface="Clear Sans"/>
                <a:cs typeface="Clear Sans"/>
                <a:sym typeface="Clear Sans"/>
              </a:rPr>
              <a:t>: YOLO (You Only Look Once) là một thuật toán phát hiện đối tượng trong ảnh nổi bật, thuộc nhóm One-Stage Object Detector, được thiết kế để nhận diện và định vị các vật thể trong thời gian thực.</a:t>
            </a:r>
          </a:p>
          <a:p>
            <a:pPr algn="l">
              <a:lnSpc>
                <a:spcPts val="4759"/>
              </a:lnSpc>
            </a:pPr>
            <a:r>
              <a:rPr lang="en-US" sz="3399">
                <a:solidFill>
                  <a:srgbClr val="14274E"/>
                </a:solidFill>
                <a:latin typeface="Clear Sans"/>
                <a:ea typeface="Clear Sans"/>
                <a:cs typeface="Clear Sans"/>
                <a:sym typeface="Clear Sans"/>
              </a:rPr>
              <a:t>Khác với các phương pháp truyền thống chia việc phát hiện và phân loại thành hai giai đoạn, YOLO xử lý toàn bộ ảnh đầu vào chỉ trong một lần “nhìn” (one pass) bằng mạng nơ-ron, giúp tăng tốc độ xử lý vượt trội.</a:t>
            </a:r>
          </a:p>
          <a:p>
            <a:pPr algn="l">
              <a:lnSpc>
                <a:spcPts val="4759"/>
              </a:lnSpc>
            </a:pPr>
            <a:endParaRPr lang="en-US" sz="3399">
              <a:solidFill>
                <a:srgbClr val="14274E"/>
              </a:solidFill>
              <a:latin typeface="Clear Sans"/>
              <a:ea typeface="Clear Sans"/>
              <a:cs typeface="Clear Sans"/>
              <a:sym typeface="Clear Sans"/>
            </a:endParaRPr>
          </a:p>
          <a:p>
            <a:pPr algn="l">
              <a:lnSpc>
                <a:spcPts val="4759"/>
              </a:lnSpc>
            </a:pPr>
            <a:endParaRPr lang="en-US" sz="3399">
              <a:solidFill>
                <a:srgbClr val="14274E"/>
              </a:solidFill>
              <a:latin typeface="Clear Sans"/>
              <a:ea typeface="Clear Sans"/>
              <a:cs typeface="Clear Sans"/>
              <a:sym typeface="Clear Sans"/>
            </a:endParaRPr>
          </a:p>
          <a:p>
            <a:pPr algn="l">
              <a:lnSpc>
                <a:spcPts val="4759"/>
              </a:lnSpc>
            </a:pPr>
            <a:endParaRPr lang="en-US" sz="3399">
              <a:solidFill>
                <a:srgbClr val="14274E"/>
              </a:solidFill>
              <a:latin typeface="Clear Sans"/>
              <a:ea typeface="Clear Sans"/>
              <a:cs typeface="Clear Sans"/>
              <a:sym typeface="Clear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V="1">
            <a:off x="0" y="-57150"/>
            <a:ext cx="3657759" cy="3657759"/>
          </a:xfrm>
          <a:custGeom>
            <a:avLst/>
            <a:gdLst/>
            <a:ahLst/>
            <a:cxnLst/>
            <a:rect l="l" t="t" r="r" b="b"/>
            <a:pathLst>
              <a:path w="3657759" h="3657759">
                <a:moveTo>
                  <a:pt x="0" y="3657759"/>
                </a:moveTo>
                <a:lnTo>
                  <a:pt x="3657759" y="3657759"/>
                </a:lnTo>
                <a:lnTo>
                  <a:pt x="3657759" y="0"/>
                </a:lnTo>
                <a:lnTo>
                  <a:pt x="0" y="0"/>
                </a:lnTo>
                <a:lnTo>
                  <a:pt x="0" y="3657759"/>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flipV="1">
            <a:off x="13439929" y="0"/>
            <a:ext cx="4848071" cy="4114800"/>
          </a:xfrm>
          <a:custGeom>
            <a:avLst/>
            <a:gdLst/>
            <a:ahLst/>
            <a:cxnLst/>
            <a:rect l="l" t="t" r="r" b="b"/>
            <a:pathLst>
              <a:path w="4848071" h="4114800">
                <a:moveTo>
                  <a:pt x="4848071" y="4114800"/>
                </a:moveTo>
                <a:lnTo>
                  <a:pt x="0" y="4114800"/>
                </a:lnTo>
                <a:lnTo>
                  <a:pt x="0" y="0"/>
                </a:lnTo>
                <a:lnTo>
                  <a:pt x="4848071" y="0"/>
                </a:lnTo>
                <a:lnTo>
                  <a:pt x="4848071" y="4114800"/>
                </a:lnTo>
                <a:close/>
              </a:path>
            </a:pathLst>
          </a:custGeom>
          <a:blipFill>
            <a:blip r:embed="rId4">
              <a:alphaModFix amt="50000"/>
              <a:extLst>
                <a:ext uri="{96DAC541-7B7A-43D3-8B79-37D633B846F1}">
                  <asvg:svgBlip xmlns:asvg="http://schemas.microsoft.com/office/drawing/2016/SVG/main" r:embed="rId5"/>
                </a:ext>
              </a:extLst>
            </a:blip>
            <a:stretch>
              <a:fillRect/>
            </a:stretch>
          </a:blipFill>
        </p:spPr>
        <p:txBody>
          <a:bodyPr/>
          <a:lstStyle/>
          <a:p>
            <a:endParaRPr lang="en-US"/>
          </a:p>
        </p:txBody>
      </p:sp>
      <p:sp>
        <p:nvSpPr>
          <p:cNvPr id="4" name="Freeform 4"/>
          <p:cNvSpPr/>
          <p:nvPr/>
        </p:nvSpPr>
        <p:spPr>
          <a:xfrm>
            <a:off x="0" y="6172200"/>
            <a:ext cx="4848071" cy="4114800"/>
          </a:xfrm>
          <a:custGeom>
            <a:avLst/>
            <a:gdLst/>
            <a:ahLst/>
            <a:cxnLst/>
            <a:rect l="l" t="t" r="r" b="b"/>
            <a:pathLst>
              <a:path w="4848071" h="4114800">
                <a:moveTo>
                  <a:pt x="0" y="0"/>
                </a:moveTo>
                <a:lnTo>
                  <a:pt x="4848071" y="0"/>
                </a:lnTo>
                <a:lnTo>
                  <a:pt x="4848071" y="4114800"/>
                </a:lnTo>
                <a:lnTo>
                  <a:pt x="0" y="4114800"/>
                </a:lnTo>
                <a:lnTo>
                  <a:pt x="0" y="0"/>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Freeform 5"/>
          <p:cNvSpPr/>
          <p:nvPr/>
        </p:nvSpPr>
        <p:spPr>
          <a:xfrm flipH="1">
            <a:off x="14630241" y="6629241"/>
            <a:ext cx="3657759" cy="3657759"/>
          </a:xfrm>
          <a:custGeom>
            <a:avLst/>
            <a:gdLst/>
            <a:ahLst/>
            <a:cxnLst/>
            <a:rect l="l" t="t" r="r" b="b"/>
            <a:pathLst>
              <a:path w="3657759" h="3657759">
                <a:moveTo>
                  <a:pt x="3657759" y="0"/>
                </a:moveTo>
                <a:lnTo>
                  <a:pt x="0" y="0"/>
                </a:lnTo>
                <a:lnTo>
                  <a:pt x="0" y="3657759"/>
                </a:lnTo>
                <a:lnTo>
                  <a:pt x="3657759" y="3657759"/>
                </a:lnTo>
                <a:lnTo>
                  <a:pt x="3657759"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6" name="Group 6"/>
          <p:cNvGrpSpPr/>
          <p:nvPr/>
        </p:nvGrpSpPr>
        <p:grpSpPr>
          <a:xfrm>
            <a:off x="1028700" y="1048010"/>
            <a:ext cx="16230600" cy="8190981"/>
            <a:chOff x="0" y="0"/>
            <a:chExt cx="4274726" cy="2157295"/>
          </a:xfrm>
        </p:grpSpPr>
        <p:sp>
          <p:nvSpPr>
            <p:cNvPr id="7" name="Freeform 7"/>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8" name="TextBox 8"/>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graphicFrame>
        <p:nvGraphicFramePr>
          <p:cNvPr id="9" name="Table 9"/>
          <p:cNvGraphicFramePr>
            <a:graphicFrameLocks noGrp="1"/>
          </p:cNvGraphicFramePr>
          <p:nvPr/>
        </p:nvGraphicFramePr>
        <p:xfrm>
          <a:off x="1828879" y="3600609"/>
          <a:ext cx="14630241" cy="4333875"/>
        </p:xfrm>
        <a:graphic>
          <a:graphicData uri="http://schemas.openxmlformats.org/drawingml/2006/table">
            <a:tbl>
              <a:tblPr/>
              <a:tblGrid>
                <a:gridCol w="4851656">
                  <a:extLst>
                    <a:ext uri="{9D8B030D-6E8A-4147-A177-3AD203B41FA5}">
                      <a16:colId xmlns:a16="http://schemas.microsoft.com/office/drawing/2014/main" val="20000"/>
                    </a:ext>
                  </a:extLst>
                </a:gridCol>
                <a:gridCol w="4851656">
                  <a:extLst>
                    <a:ext uri="{9D8B030D-6E8A-4147-A177-3AD203B41FA5}">
                      <a16:colId xmlns:a16="http://schemas.microsoft.com/office/drawing/2014/main" val="20001"/>
                    </a:ext>
                  </a:extLst>
                </a:gridCol>
                <a:gridCol w="4926929">
                  <a:extLst>
                    <a:ext uri="{9D8B030D-6E8A-4147-A177-3AD203B41FA5}">
                      <a16:colId xmlns:a16="http://schemas.microsoft.com/office/drawing/2014/main" val="20002"/>
                    </a:ext>
                  </a:extLst>
                </a:gridCol>
              </a:tblGrid>
              <a:tr h="1095481">
                <a:tc>
                  <a:txBody>
                    <a:bodyPr/>
                    <a:lstStyle/>
                    <a:p>
                      <a:pPr algn="ctr">
                        <a:lnSpc>
                          <a:spcPts val="2659"/>
                        </a:lnSpc>
                        <a:defRPr/>
                      </a:pPr>
                      <a:r>
                        <a:rPr lang="en-US" sz="1899">
                          <a:solidFill>
                            <a:srgbClr val="000000"/>
                          </a:solidFill>
                          <a:latin typeface="Clear Sans"/>
                          <a:ea typeface="Clear Sans"/>
                          <a:cs typeface="Clear Sans"/>
                          <a:sym typeface="Clear Sans"/>
                        </a:rPr>
                        <a:t>Tiêu chí</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4620"/>
                        </a:lnSpc>
                        <a:defRPr/>
                      </a:pPr>
                      <a:r>
                        <a:rPr lang="en-US" sz="3300">
                          <a:solidFill>
                            <a:srgbClr val="000000"/>
                          </a:solidFill>
                          <a:latin typeface="Clear Sans"/>
                          <a:ea typeface="Clear Sans"/>
                          <a:cs typeface="Clear Sans"/>
                          <a:sym typeface="Clear Sans"/>
                        </a:rPr>
                        <a:t>YOLOv5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4620"/>
                        </a:lnSpc>
                        <a:defRPr/>
                      </a:pPr>
                      <a:r>
                        <a:rPr lang="en-US" sz="3300">
                          <a:solidFill>
                            <a:srgbClr val="000000"/>
                          </a:solidFill>
                          <a:latin typeface="Clear Sans"/>
                          <a:ea typeface="Clear Sans"/>
                          <a:cs typeface="Clear Sans"/>
                          <a:sym typeface="Clear Sans"/>
                        </a:rPr>
                        <a:t>YOLOv8</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028214">
                <a:tc>
                  <a:txBody>
                    <a:bodyPr/>
                    <a:lstStyle/>
                    <a:p>
                      <a:pPr algn="ctr">
                        <a:lnSpc>
                          <a:spcPts val="2800"/>
                        </a:lnSpc>
                        <a:defRPr/>
                      </a:pPr>
                      <a:r>
                        <a:rPr lang="en-US" sz="2000">
                          <a:solidFill>
                            <a:srgbClr val="000000"/>
                          </a:solidFill>
                          <a:latin typeface="Clear Sans"/>
                          <a:ea typeface="Clear Sans"/>
                          <a:cs typeface="Clear Sans"/>
                          <a:sym typeface="Clear Sans"/>
                        </a:rPr>
                        <a:t>Cách sử dụng</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Clear Sans"/>
                          <a:ea typeface="Clear Sans"/>
                          <a:cs typeface="Clear Sans"/>
                          <a:sym typeface="Clear Sans"/>
                        </a:rPr>
                        <a:t>Phải import từ repo YOLOv5</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Clear Sans"/>
                          <a:ea typeface="Clear Sans"/>
                          <a:cs typeface="Clear Sans"/>
                          <a:sym typeface="Clear Sans"/>
                        </a:rPr>
                        <a:t>Dùng trực tiếp với thư viện ultralytics</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181966">
                <a:tc>
                  <a:txBody>
                    <a:bodyPr/>
                    <a:lstStyle/>
                    <a:p>
                      <a:pPr algn="ctr">
                        <a:lnSpc>
                          <a:spcPts val="2659"/>
                        </a:lnSpc>
                        <a:defRPr/>
                      </a:pPr>
                      <a:r>
                        <a:rPr lang="en-US" sz="1899">
                          <a:solidFill>
                            <a:srgbClr val="000000"/>
                          </a:solidFill>
                          <a:latin typeface="Clear Sans"/>
                          <a:ea typeface="Clear Sans"/>
                          <a:cs typeface="Clear Sans"/>
                          <a:sym typeface="Clear Sans"/>
                        </a:rPr>
                        <a:t>Tích hợp tính năng</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Clear Sans"/>
                          <a:ea typeface="Clear Sans"/>
                          <a:cs typeface="Clear Sans"/>
                          <a:sym typeface="Clear Sans"/>
                        </a:rPr>
                        <a:t>Chỉ có object detection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Clear Sans"/>
                          <a:ea typeface="Clear Sans"/>
                          <a:cs typeface="Clear Sans"/>
                          <a:sym typeface="Clear Sans"/>
                        </a:rPr>
                        <a:t>Có detection, segmentation, pose, tracking</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028214">
                <a:tc>
                  <a:txBody>
                    <a:bodyPr/>
                    <a:lstStyle/>
                    <a:p>
                      <a:pPr algn="ctr">
                        <a:lnSpc>
                          <a:spcPts val="2800"/>
                        </a:lnSpc>
                        <a:defRPr/>
                      </a:pPr>
                      <a:r>
                        <a:rPr lang="en-US" sz="2000">
                          <a:solidFill>
                            <a:srgbClr val="000000"/>
                          </a:solidFill>
                          <a:latin typeface="Clear Sans"/>
                          <a:ea typeface="Clear Sans"/>
                          <a:cs typeface="Clear Sans"/>
                          <a:sym typeface="Clear Sans"/>
                        </a:rPr>
                        <a:t> Tốc độ &amp; hiệu suất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Clear Sans"/>
                          <a:ea typeface="Clear Sans"/>
                          <a:cs typeface="Clear Sans"/>
                          <a:sym typeface="Clear Sans"/>
                        </a:rPr>
                        <a:t>Tốt</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tc>
                  <a:txBody>
                    <a:bodyPr/>
                    <a:lstStyle/>
                    <a:p>
                      <a:pPr algn="ctr">
                        <a:lnSpc>
                          <a:spcPts val="2800"/>
                        </a:lnSpc>
                        <a:defRPr/>
                      </a:pPr>
                      <a:r>
                        <a:rPr lang="en-US" sz="2000">
                          <a:solidFill>
                            <a:srgbClr val="000000"/>
                          </a:solidFill>
                          <a:latin typeface="Clear Sans"/>
                          <a:ea typeface="Clear Sans"/>
                          <a:cs typeface="Clear Sans"/>
                          <a:sym typeface="Clear Sans"/>
                        </a:rPr>
                        <a:t>	Tốt hơn, nhẹ và chính xác hơn</a:t>
                      </a:r>
                      <a:endParaRPr lang="en-US" sz="1100"/>
                    </a:p>
                  </a:txBody>
                  <a:tcPr marL="190500" marR="190500" marT="190500" marB="19050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0" name="TextBox 10"/>
          <p:cNvSpPr txBox="1"/>
          <p:nvPr/>
        </p:nvSpPr>
        <p:spPr>
          <a:xfrm>
            <a:off x="1716554" y="1787685"/>
            <a:ext cx="14742567" cy="1812924"/>
          </a:xfrm>
          <a:prstGeom prst="rect">
            <a:avLst/>
          </a:prstGeom>
        </p:spPr>
        <p:txBody>
          <a:bodyPr lIns="0" tIns="0" rIns="0" bIns="0" rtlCol="0" anchor="t">
            <a:spAutoFit/>
          </a:bodyPr>
          <a:lstStyle/>
          <a:p>
            <a:pPr algn="ctr">
              <a:lnSpc>
                <a:spcPts val="6799"/>
              </a:lnSpc>
            </a:pPr>
            <a:r>
              <a:rPr lang="en-US" sz="8499" b="1">
                <a:solidFill>
                  <a:srgbClr val="14274E"/>
                </a:solidFill>
                <a:latin typeface="Clear Sans Bold"/>
                <a:ea typeface="Clear Sans Bold"/>
                <a:cs typeface="Clear Sans Bold"/>
                <a:sym typeface="Clear Sans Bold"/>
              </a:rPr>
              <a:t>So sánh </a:t>
            </a:r>
          </a:p>
          <a:p>
            <a:pPr algn="ctr">
              <a:lnSpc>
                <a:spcPts val="6799"/>
              </a:lnSpc>
            </a:pPr>
            <a:endParaRPr lang="en-US" sz="8499" b="1">
              <a:solidFill>
                <a:srgbClr val="14274E"/>
              </a:solidFill>
              <a:latin typeface="Clear Sans Bold"/>
              <a:ea typeface="Clear Sans Bold"/>
              <a:cs typeface="Clear Sans Bold"/>
              <a:sym typeface="Clear Sans Bo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V="1">
            <a:off x="0" y="-57150"/>
            <a:ext cx="3657759" cy="3657759"/>
          </a:xfrm>
          <a:custGeom>
            <a:avLst/>
            <a:gdLst/>
            <a:ahLst/>
            <a:cxnLst/>
            <a:rect l="l" t="t" r="r" b="b"/>
            <a:pathLst>
              <a:path w="3657759" h="3657759">
                <a:moveTo>
                  <a:pt x="0" y="3657759"/>
                </a:moveTo>
                <a:lnTo>
                  <a:pt x="3657759" y="3657759"/>
                </a:lnTo>
                <a:lnTo>
                  <a:pt x="3657759" y="0"/>
                </a:lnTo>
                <a:lnTo>
                  <a:pt x="0" y="0"/>
                </a:lnTo>
                <a:lnTo>
                  <a:pt x="0" y="3657759"/>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flipV="1">
            <a:off x="13439929" y="0"/>
            <a:ext cx="4848071" cy="4114800"/>
          </a:xfrm>
          <a:custGeom>
            <a:avLst/>
            <a:gdLst/>
            <a:ahLst/>
            <a:cxnLst/>
            <a:rect l="l" t="t" r="r" b="b"/>
            <a:pathLst>
              <a:path w="4848071" h="4114800">
                <a:moveTo>
                  <a:pt x="4848071" y="4114800"/>
                </a:moveTo>
                <a:lnTo>
                  <a:pt x="0" y="4114800"/>
                </a:lnTo>
                <a:lnTo>
                  <a:pt x="0" y="0"/>
                </a:lnTo>
                <a:lnTo>
                  <a:pt x="4848071" y="0"/>
                </a:lnTo>
                <a:lnTo>
                  <a:pt x="4848071" y="4114800"/>
                </a:lnTo>
                <a:close/>
              </a:path>
            </a:pathLst>
          </a:custGeom>
          <a:blipFill>
            <a:blip r:embed="rId4">
              <a:alphaModFix amt="50000"/>
              <a:extLst>
                <a:ext uri="{96DAC541-7B7A-43D3-8B79-37D633B846F1}">
                  <asvg:svgBlip xmlns:asvg="http://schemas.microsoft.com/office/drawing/2016/SVG/main" r:embed="rId5"/>
                </a:ext>
              </a:extLst>
            </a:blip>
            <a:stretch>
              <a:fillRect/>
            </a:stretch>
          </a:blipFill>
        </p:spPr>
        <p:txBody>
          <a:bodyPr/>
          <a:lstStyle/>
          <a:p>
            <a:endParaRPr lang="en-US"/>
          </a:p>
        </p:txBody>
      </p:sp>
      <p:sp>
        <p:nvSpPr>
          <p:cNvPr id="4" name="Freeform 4"/>
          <p:cNvSpPr/>
          <p:nvPr/>
        </p:nvSpPr>
        <p:spPr>
          <a:xfrm>
            <a:off x="0" y="6172200"/>
            <a:ext cx="4848071" cy="4114800"/>
          </a:xfrm>
          <a:custGeom>
            <a:avLst/>
            <a:gdLst/>
            <a:ahLst/>
            <a:cxnLst/>
            <a:rect l="l" t="t" r="r" b="b"/>
            <a:pathLst>
              <a:path w="4848071" h="4114800">
                <a:moveTo>
                  <a:pt x="0" y="0"/>
                </a:moveTo>
                <a:lnTo>
                  <a:pt x="4848071" y="0"/>
                </a:lnTo>
                <a:lnTo>
                  <a:pt x="4848071" y="4114800"/>
                </a:lnTo>
                <a:lnTo>
                  <a:pt x="0" y="4114800"/>
                </a:lnTo>
                <a:lnTo>
                  <a:pt x="0" y="0"/>
                </a:lnTo>
                <a:close/>
              </a:path>
            </a:pathLst>
          </a:custGeom>
          <a:blipFill>
            <a:blip r:embed="rId4">
              <a:alphaModFix amt="51000"/>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Freeform 5"/>
          <p:cNvSpPr/>
          <p:nvPr/>
        </p:nvSpPr>
        <p:spPr>
          <a:xfrm flipH="1">
            <a:off x="14630241" y="6629241"/>
            <a:ext cx="3657759" cy="3657759"/>
          </a:xfrm>
          <a:custGeom>
            <a:avLst/>
            <a:gdLst/>
            <a:ahLst/>
            <a:cxnLst/>
            <a:rect l="l" t="t" r="r" b="b"/>
            <a:pathLst>
              <a:path w="3657759" h="3657759">
                <a:moveTo>
                  <a:pt x="3657759" y="0"/>
                </a:moveTo>
                <a:lnTo>
                  <a:pt x="0" y="0"/>
                </a:lnTo>
                <a:lnTo>
                  <a:pt x="0" y="3657759"/>
                </a:lnTo>
                <a:lnTo>
                  <a:pt x="3657759" y="3657759"/>
                </a:lnTo>
                <a:lnTo>
                  <a:pt x="3657759"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6" name="Group 6"/>
          <p:cNvGrpSpPr/>
          <p:nvPr/>
        </p:nvGrpSpPr>
        <p:grpSpPr>
          <a:xfrm>
            <a:off x="1028700" y="1067319"/>
            <a:ext cx="16230600" cy="8190981"/>
            <a:chOff x="0" y="0"/>
            <a:chExt cx="4274726" cy="2157295"/>
          </a:xfrm>
        </p:grpSpPr>
        <p:sp>
          <p:nvSpPr>
            <p:cNvPr id="7" name="Freeform 7"/>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8" name="TextBox 8"/>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9" name="TextBox 9"/>
          <p:cNvSpPr txBox="1"/>
          <p:nvPr/>
        </p:nvSpPr>
        <p:spPr>
          <a:xfrm>
            <a:off x="1716554" y="1787685"/>
            <a:ext cx="14742567" cy="1812924"/>
          </a:xfrm>
          <a:prstGeom prst="rect">
            <a:avLst/>
          </a:prstGeom>
        </p:spPr>
        <p:txBody>
          <a:bodyPr lIns="0" tIns="0" rIns="0" bIns="0" rtlCol="0" anchor="t">
            <a:spAutoFit/>
          </a:bodyPr>
          <a:lstStyle/>
          <a:p>
            <a:pPr algn="ctr">
              <a:lnSpc>
                <a:spcPts val="6799"/>
              </a:lnSpc>
            </a:pPr>
            <a:r>
              <a:rPr lang="en-US" sz="8499" b="1">
                <a:solidFill>
                  <a:srgbClr val="14274E"/>
                </a:solidFill>
                <a:latin typeface="Clear Sans Bold"/>
                <a:ea typeface="Clear Sans Bold"/>
                <a:cs typeface="Clear Sans Bold"/>
                <a:sym typeface="Clear Sans Bold"/>
              </a:rPr>
              <a:t>Cơ sở lý thuyết</a:t>
            </a:r>
          </a:p>
          <a:p>
            <a:pPr algn="ctr">
              <a:lnSpc>
                <a:spcPts val="6799"/>
              </a:lnSpc>
            </a:pPr>
            <a:endParaRPr lang="en-US" sz="8499" b="1">
              <a:solidFill>
                <a:srgbClr val="14274E"/>
              </a:solidFill>
              <a:latin typeface="Clear Sans Bold"/>
              <a:ea typeface="Clear Sans Bold"/>
              <a:cs typeface="Clear Sans Bold"/>
              <a:sym typeface="Clear Sans Bold"/>
            </a:endParaRPr>
          </a:p>
        </p:txBody>
      </p:sp>
      <p:sp>
        <p:nvSpPr>
          <p:cNvPr id="10" name="TextBox 10"/>
          <p:cNvSpPr txBox="1"/>
          <p:nvPr/>
        </p:nvSpPr>
        <p:spPr>
          <a:xfrm>
            <a:off x="1716554" y="2984413"/>
            <a:ext cx="15057649" cy="6581140"/>
          </a:xfrm>
          <a:prstGeom prst="rect">
            <a:avLst/>
          </a:prstGeom>
        </p:spPr>
        <p:txBody>
          <a:bodyPr lIns="0" tIns="0" rIns="0" bIns="0" rtlCol="0" anchor="t">
            <a:spAutoFit/>
          </a:bodyPr>
          <a:lstStyle/>
          <a:p>
            <a:pPr algn="l">
              <a:lnSpc>
                <a:spcPts val="4759"/>
              </a:lnSpc>
            </a:pPr>
            <a:r>
              <a:rPr lang="en-US" sz="3399" b="1">
                <a:solidFill>
                  <a:srgbClr val="14274E"/>
                </a:solidFill>
                <a:latin typeface="Clear Sans Bold"/>
                <a:ea typeface="Clear Sans Bold"/>
                <a:cs typeface="Clear Sans Bold"/>
                <a:sym typeface="Clear Sans Bold"/>
              </a:rPr>
              <a:t>ByteTrack</a:t>
            </a:r>
            <a:r>
              <a:rPr lang="en-US" sz="3399">
                <a:solidFill>
                  <a:srgbClr val="14274E"/>
                </a:solidFill>
                <a:latin typeface="Clear Sans"/>
                <a:ea typeface="Clear Sans"/>
                <a:cs typeface="Clear Sans"/>
                <a:sym typeface="Clear Sans"/>
              </a:rPr>
              <a:t>: ByteTrack là một thuật toán theo dõi đối tượng (Multi-Object Tracking - MOT), được thiết kế để duy trì ID và theo dõi đường đi của các đối tượng (người, xe, vật thể...) trong video theo thời gian thực.</a:t>
            </a:r>
          </a:p>
          <a:p>
            <a:pPr algn="l">
              <a:lnSpc>
                <a:spcPts val="4759"/>
              </a:lnSpc>
            </a:pPr>
            <a:r>
              <a:rPr lang="en-US" sz="3399">
                <a:solidFill>
                  <a:srgbClr val="14274E"/>
                </a:solidFill>
                <a:latin typeface="Clear Sans"/>
                <a:ea typeface="Clear Sans"/>
                <a:cs typeface="Clear Sans"/>
                <a:sym typeface="Clear Sans"/>
              </a:rPr>
              <a:t>Khác với nhiều phương pháp truyền thống chỉ theo dõi các đối tượng có độ tin cậy cao (high-confidence detections), ByteTrack thực hiện theo dõi cả những đối tượng có độ tin cậy thấp (low-confidence) – giúp nâng cao độ chính xác, đặc biệt trong các khung hình có vật thể bị che khuất, di chuyển nhanh hoặc bị làm mờ.</a:t>
            </a:r>
          </a:p>
          <a:p>
            <a:pPr algn="l">
              <a:lnSpc>
                <a:spcPts val="4759"/>
              </a:lnSpc>
            </a:pPr>
            <a:endParaRPr lang="en-US" sz="3399">
              <a:solidFill>
                <a:srgbClr val="14274E"/>
              </a:solidFill>
              <a:latin typeface="Clear Sans"/>
              <a:ea typeface="Clear Sans"/>
              <a:cs typeface="Clear Sans"/>
              <a:sym typeface="Clear Sans"/>
            </a:endParaRPr>
          </a:p>
          <a:p>
            <a:pPr algn="l">
              <a:lnSpc>
                <a:spcPts val="4759"/>
              </a:lnSpc>
            </a:pPr>
            <a:endParaRPr lang="en-US" sz="3399">
              <a:solidFill>
                <a:srgbClr val="14274E"/>
              </a:solidFill>
              <a:latin typeface="Clear Sans"/>
              <a:ea typeface="Clear Sans"/>
              <a:cs typeface="Clear Sans"/>
              <a:sym typeface="Clear Sans"/>
            </a:endParaRPr>
          </a:p>
          <a:p>
            <a:pPr algn="l">
              <a:lnSpc>
                <a:spcPts val="4759"/>
              </a:lnSpc>
            </a:pPr>
            <a:endParaRPr lang="en-US" sz="3399">
              <a:solidFill>
                <a:srgbClr val="14274E"/>
              </a:solidFill>
              <a:latin typeface="Clear Sans"/>
              <a:ea typeface="Clear Sans"/>
              <a:cs typeface="Clear Sans"/>
              <a:sym typeface="Clear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a:off x="0" y="622935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flipV="1">
            <a:off x="14173200" y="-5715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028700" y="1067319"/>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4299806" y="1993095"/>
            <a:ext cx="9688387"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Phân tích bài toán</a:t>
            </a:r>
          </a:p>
        </p:txBody>
      </p:sp>
      <p:sp>
        <p:nvSpPr>
          <p:cNvPr id="8" name="TextBox 8"/>
          <p:cNvSpPr txBox="1"/>
          <p:nvPr/>
        </p:nvSpPr>
        <p:spPr>
          <a:xfrm>
            <a:off x="1777221" y="3137840"/>
            <a:ext cx="14733557" cy="5380990"/>
          </a:xfrm>
          <a:prstGeom prst="rect">
            <a:avLst/>
          </a:prstGeom>
        </p:spPr>
        <p:txBody>
          <a:bodyPr lIns="0" tIns="0" rIns="0" bIns="0" rtlCol="0" anchor="t">
            <a:spAutoFit/>
          </a:bodyPr>
          <a:lstStyle/>
          <a:p>
            <a:pPr algn="l">
              <a:lnSpc>
                <a:spcPts val="4759"/>
              </a:lnSpc>
            </a:pPr>
            <a:r>
              <a:rPr lang="en-US" sz="3399">
                <a:solidFill>
                  <a:srgbClr val="14274E"/>
                </a:solidFill>
                <a:latin typeface="Clear Sans"/>
                <a:ea typeface="Clear Sans"/>
                <a:cs typeface="Clear Sans"/>
                <a:sym typeface="Clear Sans"/>
              </a:rPr>
              <a:t>Đầu vào: Ảnh hoặc video chứa các đối tượng như người, xe máy, ô tô…</a:t>
            </a:r>
          </a:p>
          <a:p>
            <a:pPr algn="l">
              <a:lnSpc>
                <a:spcPts val="4759"/>
              </a:lnSpc>
            </a:pPr>
            <a:r>
              <a:rPr lang="en-US" sz="3399">
                <a:solidFill>
                  <a:srgbClr val="14274E"/>
                </a:solidFill>
                <a:latin typeface="Clear Sans"/>
                <a:ea typeface="Clear Sans"/>
                <a:cs typeface="Clear Sans"/>
                <a:sym typeface="Clear Sans"/>
              </a:rPr>
              <a:t>Yêu cầu:</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Phát hiện đối tượng (Object Detection)</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Đếm số lượng từng loại đối tượng trong vùng quan sát</a:t>
            </a:r>
          </a:p>
          <a:p>
            <a:pPr algn="l">
              <a:lnSpc>
                <a:spcPts val="4759"/>
              </a:lnSpc>
            </a:pPr>
            <a:r>
              <a:rPr lang="en-US" sz="3399">
                <a:solidFill>
                  <a:srgbClr val="14274E"/>
                </a:solidFill>
                <a:latin typeface="Clear Sans"/>
                <a:ea typeface="Clear Sans"/>
                <a:cs typeface="Clear Sans"/>
                <a:sym typeface="Clear Sans"/>
              </a:rPr>
              <a:t>Đầu ra:</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Ảnh/video có gắn bounding box</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Số lượng các đối tượng đã đếm</a:t>
            </a:r>
          </a:p>
          <a:p>
            <a:pPr algn="l">
              <a:lnSpc>
                <a:spcPts val="4759"/>
              </a:lnSpc>
            </a:pPr>
            <a:r>
              <a:rPr lang="en-US" sz="3399">
                <a:solidFill>
                  <a:srgbClr val="14274E"/>
                </a:solidFill>
                <a:latin typeface="Clear Sans"/>
                <a:ea typeface="Clear Sans"/>
                <a:cs typeface="Clear Sans"/>
                <a:sym typeface="Clear Sans"/>
              </a:rPr>
              <a:t>Ứng dụng thực tế: giám sát giao thông, đếm người vào sự kiện, thống kê…</a:t>
            </a:r>
          </a:p>
          <a:p>
            <a:pPr algn="l">
              <a:lnSpc>
                <a:spcPts val="4759"/>
              </a:lnSpc>
            </a:pPr>
            <a:endParaRPr lang="en-US" sz="3399">
              <a:solidFill>
                <a:srgbClr val="14274E"/>
              </a:solidFill>
              <a:latin typeface="Clear Sans"/>
              <a:ea typeface="Clear Sans"/>
              <a:cs typeface="Clear Sans"/>
              <a:sym typeface="Clear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H="1">
            <a:off x="14317218" y="6172200"/>
            <a:ext cx="3970782" cy="4114800"/>
          </a:xfrm>
          <a:custGeom>
            <a:avLst/>
            <a:gdLst/>
            <a:ahLst/>
            <a:cxnLst/>
            <a:rect l="l" t="t" r="r" b="b"/>
            <a:pathLst>
              <a:path w="3970782" h="4114800">
                <a:moveTo>
                  <a:pt x="3970782" y="0"/>
                </a:moveTo>
                <a:lnTo>
                  <a:pt x="0" y="0"/>
                </a:lnTo>
                <a:lnTo>
                  <a:pt x="0" y="4114800"/>
                </a:lnTo>
                <a:lnTo>
                  <a:pt x="3970782" y="4114800"/>
                </a:lnTo>
                <a:lnTo>
                  <a:pt x="397078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V="1">
            <a:off x="0" y="0"/>
            <a:ext cx="3970782" cy="4114800"/>
          </a:xfrm>
          <a:custGeom>
            <a:avLst/>
            <a:gdLst/>
            <a:ahLst/>
            <a:cxnLst/>
            <a:rect l="l" t="t" r="r" b="b"/>
            <a:pathLst>
              <a:path w="3970782" h="4114800">
                <a:moveTo>
                  <a:pt x="0" y="4114800"/>
                </a:moveTo>
                <a:lnTo>
                  <a:pt x="3970782" y="4114800"/>
                </a:lnTo>
                <a:lnTo>
                  <a:pt x="3970782" y="0"/>
                </a:lnTo>
                <a:lnTo>
                  <a:pt x="0" y="0"/>
                </a:lnTo>
                <a:lnTo>
                  <a:pt x="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928595" y="1028700"/>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5295201" y="1746251"/>
            <a:ext cx="7697597"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Kết quả đầu ra</a:t>
            </a:r>
          </a:p>
        </p:txBody>
      </p:sp>
      <p:sp>
        <p:nvSpPr>
          <p:cNvPr id="8" name="TextBox 8"/>
          <p:cNvSpPr txBox="1"/>
          <p:nvPr/>
        </p:nvSpPr>
        <p:spPr>
          <a:xfrm>
            <a:off x="9338562" y="2726010"/>
            <a:ext cx="7308473" cy="2980690"/>
          </a:xfrm>
          <a:prstGeom prst="rect">
            <a:avLst/>
          </a:prstGeom>
        </p:spPr>
        <p:txBody>
          <a:bodyPr lIns="0" tIns="0" rIns="0" bIns="0" rtlCol="0" anchor="t">
            <a:spAutoFit/>
          </a:bodyPr>
          <a:lstStyle/>
          <a:p>
            <a:pPr algn="l">
              <a:lnSpc>
                <a:spcPts val="4759"/>
              </a:lnSpc>
            </a:pPr>
            <a:r>
              <a:rPr lang="en-US" sz="3399">
                <a:solidFill>
                  <a:srgbClr val="14274E"/>
                </a:solidFill>
                <a:latin typeface="Clear Sans"/>
                <a:ea typeface="Clear Sans"/>
                <a:cs typeface="Clear Sans"/>
                <a:sym typeface="Clear Sans"/>
              </a:rPr>
              <a:t>-Hiển thị khung giới hạn (bounding boxes):</a:t>
            </a:r>
          </a:p>
          <a:p>
            <a:pPr algn="l">
              <a:lnSpc>
                <a:spcPts val="4759"/>
              </a:lnSpc>
            </a:pPr>
            <a:r>
              <a:rPr lang="en-US" sz="3399">
                <a:solidFill>
                  <a:srgbClr val="14274E"/>
                </a:solidFill>
                <a:latin typeface="Clear Sans"/>
                <a:ea typeface="Clear Sans"/>
                <a:cs typeface="Clear Sans"/>
                <a:sym typeface="Clear Sans"/>
              </a:rPr>
              <a:t> Mỗi đối tượng được hiển thị bằng khung hình chữ nhật, kèm nhãn phân loại và độ tin cậy (confidence score).</a:t>
            </a:r>
          </a:p>
        </p:txBody>
      </p:sp>
      <p:sp>
        <p:nvSpPr>
          <p:cNvPr id="9" name="TextBox 9"/>
          <p:cNvSpPr txBox="1"/>
          <p:nvPr/>
        </p:nvSpPr>
        <p:spPr>
          <a:xfrm>
            <a:off x="1985391" y="2726010"/>
            <a:ext cx="7058504" cy="3580765"/>
          </a:xfrm>
          <a:prstGeom prst="rect">
            <a:avLst/>
          </a:prstGeom>
        </p:spPr>
        <p:txBody>
          <a:bodyPr lIns="0" tIns="0" rIns="0" bIns="0" rtlCol="0" anchor="t">
            <a:spAutoFit/>
          </a:bodyPr>
          <a:lstStyle/>
          <a:p>
            <a:pPr algn="l">
              <a:lnSpc>
                <a:spcPts val="4759"/>
              </a:lnSpc>
            </a:pPr>
            <a:r>
              <a:rPr lang="en-US" sz="3399">
                <a:solidFill>
                  <a:srgbClr val="14274E"/>
                </a:solidFill>
                <a:latin typeface="Clear Sans"/>
                <a:ea typeface="Clear Sans"/>
                <a:cs typeface="Clear Sans"/>
                <a:sym typeface="Clear Sans"/>
              </a:rPr>
              <a:t>-Phát hiện và đếm đối tượng trong vùng quan tâm (ROI):</a:t>
            </a:r>
          </a:p>
          <a:p>
            <a:pPr algn="l">
              <a:lnSpc>
                <a:spcPts val="4759"/>
              </a:lnSpc>
            </a:pPr>
            <a:r>
              <a:rPr lang="en-US" sz="3399">
                <a:solidFill>
                  <a:srgbClr val="14274E"/>
                </a:solidFill>
                <a:latin typeface="Clear Sans"/>
                <a:ea typeface="Clear Sans"/>
                <a:cs typeface="Clear Sans"/>
                <a:sym typeface="Clear Sans"/>
              </a:rPr>
              <a:t> Các đối tượng như người, xe máy, ô tô được nhận diện chính xác khi đi qua vùng đã xác định trong khung hình.</a:t>
            </a:r>
          </a:p>
        </p:txBody>
      </p:sp>
      <p:sp>
        <p:nvSpPr>
          <p:cNvPr id="10" name="TextBox 10"/>
          <p:cNvSpPr txBox="1"/>
          <p:nvPr/>
        </p:nvSpPr>
        <p:spPr>
          <a:xfrm>
            <a:off x="3508156" y="6335350"/>
            <a:ext cx="12308736" cy="2380615"/>
          </a:xfrm>
          <a:prstGeom prst="rect">
            <a:avLst/>
          </a:prstGeom>
        </p:spPr>
        <p:txBody>
          <a:bodyPr lIns="0" tIns="0" rIns="0" bIns="0" rtlCol="0" anchor="t">
            <a:spAutoFit/>
          </a:bodyPr>
          <a:lstStyle/>
          <a:p>
            <a:pPr algn="l">
              <a:lnSpc>
                <a:spcPts val="4759"/>
              </a:lnSpc>
            </a:pPr>
            <a:r>
              <a:rPr lang="en-US" sz="3399">
                <a:solidFill>
                  <a:srgbClr val="14274E"/>
                </a:solidFill>
                <a:latin typeface="Clear Sans"/>
                <a:ea typeface="Clear Sans"/>
                <a:cs typeface="Clear Sans"/>
                <a:sym typeface="Clear Sans"/>
              </a:rPr>
              <a:t>-Đánh số theo dõi (Tracking ID):</a:t>
            </a:r>
          </a:p>
          <a:p>
            <a:pPr algn="l">
              <a:lnSpc>
                <a:spcPts val="4759"/>
              </a:lnSpc>
            </a:pPr>
            <a:r>
              <a:rPr lang="en-US" sz="3399">
                <a:solidFill>
                  <a:srgbClr val="14274E"/>
                </a:solidFill>
                <a:latin typeface="Clear Sans"/>
                <a:ea typeface="Clear Sans"/>
                <a:cs typeface="Clear Sans"/>
                <a:sym typeface="Clear Sans"/>
              </a:rPr>
              <a:t> Mỗi đối tượng được gán một ID riêng để theo dõi liên tục giữa các khung hình (dựa vào thuật toán ByteTrack).</a:t>
            </a:r>
          </a:p>
          <a:p>
            <a:pPr algn="l">
              <a:lnSpc>
                <a:spcPts val="4759"/>
              </a:lnSpc>
            </a:pPr>
            <a:endParaRPr lang="en-US" sz="3399">
              <a:solidFill>
                <a:srgbClr val="14274E"/>
              </a:solidFill>
              <a:latin typeface="Clear Sans"/>
              <a:ea typeface="Clear Sans"/>
              <a:cs typeface="Clear Sans"/>
              <a:sym typeface="Clear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a:off x="0" y="6172200"/>
            <a:ext cx="4848071" cy="4114800"/>
          </a:xfrm>
          <a:custGeom>
            <a:avLst/>
            <a:gdLst/>
            <a:ahLst/>
            <a:cxnLst/>
            <a:rect l="l" t="t" r="r" b="b"/>
            <a:pathLst>
              <a:path w="4848071" h="4114800">
                <a:moveTo>
                  <a:pt x="0" y="0"/>
                </a:moveTo>
                <a:lnTo>
                  <a:pt x="4848071" y="0"/>
                </a:lnTo>
                <a:lnTo>
                  <a:pt x="4848071" y="4114800"/>
                </a:lnTo>
                <a:lnTo>
                  <a:pt x="0" y="4114800"/>
                </a:lnTo>
                <a:lnTo>
                  <a:pt x="0" y="0"/>
                </a:lnTo>
                <a:close/>
              </a:path>
            </a:pathLst>
          </a:custGeom>
          <a:blipFill>
            <a:blip r:embed="rId2">
              <a:alphaModFix amt="51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a:off x="14630241" y="6629241"/>
            <a:ext cx="3657759" cy="3657759"/>
          </a:xfrm>
          <a:custGeom>
            <a:avLst/>
            <a:gdLst/>
            <a:ahLst/>
            <a:cxnLst/>
            <a:rect l="l" t="t" r="r" b="b"/>
            <a:pathLst>
              <a:path w="3657759" h="3657759">
                <a:moveTo>
                  <a:pt x="3657759" y="0"/>
                </a:moveTo>
                <a:lnTo>
                  <a:pt x="0" y="0"/>
                </a:lnTo>
                <a:lnTo>
                  <a:pt x="0" y="3657759"/>
                </a:lnTo>
                <a:lnTo>
                  <a:pt x="3657759" y="3657759"/>
                </a:lnTo>
                <a:lnTo>
                  <a:pt x="3657759"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4" name="Freeform 4"/>
          <p:cNvSpPr/>
          <p:nvPr/>
        </p:nvSpPr>
        <p:spPr>
          <a:xfrm flipH="1" flipV="1">
            <a:off x="13439929" y="0"/>
            <a:ext cx="4848071" cy="4114800"/>
          </a:xfrm>
          <a:custGeom>
            <a:avLst/>
            <a:gdLst/>
            <a:ahLst/>
            <a:cxnLst/>
            <a:rect l="l" t="t" r="r" b="b"/>
            <a:pathLst>
              <a:path w="4848071" h="4114800">
                <a:moveTo>
                  <a:pt x="4848071" y="4114800"/>
                </a:moveTo>
                <a:lnTo>
                  <a:pt x="0" y="4114800"/>
                </a:lnTo>
                <a:lnTo>
                  <a:pt x="0" y="0"/>
                </a:lnTo>
                <a:lnTo>
                  <a:pt x="4848071" y="0"/>
                </a:lnTo>
                <a:lnTo>
                  <a:pt x="4848071" y="4114800"/>
                </a:lnTo>
                <a:close/>
              </a:path>
            </a:pathLst>
          </a:custGeom>
          <a:blipFill>
            <a:blip r:embed="rId2">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flipV="1">
            <a:off x="0" y="-57150"/>
            <a:ext cx="3657759" cy="3657759"/>
          </a:xfrm>
          <a:custGeom>
            <a:avLst/>
            <a:gdLst/>
            <a:ahLst/>
            <a:cxnLst/>
            <a:rect l="l" t="t" r="r" b="b"/>
            <a:pathLst>
              <a:path w="3657759" h="3657759">
                <a:moveTo>
                  <a:pt x="0" y="3657759"/>
                </a:moveTo>
                <a:lnTo>
                  <a:pt x="3657759" y="3657759"/>
                </a:lnTo>
                <a:lnTo>
                  <a:pt x="3657759" y="0"/>
                </a:lnTo>
                <a:lnTo>
                  <a:pt x="0" y="0"/>
                </a:lnTo>
                <a:lnTo>
                  <a:pt x="0" y="3657759"/>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6" name="Group 6"/>
          <p:cNvGrpSpPr/>
          <p:nvPr/>
        </p:nvGrpSpPr>
        <p:grpSpPr>
          <a:xfrm>
            <a:off x="1028700" y="1067319"/>
            <a:ext cx="16230600" cy="8190981"/>
            <a:chOff x="0" y="0"/>
            <a:chExt cx="4274726" cy="2157295"/>
          </a:xfrm>
        </p:grpSpPr>
        <p:sp>
          <p:nvSpPr>
            <p:cNvPr id="7" name="Freeform 7"/>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8" name="TextBox 8"/>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9" name="Freeform 9"/>
          <p:cNvSpPr/>
          <p:nvPr/>
        </p:nvSpPr>
        <p:spPr>
          <a:xfrm>
            <a:off x="2424035" y="3307374"/>
            <a:ext cx="13439929" cy="3682220"/>
          </a:xfrm>
          <a:custGeom>
            <a:avLst/>
            <a:gdLst/>
            <a:ahLst/>
            <a:cxnLst/>
            <a:rect l="l" t="t" r="r" b="b"/>
            <a:pathLst>
              <a:path w="13439929" h="3682220">
                <a:moveTo>
                  <a:pt x="0" y="0"/>
                </a:moveTo>
                <a:lnTo>
                  <a:pt x="13439930" y="0"/>
                </a:lnTo>
                <a:lnTo>
                  <a:pt x="13439930" y="3682220"/>
                </a:lnTo>
                <a:lnTo>
                  <a:pt x="0" y="3682220"/>
                </a:lnTo>
                <a:lnTo>
                  <a:pt x="0" y="0"/>
                </a:lnTo>
                <a:close/>
              </a:path>
            </a:pathLst>
          </a:custGeom>
          <a:blipFill>
            <a:blip r:embed="rId6"/>
            <a:stretch>
              <a:fillRect t="-910" b="-640"/>
            </a:stretch>
          </a:blipFill>
        </p:spPr>
        <p:txBody>
          <a:bodyPr/>
          <a:lstStyle/>
          <a:p>
            <a:endParaRPr lang="en-US"/>
          </a:p>
        </p:txBody>
      </p:sp>
      <p:sp>
        <p:nvSpPr>
          <p:cNvPr id="10" name="TextBox 10"/>
          <p:cNvSpPr txBox="1"/>
          <p:nvPr/>
        </p:nvSpPr>
        <p:spPr>
          <a:xfrm>
            <a:off x="5139538" y="2105104"/>
            <a:ext cx="8008924"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Sơ đồ hệ thống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a:off x="0" y="6172200"/>
            <a:ext cx="4848071" cy="4114800"/>
          </a:xfrm>
          <a:custGeom>
            <a:avLst/>
            <a:gdLst/>
            <a:ahLst/>
            <a:cxnLst/>
            <a:rect l="l" t="t" r="r" b="b"/>
            <a:pathLst>
              <a:path w="4848071" h="4114800">
                <a:moveTo>
                  <a:pt x="0" y="0"/>
                </a:moveTo>
                <a:lnTo>
                  <a:pt x="4848071" y="0"/>
                </a:lnTo>
                <a:lnTo>
                  <a:pt x="4848071" y="4114800"/>
                </a:lnTo>
                <a:lnTo>
                  <a:pt x="0" y="4114800"/>
                </a:lnTo>
                <a:lnTo>
                  <a:pt x="0" y="0"/>
                </a:lnTo>
                <a:close/>
              </a:path>
            </a:pathLst>
          </a:custGeom>
          <a:blipFill>
            <a:blip r:embed="rId2">
              <a:alphaModFix amt="51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a:off x="14630241" y="6629241"/>
            <a:ext cx="3657759" cy="3657759"/>
          </a:xfrm>
          <a:custGeom>
            <a:avLst/>
            <a:gdLst/>
            <a:ahLst/>
            <a:cxnLst/>
            <a:rect l="l" t="t" r="r" b="b"/>
            <a:pathLst>
              <a:path w="3657759" h="3657759">
                <a:moveTo>
                  <a:pt x="3657759" y="0"/>
                </a:moveTo>
                <a:lnTo>
                  <a:pt x="0" y="0"/>
                </a:lnTo>
                <a:lnTo>
                  <a:pt x="0" y="3657759"/>
                </a:lnTo>
                <a:lnTo>
                  <a:pt x="3657759" y="3657759"/>
                </a:lnTo>
                <a:lnTo>
                  <a:pt x="3657759"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4" name="Freeform 4"/>
          <p:cNvSpPr/>
          <p:nvPr/>
        </p:nvSpPr>
        <p:spPr>
          <a:xfrm flipH="1" flipV="1">
            <a:off x="13439929" y="0"/>
            <a:ext cx="4848071" cy="4114800"/>
          </a:xfrm>
          <a:custGeom>
            <a:avLst/>
            <a:gdLst/>
            <a:ahLst/>
            <a:cxnLst/>
            <a:rect l="l" t="t" r="r" b="b"/>
            <a:pathLst>
              <a:path w="4848071" h="4114800">
                <a:moveTo>
                  <a:pt x="4848071" y="4114800"/>
                </a:moveTo>
                <a:lnTo>
                  <a:pt x="0" y="4114800"/>
                </a:lnTo>
                <a:lnTo>
                  <a:pt x="0" y="0"/>
                </a:lnTo>
                <a:lnTo>
                  <a:pt x="4848071" y="0"/>
                </a:lnTo>
                <a:lnTo>
                  <a:pt x="4848071" y="4114800"/>
                </a:lnTo>
                <a:close/>
              </a:path>
            </a:pathLst>
          </a:custGeom>
          <a:blipFill>
            <a:blip r:embed="rId2">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flipV="1">
            <a:off x="0" y="-57150"/>
            <a:ext cx="3657759" cy="3657759"/>
          </a:xfrm>
          <a:custGeom>
            <a:avLst/>
            <a:gdLst/>
            <a:ahLst/>
            <a:cxnLst/>
            <a:rect l="l" t="t" r="r" b="b"/>
            <a:pathLst>
              <a:path w="3657759" h="3657759">
                <a:moveTo>
                  <a:pt x="0" y="3657759"/>
                </a:moveTo>
                <a:lnTo>
                  <a:pt x="3657759" y="3657759"/>
                </a:lnTo>
                <a:lnTo>
                  <a:pt x="3657759" y="0"/>
                </a:lnTo>
                <a:lnTo>
                  <a:pt x="0" y="0"/>
                </a:lnTo>
                <a:lnTo>
                  <a:pt x="0" y="3657759"/>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6" name="Group 6"/>
          <p:cNvGrpSpPr/>
          <p:nvPr/>
        </p:nvGrpSpPr>
        <p:grpSpPr>
          <a:xfrm>
            <a:off x="919051" y="1067319"/>
            <a:ext cx="16230600" cy="8190981"/>
            <a:chOff x="0" y="0"/>
            <a:chExt cx="4274726" cy="2157295"/>
          </a:xfrm>
        </p:grpSpPr>
        <p:sp>
          <p:nvSpPr>
            <p:cNvPr id="7" name="Freeform 7"/>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8" name="TextBox 8"/>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9" name="TextBox 9"/>
          <p:cNvSpPr txBox="1"/>
          <p:nvPr/>
        </p:nvSpPr>
        <p:spPr>
          <a:xfrm>
            <a:off x="5139538" y="2105104"/>
            <a:ext cx="9583880"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Cài đặt môi trường</a:t>
            </a:r>
          </a:p>
        </p:txBody>
      </p:sp>
      <p:sp>
        <p:nvSpPr>
          <p:cNvPr id="10" name="TextBox 10"/>
          <p:cNvSpPr txBox="1"/>
          <p:nvPr/>
        </p:nvSpPr>
        <p:spPr>
          <a:xfrm>
            <a:off x="2526657" y="3424555"/>
            <a:ext cx="8341116" cy="1247140"/>
          </a:xfrm>
          <a:prstGeom prst="rect">
            <a:avLst/>
          </a:prstGeom>
        </p:spPr>
        <p:txBody>
          <a:bodyPr lIns="0" tIns="0" rIns="0" bIns="0" rtlCol="0" anchor="t">
            <a:spAutoFit/>
          </a:bodyPr>
          <a:lstStyle/>
          <a:p>
            <a:pPr marL="734059" lvl="1" indent="-367030" algn="ctr">
              <a:lnSpc>
                <a:spcPts val="4759"/>
              </a:lnSpc>
              <a:buFont typeface="Arial"/>
              <a:buChar char="•"/>
            </a:pPr>
            <a:r>
              <a:rPr lang="en-US" sz="3399">
                <a:solidFill>
                  <a:srgbClr val="14274E"/>
                </a:solidFill>
                <a:latin typeface="Times New Roman"/>
                <a:ea typeface="Times New Roman"/>
                <a:cs typeface="Times New Roman"/>
                <a:sym typeface="Times New Roman"/>
              </a:rPr>
              <a:t>Python 3.10, OpenCV, Numpy, Yolov8s,  roboflow, Visual Studio Code.</a:t>
            </a:r>
          </a:p>
        </p:txBody>
      </p:sp>
      <p:sp>
        <p:nvSpPr>
          <p:cNvPr id="11" name="TextBox 11"/>
          <p:cNvSpPr txBox="1"/>
          <p:nvPr/>
        </p:nvSpPr>
        <p:spPr>
          <a:xfrm>
            <a:off x="2526657" y="4753292"/>
            <a:ext cx="8231467" cy="647065"/>
          </a:xfrm>
          <a:prstGeom prst="rect">
            <a:avLst/>
          </a:prstGeom>
        </p:spPr>
        <p:txBody>
          <a:bodyPr lIns="0" tIns="0" rIns="0" bIns="0" rtlCol="0" anchor="t">
            <a:spAutoFit/>
          </a:bodyPr>
          <a:lstStyle/>
          <a:p>
            <a:pPr marL="734059" lvl="1" indent="-367030" algn="ctr">
              <a:lnSpc>
                <a:spcPts val="4759"/>
              </a:lnSpc>
              <a:buFont typeface="Arial"/>
              <a:buChar char="•"/>
            </a:pPr>
            <a:r>
              <a:rPr lang="en-US" sz="3399">
                <a:solidFill>
                  <a:srgbClr val="394867"/>
                </a:solidFill>
                <a:latin typeface="Times New Roman"/>
                <a:ea typeface="Times New Roman"/>
                <a:cs typeface="Times New Roman"/>
                <a:sym typeface="Times New Roman"/>
              </a:rPr>
              <a:t>Chạy trên Windown/Linux, hỗ trợ GPU</a:t>
            </a:r>
          </a:p>
        </p:txBody>
      </p:sp>
      <p:sp>
        <p:nvSpPr>
          <p:cNvPr id="12" name="TextBox 12"/>
          <p:cNvSpPr txBox="1"/>
          <p:nvPr/>
        </p:nvSpPr>
        <p:spPr>
          <a:xfrm>
            <a:off x="2526657" y="5525135"/>
            <a:ext cx="6417276" cy="647065"/>
          </a:xfrm>
          <a:prstGeom prst="rect">
            <a:avLst/>
          </a:prstGeom>
        </p:spPr>
        <p:txBody>
          <a:bodyPr lIns="0" tIns="0" rIns="0" bIns="0" rtlCol="0" anchor="t">
            <a:spAutoFit/>
          </a:bodyPr>
          <a:lstStyle/>
          <a:p>
            <a:pPr marL="734059" lvl="1" indent="-367030" algn="ctr">
              <a:lnSpc>
                <a:spcPts val="4759"/>
              </a:lnSpc>
              <a:buFont typeface="Arial"/>
              <a:buChar char="•"/>
            </a:pPr>
            <a:r>
              <a:rPr lang="en-US" sz="3399">
                <a:solidFill>
                  <a:srgbClr val="394867"/>
                </a:solidFill>
                <a:latin typeface="Times New Roman"/>
                <a:ea typeface="Times New Roman"/>
                <a:cs typeface="Times New Roman"/>
                <a:sym typeface="Times New Roman"/>
              </a:rPr>
              <a:t>Cài đặt Ulltralytics, ByteTrack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a:off x="0" y="6172200"/>
            <a:ext cx="4848071" cy="4114800"/>
          </a:xfrm>
          <a:custGeom>
            <a:avLst/>
            <a:gdLst/>
            <a:ahLst/>
            <a:cxnLst/>
            <a:rect l="l" t="t" r="r" b="b"/>
            <a:pathLst>
              <a:path w="4848071" h="4114800">
                <a:moveTo>
                  <a:pt x="0" y="0"/>
                </a:moveTo>
                <a:lnTo>
                  <a:pt x="4848071" y="0"/>
                </a:lnTo>
                <a:lnTo>
                  <a:pt x="4848071" y="4114800"/>
                </a:lnTo>
                <a:lnTo>
                  <a:pt x="0" y="4114800"/>
                </a:lnTo>
                <a:lnTo>
                  <a:pt x="0" y="0"/>
                </a:lnTo>
                <a:close/>
              </a:path>
            </a:pathLst>
          </a:custGeom>
          <a:blipFill>
            <a:blip r:embed="rId2">
              <a:alphaModFix amt="51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H="1">
            <a:off x="14630241" y="6629241"/>
            <a:ext cx="3657759" cy="3657759"/>
          </a:xfrm>
          <a:custGeom>
            <a:avLst/>
            <a:gdLst/>
            <a:ahLst/>
            <a:cxnLst/>
            <a:rect l="l" t="t" r="r" b="b"/>
            <a:pathLst>
              <a:path w="3657759" h="3657759">
                <a:moveTo>
                  <a:pt x="3657759" y="0"/>
                </a:moveTo>
                <a:lnTo>
                  <a:pt x="0" y="0"/>
                </a:lnTo>
                <a:lnTo>
                  <a:pt x="0" y="3657759"/>
                </a:lnTo>
                <a:lnTo>
                  <a:pt x="3657759" y="3657759"/>
                </a:lnTo>
                <a:lnTo>
                  <a:pt x="3657759"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4" name="Freeform 4"/>
          <p:cNvSpPr/>
          <p:nvPr/>
        </p:nvSpPr>
        <p:spPr>
          <a:xfrm flipH="1" flipV="1">
            <a:off x="13439929" y="0"/>
            <a:ext cx="4848071" cy="4114800"/>
          </a:xfrm>
          <a:custGeom>
            <a:avLst/>
            <a:gdLst/>
            <a:ahLst/>
            <a:cxnLst/>
            <a:rect l="l" t="t" r="r" b="b"/>
            <a:pathLst>
              <a:path w="4848071" h="4114800">
                <a:moveTo>
                  <a:pt x="4848071" y="4114800"/>
                </a:moveTo>
                <a:lnTo>
                  <a:pt x="0" y="4114800"/>
                </a:lnTo>
                <a:lnTo>
                  <a:pt x="0" y="0"/>
                </a:lnTo>
                <a:lnTo>
                  <a:pt x="4848071" y="0"/>
                </a:lnTo>
                <a:lnTo>
                  <a:pt x="4848071" y="4114800"/>
                </a:lnTo>
                <a:close/>
              </a:path>
            </a:pathLst>
          </a:custGeom>
          <a:blipFill>
            <a:blip r:embed="rId2">
              <a:alphaModFix amt="50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flipV="1">
            <a:off x="0" y="-57150"/>
            <a:ext cx="3657759" cy="3657759"/>
          </a:xfrm>
          <a:custGeom>
            <a:avLst/>
            <a:gdLst/>
            <a:ahLst/>
            <a:cxnLst/>
            <a:rect l="l" t="t" r="r" b="b"/>
            <a:pathLst>
              <a:path w="3657759" h="3657759">
                <a:moveTo>
                  <a:pt x="0" y="3657759"/>
                </a:moveTo>
                <a:lnTo>
                  <a:pt x="3657759" y="3657759"/>
                </a:lnTo>
                <a:lnTo>
                  <a:pt x="3657759" y="0"/>
                </a:lnTo>
                <a:lnTo>
                  <a:pt x="0" y="0"/>
                </a:lnTo>
                <a:lnTo>
                  <a:pt x="0" y="3657759"/>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grpSp>
        <p:nvGrpSpPr>
          <p:cNvPr id="6" name="Group 6"/>
          <p:cNvGrpSpPr/>
          <p:nvPr/>
        </p:nvGrpSpPr>
        <p:grpSpPr>
          <a:xfrm>
            <a:off x="919051" y="1067319"/>
            <a:ext cx="16230600" cy="8190981"/>
            <a:chOff x="0" y="0"/>
            <a:chExt cx="4274726" cy="2157295"/>
          </a:xfrm>
        </p:grpSpPr>
        <p:sp>
          <p:nvSpPr>
            <p:cNvPr id="7" name="Freeform 7"/>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8" name="TextBox 8"/>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9" name="TextBox 9"/>
          <p:cNvSpPr txBox="1"/>
          <p:nvPr/>
        </p:nvSpPr>
        <p:spPr>
          <a:xfrm>
            <a:off x="3783879" y="2105104"/>
            <a:ext cx="10939539"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Thử nghiệm hệ thống</a:t>
            </a:r>
          </a:p>
        </p:txBody>
      </p:sp>
      <p:sp>
        <p:nvSpPr>
          <p:cNvPr id="10" name="TextBox 10"/>
          <p:cNvSpPr txBox="1"/>
          <p:nvPr/>
        </p:nvSpPr>
        <p:spPr>
          <a:xfrm>
            <a:off x="2424035" y="3346320"/>
            <a:ext cx="12427823" cy="4578350"/>
          </a:xfrm>
          <a:prstGeom prst="rect">
            <a:avLst/>
          </a:prstGeom>
        </p:spPr>
        <p:txBody>
          <a:bodyPr lIns="0" tIns="0" rIns="0" bIns="0" rtlCol="0" anchor="t">
            <a:spAutoFit/>
          </a:bodyPr>
          <a:lstStyle/>
          <a:p>
            <a:pPr marL="431801" lvl="1" indent="-215900" algn="l">
              <a:lnSpc>
                <a:spcPts val="2800"/>
              </a:lnSpc>
              <a:buFont typeface="Arial"/>
              <a:buChar char="•"/>
            </a:pPr>
            <a:r>
              <a:rPr lang="en-US" sz="2000" b="1">
                <a:solidFill>
                  <a:srgbClr val="14274E"/>
                </a:solidFill>
                <a:latin typeface="Clear Sans Bold"/>
                <a:ea typeface="Clear Sans Bold"/>
                <a:cs typeface="Clear Sans Bold"/>
                <a:sym typeface="Clear Sans Bold"/>
              </a:rPr>
              <a:t>Input: Video thực tế videomo2.mp4.</a:t>
            </a:r>
          </a:p>
          <a:p>
            <a:pPr marL="431801" lvl="1" indent="-215900" algn="l">
              <a:lnSpc>
                <a:spcPts val="2800"/>
              </a:lnSpc>
              <a:buFont typeface="Arial"/>
              <a:buChar char="•"/>
            </a:pPr>
            <a:r>
              <a:rPr lang="en-US" sz="2000" b="1">
                <a:solidFill>
                  <a:srgbClr val="14274E"/>
                </a:solidFill>
                <a:latin typeface="Clear Sans Bold"/>
                <a:ea typeface="Clear Sans Bold"/>
                <a:cs typeface="Clear Sans Bold"/>
                <a:sym typeface="Clear Sans Bold"/>
              </a:rPr>
              <a:t>Quy trình hệ thống:</a:t>
            </a:r>
          </a:p>
          <a:p>
            <a:pPr marL="431801" lvl="1" indent="-215900" algn="l">
              <a:lnSpc>
                <a:spcPts val="2800"/>
              </a:lnSpc>
              <a:buAutoNum type="arabicPeriod"/>
            </a:pPr>
            <a:r>
              <a:rPr lang="en-US" sz="2000" b="1">
                <a:solidFill>
                  <a:srgbClr val="14274E"/>
                </a:solidFill>
                <a:latin typeface="Clear Sans Bold"/>
                <a:ea typeface="Clear Sans Bold"/>
                <a:cs typeface="Clear Sans Bold"/>
                <a:sym typeface="Clear Sans Bold"/>
              </a:rPr>
              <a:t>Phát hiện phương tiện:</a:t>
            </a:r>
          </a:p>
          <a:p>
            <a:pPr marL="863601" lvl="2" indent="-287867" algn="l">
              <a:lnSpc>
                <a:spcPts val="2800"/>
              </a:lnSpc>
              <a:buFont typeface="Arial"/>
              <a:buChar char="⚬"/>
            </a:pPr>
            <a:r>
              <a:rPr lang="en-US" sz="2000" b="1">
                <a:solidFill>
                  <a:srgbClr val="14274E"/>
                </a:solidFill>
                <a:latin typeface="Clear Sans Bold"/>
                <a:ea typeface="Clear Sans Bold"/>
                <a:cs typeface="Clear Sans Bold"/>
                <a:sym typeface="Clear Sans Bold"/>
              </a:rPr>
              <a:t>Sử dụng mô hình YOLOv8s.pt để phát hiện các phương tiện trong từng khung hình của video.</a:t>
            </a:r>
          </a:p>
          <a:p>
            <a:pPr marL="431801" lvl="1" indent="-215900" algn="l">
              <a:lnSpc>
                <a:spcPts val="2800"/>
              </a:lnSpc>
              <a:buAutoNum type="arabicPeriod"/>
            </a:pPr>
            <a:r>
              <a:rPr lang="en-US" sz="2000" b="1">
                <a:solidFill>
                  <a:srgbClr val="14274E"/>
                </a:solidFill>
                <a:latin typeface="Clear Sans Bold"/>
                <a:ea typeface="Clear Sans Bold"/>
                <a:cs typeface="Clear Sans Bold"/>
                <a:sym typeface="Clear Sans Bold"/>
              </a:rPr>
              <a:t>Theo dõi phương tiện (Tracking):</a:t>
            </a:r>
          </a:p>
          <a:p>
            <a:pPr marL="863601" lvl="2" indent="-287867" algn="l">
              <a:lnSpc>
                <a:spcPts val="2800"/>
              </a:lnSpc>
              <a:buFont typeface="Arial"/>
              <a:buChar char="⚬"/>
            </a:pPr>
            <a:r>
              <a:rPr lang="en-US" sz="2000" b="1">
                <a:solidFill>
                  <a:srgbClr val="14274E"/>
                </a:solidFill>
                <a:latin typeface="Clear Sans Bold"/>
                <a:ea typeface="Clear Sans Bold"/>
                <a:cs typeface="Clear Sans Bold"/>
                <a:sym typeface="Clear Sans Bold"/>
              </a:rPr>
              <a:t>Áp dụng thuật toán ByteTrack để gán ID và theo dõi các phương tiện qua các khung hình.</a:t>
            </a:r>
          </a:p>
          <a:p>
            <a:pPr marL="431801" lvl="1" indent="-215900" algn="l">
              <a:lnSpc>
                <a:spcPts val="2800"/>
              </a:lnSpc>
              <a:buAutoNum type="arabicPeriod"/>
            </a:pPr>
            <a:r>
              <a:rPr lang="en-US" sz="2000" b="1">
                <a:solidFill>
                  <a:srgbClr val="14274E"/>
                </a:solidFill>
                <a:latin typeface="Clear Sans Bold"/>
                <a:ea typeface="Clear Sans Bold"/>
                <a:cs typeface="Clear Sans Bold"/>
                <a:sym typeface="Clear Sans Bold"/>
              </a:rPr>
              <a:t>Gán biển số với ID xe:</a:t>
            </a:r>
          </a:p>
          <a:p>
            <a:pPr marL="863601" lvl="2" indent="-287867" algn="l">
              <a:lnSpc>
                <a:spcPts val="2800"/>
              </a:lnSpc>
              <a:buFont typeface="Arial"/>
              <a:buChar char="⚬"/>
            </a:pPr>
            <a:r>
              <a:rPr lang="en-US" sz="2000" b="1">
                <a:solidFill>
                  <a:srgbClr val="14274E"/>
                </a:solidFill>
                <a:latin typeface="Clear Sans Bold"/>
                <a:ea typeface="Clear Sans Bold"/>
                <a:cs typeface="Clear Sans Bold"/>
                <a:sym typeface="Clear Sans Bold"/>
              </a:rPr>
              <a:t>Mỗi biển số được gắn với đúng ID của xe nếu tọa độ trung tâm biển nằm trong bounding box của phương tiện đang được track.</a:t>
            </a:r>
          </a:p>
          <a:p>
            <a:pPr marL="431801" lvl="1" indent="-215900" algn="l">
              <a:lnSpc>
                <a:spcPts val="2800"/>
              </a:lnSpc>
              <a:buAutoNum type="arabicPeriod"/>
            </a:pPr>
            <a:r>
              <a:rPr lang="en-US" sz="2000" b="1">
                <a:solidFill>
                  <a:srgbClr val="14274E"/>
                </a:solidFill>
                <a:latin typeface="Clear Sans Bold"/>
                <a:ea typeface="Clear Sans Bold"/>
                <a:cs typeface="Clear Sans Bold"/>
                <a:sym typeface="Clear Sans Bold"/>
              </a:rPr>
              <a:t>Lưu kết quả &amp; hiển thị:</a:t>
            </a:r>
          </a:p>
          <a:p>
            <a:pPr marL="863601" lvl="2" indent="-287867" algn="l">
              <a:lnSpc>
                <a:spcPts val="2800"/>
              </a:lnSpc>
              <a:buFont typeface="Arial"/>
              <a:buChar char="⚬"/>
            </a:pPr>
            <a:r>
              <a:rPr lang="en-US" sz="2000" b="1">
                <a:solidFill>
                  <a:srgbClr val="14274E"/>
                </a:solidFill>
                <a:latin typeface="Clear Sans Bold"/>
                <a:ea typeface="Clear Sans Bold"/>
                <a:cs typeface="Clear Sans Bold"/>
                <a:sym typeface="Clear Sans Bold"/>
              </a:rPr>
              <a:t>In thông tin biển số theo ID xe.</a:t>
            </a:r>
          </a:p>
          <a:p>
            <a:pPr marL="863601" lvl="2" indent="-287867" algn="l">
              <a:lnSpc>
                <a:spcPts val="2800"/>
              </a:lnSpc>
              <a:buFont typeface="Arial"/>
              <a:buChar char="⚬"/>
            </a:pPr>
            <a:r>
              <a:rPr lang="en-US" sz="2000" b="1">
                <a:solidFill>
                  <a:srgbClr val="14274E"/>
                </a:solidFill>
                <a:latin typeface="Clear Sans Bold"/>
                <a:ea typeface="Clear Sans Bold"/>
                <a:cs typeface="Clear Sans Bold"/>
                <a:sym typeface="Clear Sans Bold"/>
              </a:rPr>
              <a:t>Ghi khung hình đã nhận diện vào video mới output_processed_video.avi.</a:t>
            </a:r>
          </a:p>
          <a:p>
            <a:pPr algn="l">
              <a:lnSpc>
                <a:spcPts val="2800"/>
              </a:lnSpc>
            </a:pPr>
            <a:endParaRPr lang="en-US" sz="2000" b="1">
              <a:solidFill>
                <a:srgbClr val="14274E"/>
              </a:solidFill>
              <a:latin typeface="Clear Sans Bold"/>
              <a:ea typeface="Clear Sans Bold"/>
              <a:cs typeface="Clear Sans Bold"/>
              <a:sym typeface="Clear Sans Bo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H="1" flipV="1">
            <a:off x="14173200" y="-57150"/>
            <a:ext cx="4114800" cy="4114800"/>
          </a:xfrm>
          <a:custGeom>
            <a:avLst/>
            <a:gdLst/>
            <a:ahLst/>
            <a:cxnLst/>
            <a:rect l="l" t="t" r="r" b="b"/>
            <a:pathLst>
              <a:path w="4114800" h="4114800">
                <a:moveTo>
                  <a:pt x="4114800" y="4114800"/>
                </a:moveTo>
                <a:lnTo>
                  <a:pt x="0" y="4114800"/>
                </a:lnTo>
                <a:lnTo>
                  <a:pt x="0" y="0"/>
                </a:lnTo>
                <a:lnTo>
                  <a:pt x="4114800" y="0"/>
                </a:lnTo>
                <a:lnTo>
                  <a:pt x="411480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0" y="6229350"/>
            <a:ext cx="4114800" cy="4114800"/>
          </a:xfrm>
          <a:custGeom>
            <a:avLst/>
            <a:gdLst/>
            <a:ahLst/>
            <a:cxnLst/>
            <a:rect l="l" t="t" r="r" b="b"/>
            <a:pathLst>
              <a:path w="4114800" h="4114800">
                <a:moveTo>
                  <a:pt x="0" y="0"/>
                </a:moveTo>
                <a:lnTo>
                  <a:pt x="4114800" y="0"/>
                </a:lnTo>
                <a:lnTo>
                  <a:pt x="4114800"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028700" y="1067319"/>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4761870" y="1765542"/>
            <a:ext cx="8764259" cy="955674"/>
          </a:xfrm>
          <a:prstGeom prst="rect">
            <a:avLst/>
          </a:prstGeom>
        </p:spPr>
        <p:txBody>
          <a:bodyPr lIns="0" tIns="0" rIns="0" bIns="0" rtlCol="0" anchor="t">
            <a:spAutoFit/>
          </a:bodyPr>
          <a:lstStyle/>
          <a:p>
            <a:pPr algn="ctr">
              <a:lnSpc>
                <a:spcPts val="6799"/>
              </a:lnSpc>
            </a:pPr>
            <a:r>
              <a:rPr lang="en-US" sz="8499" b="1">
                <a:solidFill>
                  <a:srgbClr val="14274E"/>
                </a:solidFill>
                <a:latin typeface="Clear Sans Bold"/>
                <a:ea typeface="Clear Sans Bold"/>
                <a:cs typeface="Clear Sans Bold"/>
                <a:sym typeface="Clear Sans Bold"/>
              </a:rPr>
              <a:t>Đánh giá kết quả</a:t>
            </a:r>
          </a:p>
        </p:txBody>
      </p:sp>
      <p:sp>
        <p:nvSpPr>
          <p:cNvPr id="8" name="TextBox 8"/>
          <p:cNvSpPr txBox="1"/>
          <p:nvPr/>
        </p:nvSpPr>
        <p:spPr>
          <a:xfrm>
            <a:off x="2374546" y="4010025"/>
            <a:ext cx="6321836" cy="3873500"/>
          </a:xfrm>
          <a:prstGeom prst="rect">
            <a:avLst/>
          </a:prstGeom>
        </p:spPr>
        <p:txBody>
          <a:bodyPr lIns="0" tIns="0" rIns="0" bIns="0" rtlCol="0" anchor="t">
            <a:spAutoFit/>
          </a:bodyPr>
          <a:lstStyle/>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Đếm phương tiện chính xác khi đi qua vùng đếm đã chỉ định.</a:t>
            </a:r>
          </a:p>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Mô hình YOLOv8s có tốc độ xử lý nhanh, phù hợp cho bài toán real-time.</a:t>
            </a:r>
          </a:p>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ByteTrack gán ID ổn định cho từng phương tiện, giúp tránh trùng lặp khi đếm.</a:t>
            </a:r>
          </a:p>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Có thể áp dụng cho nhiều tình huống giao thông thực tế như: ngã tư, bãi đậu xe, trạm thu phí.</a:t>
            </a:r>
          </a:p>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Kết quả được hiển thị rõ ràng, trực quan ngay trên video: vùng đếm, ID phương tiện.</a:t>
            </a:r>
          </a:p>
          <a:p>
            <a:pPr algn="l">
              <a:lnSpc>
                <a:spcPts val="2800"/>
              </a:lnSpc>
            </a:pPr>
            <a:endParaRPr lang="en-US" sz="2000">
              <a:solidFill>
                <a:srgbClr val="14274E"/>
              </a:solidFill>
              <a:latin typeface="Clear Sans"/>
              <a:ea typeface="Clear Sans"/>
              <a:cs typeface="Clear Sans"/>
              <a:sym typeface="Clear Sans"/>
            </a:endParaRPr>
          </a:p>
        </p:txBody>
      </p:sp>
      <p:sp>
        <p:nvSpPr>
          <p:cNvPr id="9" name="TextBox 9"/>
          <p:cNvSpPr txBox="1"/>
          <p:nvPr/>
        </p:nvSpPr>
        <p:spPr>
          <a:xfrm>
            <a:off x="2513153" y="2902191"/>
            <a:ext cx="1970590" cy="613410"/>
          </a:xfrm>
          <a:prstGeom prst="rect">
            <a:avLst/>
          </a:prstGeom>
        </p:spPr>
        <p:txBody>
          <a:bodyPr lIns="0" tIns="0" rIns="0" bIns="0" rtlCol="0" anchor="t">
            <a:spAutoFit/>
          </a:bodyPr>
          <a:lstStyle/>
          <a:p>
            <a:pPr algn="ctr">
              <a:lnSpc>
                <a:spcPts val="5039"/>
              </a:lnSpc>
              <a:spcBef>
                <a:spcPct val="0"/>
              </a:spcBef>
            </a:pPr>
            <a:r>
              <a:rPr lang="en-US" sz="3599">
                <a:solidFill>
                  <a:srgbClr val="14274E"/>
                </a:solidFill>
                <a:latin typeface="Open Sans"/>
                <a:ea typeface="Open Sans"/>
                <a:cs typeface="Open Sans"/>
                <a:sym typeface="Open Sans"/>
              </a:rPr>
              <a:t>Ưu điểm</a:t>
            </a:r>
          </a:p>
        </p:txBody>
      </p:sp>
      <p:sp>
        <p:nvSpPr>
          <p:cNvPr id="10" name="TextBox 10"/>
          <p:cNvSpPr txBox="1"/>
          <p:nvPr/>
        </p:nvSpPr>
        <p:spPr>
          <a:xfrm>
            <a:off x="9765175" y="2902191"/>
            <a:ext cx="2803967" cy="613410"/>
          </a:xfrm>
          <a:prstGeom prst="rect">
            <a:avLst/>
          </a:prstGeom>
        </p:spPr>
        <p:txBody>
          <a:bodyPr lIns="0" tIns="0" rIns="0" bIns="0" rtlCol="0" anchor="t">
            <a:spAutoFit/>
          </a:bodyPr>
          <a:lstStyle/>
          <a:p>
            <a:pPr algn="ctr">
              <a:lnSpc>
                <a:spcPts val="5039"/>
              </a:lnSpc>
              <a:spcBef>
                <a:spcPct val="0"/>
              </a:spcBef>
            </a:pPr>
            <a:r>
              <a:rPr lang="en-US" sz="3599">
                <a:solidFill>
                  <a:srgbClr val="14274E"/>
                </a:solidFill>
                <a:latin typeface="Open Sans"/>
                <a:ea typeface="Open Sans"/>
                <a:cs typeface="Open Sans"/>
                <a:sym typeface="Open Sans"/>
              </a:rPr>
              <a:t>Hạn chế</a:t>
            </a:r>
          </a:p>
        </p:txBody>
      </p:sp>
      <p:sp>
        <p:nvSpPr>
          <p:cNvPr id="11" name="TextBox 11"/>
          <p:cNvSpPr txBox="1"/>
          <p:nvPr/>
        </p:nvSpPr>
        <p:spPr>
          <a:xfrm>
            <a:off x="9765175" y="4010025"/>
            <a:ext cx="6630847" cy="3873500"/>
          </a:xfrm>
          <a:prstGeom prst="rect">
            <a:avLst/>
          </a:prstGeom>
        </p:spPr>
        <p:txBody>
          <a:bodyPr lIns="0" tIns="0" rIns="0" bIns="0" rtlCol="0" anchor="t">
            <a:spAutoFit/>
          </a:bodyPr>
          <a:lstStyle/>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Độ chính xác giảm khi nhiều xe chồng lấn nhau hoặc đi quá gần.</a:t>
            </a:r>
          </a:p>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Vùng đếm cần được xác định kỹ lưỡng, nếu không sẽ gây đếm sai hoặc bỏ sót.</a:t>
            </a:r>
          </a:p>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Một số phương tiện nhỏ (ví dụ xe máy nhỏ, xe đạp) có thể không được phát hiện, nếu model chưa được tinh chỉnh tốt.</a:t>
            </a:r>
          </a:p>
          <a:p>
            <a:pPr marL="431801" lvl="1" indent="-215900" algn="l">
              <a:lnSpc>
                <a:spcPts val="2800"/>
              </a:lnSpc>
              <a:buFont typeface="Arial"/>
              <a:buChar char="•"/>
            </a:pPr>
            <a:r>
              <a:rPr lang="en-US" sz="2000">
                <a:solidFill>
                  <a:srgbClr val="14274E"/>
                </a:solidFill>
                <a:latin typeface="Clear Sans"/>
                <a:ea typeface="Clear Sans"/>
                <a:cs typeface="Clear Sans"/>
                <a:sym typeface="Clear Sans"/>
              </a:rPr>
              <a:t>Không có phân loại rõ ràng từng loại xe (car, motorbike...), nếu không thêm filter classes=[...].</a:t>
            </a:r>
          </a:p>
          <a:p>
            <a:pPr algn="l">
              <a:lnSpc>
                <a:spcPts val="2800"/>
              </a:lnSpc>
            </a:pPr>
            <a:endParaRPr lang="en-US" sz="2000">
              <a:solidFill>
                <a:srgbClr val="14274E"/>
              </a:solidFill>
              <a:latin typeface="Clear Sans"/>
              <a:ea typeface="Clear Sans"/>
              <a:cs typeface="Clear Sans"/>
              <a:sym typeface="Clear Sans"/>
            </a:endParaRPr>
          </a:p>
          <a:p>
            <a:pPr algn="l">
              <a:lnSpc>
                <a:spcPts val="2800"/>
              </a:lnSpc>
            </a:pPr>
            <a:endParaRPr lang="en-US" sz="2000">
              <a:solidFill>
                <a:srgbClr val="14274E"/>
              </a:solidFill>
              <a:latin typeface="Clear Sans"/>
              <a:ea typeface="Clear Sans"/>
              <a:cs typeface="Clear Sans"/>
              <a:sym typeface="Clear Sans"/>
            </a:endParaRPr>
          </a:p>
        </p:txBody>
      </p:sp>
      <p:sp>
        <p:nvSpPr>
          <p:cNvPr id="12" name="AutoShape 12"/>
          <p:cNvSpPr/>
          <p:nvPr/>
        </p:nvSpPr>
        <p:spPr>
          <a:xfrm>
            <a:off x="2513153" y="3786625"/>
            <a:ext cx="6492240" cy="0"/>
          </a:xfrm>
          <a:prstGeom prst="line">
            <a:avLst/>
          </a:prstGeom>
          <a:ln w="38100" cap="flat">
            <a:solidFill>
              <a:srgbClr val="000000"/>
            </a:solidFill>
            <a:prstDash val="solid"/>
            <a:headEnd type="none" w="sm" len="sm"/>
            <a:tailEnd type="none" w="sm" len="sm"/>
          </a:ln>
        </p:spPr>
        <p:txBody>
          <a:bodyPr/>
          <a:lstStyle/>
          <a:p>
            <a:endParaRPr lang="en-US"/>
          </a:p>
        </p:txBody>
      </p:sp>
      <p:sp>
        <p:nvSpPr>
          <p:cNvPr id="13" name="AutoShape 13"/>
          <p:cNvSpPr/>
          <p:nvPr/>
        </p:nvSpPr>
        <p:spPr>
          <a:xfrm>
            <a:off x="9765175" y="3767575"/>
            <a:ext cx="6492240" cy="0"/>
          </a:xfrm>
          <a:prstGeom prst="line">
            <a:avLst/>
          </a:prstGeom>
          <a:ln w="38100" cap="flat">
            <a:solidFill>
              <a:srgbClr val="000000"/>
            </a:solidFill>
            <a:prstDash val="solid"/>
            <a:headEnd type="none" w="sm" len="sm"/>
            <a:tailEnd type="none" w="sm" len="sm"/>
          </a:ln>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H="1">
            <a:off x="14317218" y="6172200"/>
            <a:ext cx="3970782" cy="4114800"/>
          </a:xfrm>
          <a:custGeom>
            <a:avLst/>
            <a:gdLst/>
            <a:ahLst/>
            <a:cxnLst/>
            <a:rect l="l" t="t" r="r" b="b"/>
            <a:pathLst>
              <a:path w="3970782" h="4114800">
                <a:moveTo>
                  <a:pt x="3970782" y="0"/>
                </a:moveTo>
                <a:lnTo>
                  <a:pt x="0" y="0"/>
                </a:lnTo>
                <a:lnTo>
                  <a:pt x="0" y="4114800"/>
                </a:lnTo>
                <a:lnTo>
                  <a:pt x="3970782" y="4114800"/>
                </a:lnTo>
                <a:lnTo>
                  <a:pt x="397078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V="1">
            <a:off x="0" y="0"/>
            <a:ext cx="3970782" cy="4114800"/>
          </a:xfrm>
          <a:custGeom>
            <a:avLst/>
            <a:gdLst/>
            <a:ahLst/>
            <a:cxnLst/>
            <a:rect l="l" t="t" r="r" b="b"/>
            <a:pathLst>
              <a:path w="3970782" h="4114800">
                <a:moveTo>
                  <a:pt x="0" y="4114800"/>
                </a:moveTo>
                <a:lnTo>
                  <a:pt x="3970782" y="4114800"/>
                </a:lnTo>
                <a:lnTo>
                  <a:pt x="3970782" y="0"/>
                </a:lnTo>
                <a:lnTo>
                  <a:pt x="0" y="0"/>
                </a:lnTo>
                <a:lnTo>
                  <a:pt x="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958923" y="1744480"/>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38100"/>
              <a:ext cx="4274726" cy="2195395"/>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6108199" y="2390775"/>
            <a:ext cx="5488342"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Khó khăn</a:t>
            </a:r>
          </a:p>
        </p:txBody>
      </p:sp>
      <p:sp>
        <p:nvSpPr>
          <p:cNvPr id="8" name="TextBox 8"/>
          <p:cNvSpPr txBox="1"/>
          <p:nvPr/>
        </p:nvSpPr>
        <p:spPr>
          <a:xfrm>
            <a:off x="1162206" y="3413471"/>
            <a:ext cx="15380327" cy="3580765"/>
          </a:xfrm>
          <a:prstGeom prst="rect">
            <a:avLst/>
          </a:prstGeom>
        </p:spPr>
        <p:txBody>
          <a:bodyPr lIns="0" tIns="0" rIns="0" bIns="0" rtlCol="0" anchor="t">
            <a:spAutoFit/>
          </a:bodyPr>
          <a:lstStyle/>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Không biết nên chọn YOLOv5 hay YOLOv8; dùng model nào (s, m, l) cho phù hợp với tốc độ và độ chính xác.</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Một xe bị đếm nhiều lần hoặc không đếm được khi đi qua vùng.</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Xe bị mất ID giữa chừng hoặc đổi ID, gây trùng lặp đếm.</a:t>
            </a:r>
          </a:p>
          <a:p>
            <a:pPr marL="734059" lvl="1" indent="-367030" algn="l">
              <a:lnSpc>
                <a:spcPts val="4759"/>
              </a:lnSpc>
              <a:buFont typeface="Arial"/>
              <a:buChar char="•"/>
            </a:pPr>
            <a:r>
              <a:rPr lang="en-US" sz="3399">
                <a:solidFill>
                  <a:srgbClr val="14274E"/>
                </a:solidFill>
                <a:latin typeface="Clear Sans"/>
                <a:ea typeface="Clear Sans"/>
                <a:cs typeface="Clear Sans"/>
                <a:sym typeface="Clear Sans"/>
              </a:rPr>
              <a:t>Lỗi do version khác nhau của ultralytics, opencv, easyocr, hoặc byteTrack.yaml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H="1">
            <a:off x="14317218" y="6172200"/>
            <a:ext cx="3970782" cy="4114800"/>
          </a:xfrm>
          <a:custGeom>
            <a:avLst/>
            <a:gdLst/>
            <a:ahLst/>
            <a:cxnLst/>
            <a:rect l="l" t="t" r="r" b="b"/>
            <a:pathLst>
              <a:path w="3970782" h="4114800">
                <a:moveTo>
                  <a:pt x="3970782" y="0"/>
                </a:moveTo>
                <a:lnTo>
                  <a:pt x="0" y="0"/>
                </a:lnTo>
                <a:lnTo>
                  <a:pt x="0" y="4114800"/>
                </a:lnTo>
                <a:lnTo>
                  <a:pt x="3970782" y="4114800"/>
                </a:lnTo>
                <a:lnTo>
                  <a:pt x="3970782"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flipV="1">
            <a:off x="0" y="0"/>
            <a:ext cx="3970782" cy="4114800"/>
          </a:xfrm>
          <a:custGeom>
            <a:avLst/>
            <a:gdLst/>
            <a:ahLst/>
            <a:cxnLst/>
            <a:rect l="l" t="t" r="r" b="b"/>
            <a:pathLst>
              <a:path w="3970782" h="4114800">
                <a:moveTo>
                  <a:pt x="0" y="4114800"/>
                </a:moveTo>
                <a:lnTo>
                  <a:pt x="3970782" y="4114800"/>
                </a:lnTo>
                <a:lnTo>
                  <a:pt x="3970782" y="0"/>
                </a:lnTo>
                <a:lnTo>
                  <a:pt x="0" y="0"/>
                </a:lnTo>
                <a:lnTo>
                  <a:pt x="0" y="411480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028700" y="1067319"/>
            <a:ext cx="16230600" cy="8190981"/>
            <a:chOff x="0" y="0"/>
            <a:chExt cx="4274726" cy="2157295"/>
          </a:xfrm>
        </p:grpSpPr>
        <p:sp>
          <p:nvSpPr>
            <p:cNvPr id="5" name="Freeform 5"/>
            <p:cNvSpPr/>
            <p:nvPr/>
          </p:nvSpPr>
          <p:spPr>
            <a:xfrm>
              <a:off x="0" y="0"/>
              <a:ext cx="4274726" cy="2157295"/>
            </a:xfrm>
            <a:custGeom>
              <a:avLst/>
              <a:gdLst/>
              <a:ahLst/>
              <a:cxnLst/>
              <a:rect l="l" t="t" r="r" b="b"/>
              <a:pathLst>
                <a:path w="4274726" h="2157295">
                  <a:moveTo>
                    <a:pt x="24327" y="0"/>
                  </a:moveTo>
                  <a:lnTo>
                    <a:pt x="4250399" y="0"/>
                  </a:lnTo>
                  <a:cubicBezTo>
                    <a:pt x="4263834" y="0"/>
                    <a:pt x="4274726" y="10891"/>
                    <a:pt x="4274726" y="24327"/>
                  </a:cubicBezTo>
                  <a:lnTo>
                    <a:pt x="4274726" y="2132968"/>
                  </a:lnTo>
                  <a:cubicBezTo>
                    <a:pt x="4274726" y="2146404"/>
                    <a:pt x="4263834" y="2157295"/>
                    <a:pt x="4250399" y="2157295"/>
                  </a:cubicBezTo>
                  <a:lnTo>
                    <a:pt x="24327" y="2157295"/>
                  </a:lnTo>
                  <a:cubicBezTo>
                    <a:pt x="17875" y="2157295"/>
                    <a:pt x="11687" y="2154732"/>
                    <a:pt x="7125" y="2150170"/>
                  </a:cubicBezTo>
                  <a:cubicBezTo>
                    <a:pt x="2563" y="2145608"/>
                    <a:pt x="0" y="2139420"/>
                    <a:pt x="0" y="2132968"/>
                  </a:cubicBezTo>
                  <a:lnTo>
                    <a:pt x="0" y="24327"/>
                  </a:lnTo>
                  <a:cubicBezTo>
                    <a:pt x="0" y="10891"/>
                    <a:pt x="10891" y="0"/>
                    <a:pt x="24327" y="0"/>
                  </a:cubicBezTo>
                  <a:close/>
                </a:path>
              </a:pathLst>
            </a:custGeom>
            <a:solidFill>
              <a:srgbClr val="F1F6F9"/>
            </a:solidFill>
            <a:ln w="133350" cap="rnd">
              <a:solidFill>
                <a:srgbClr val="394867"/>
              </a:solidFill>
              <a:prstDash val="solid"/>
              <a:round/>
            </a:ln>
          </p:spPr>
          <p:txBody>
            <a:bodyPr/>
            <a:lstStyle/>
            <a:p>
              <a:endParaRPr lang="en-US"/>
            </a:p>
          </p:txBody>
        </p:sp>
        <p:sp>
          <p:nvSpPr>
            <p:cNvPr id="6" name="TextBox 6"/>
            <p:cNvSpPr txBox="1"/>
            <p:nvPr/>
          </p:nvSpPr>
          <p:spPr>
            <a:xfrm>
              <a:off x="0" y="-28575"/>
              <a:ext cx="4274726" cy="2185870"/>
            </a:xfrm>
            <a:prstGeom prst="rect">
              <a:avLst/>
            </a:prstGeom>
          </p:spPr>
          <p:txBody>
            <a:bodyPr lIns="50800" tIns="50800" rIns="50800" bIns="50800" rtlCol="0" anchor="ctr"/>
            <a:lstStyle/>
            <a:p>
              <a:pPr algn="ctr">
                <a:lnSpc>
                  <a:spcPts val="2659"/>
                </a:lnSpc>
                <a:spcBef>
                  <a:spcPct val="0"/>
                </a:spcBef>
              </a:pPr>
              <a:endParaRPr/>
            </a:p>
          </p:txBody>
        </p:sp>
      </p:grpSp>
      <p:sp>
        <p:nvSpPr>
          <p:cNvPr id="7" name="TextBox 7"/>
          <p:cNvSpPr txBox="1"/>
          <p:nvPr/>
        </p:nvSpPr>
        <p:spPr>
          <a:xfrm>
            <a:off x="4410333" y="1576406"/>
            <a:ext cx="9467334" cy="955674"/>
          </a:xfrm>
          <a:prstGeom prst="rect">
            <a:avLst/>
          </a:prstGeom>
        </p:spPr>
        <p:txBody>
          <a:bodyPr lIns="0" tIns="0" rIns="0" bIns="0" rtlCol="0" anchor="t">
            <a:spAutoFit/>
          </a:bodyPr>
          <a:lstStyle/>
          <a:p>
            <a:pPr algn="just">
              <a:lnSpc>
                <a:spcPts val="6799"/>
              </a:lnSpc>
            </a:pPr>
            <a:r>
              <a:rPr lang="en-US" sz="8499" b="1">
                <a:solidFill>
                  <a:srgbClr val="14274E"/>
                </a:solidFill>
                <a:latin typeface="Clear Sans Bold"/>
                <a:ea typeface="Clear Sans Bold"/>
                <a:cs typeface="Clear Sans Bold"/>
                <a:sym typeface="Clear Sans Bold"/>
              </a:rPr>
              <a:t>Hướng phát triển</a:t>
            </a:r>
          </a:p>
        </p:txBody>
      </p:sp>
      <p:sp>
        <p:nvSpPr>
          <p:cNvPr id="8" name="TextBox 8"/>
          <p:cNvSpPr txBox="1"/>
          <p:nvPr/>
        </p:nvSpPr>
        <p:spPr>
          <a:xfrm>
            <a:off x="1985391" y="3329305"/>
            <a:ext cx="12869502" cy="4309745"/>
          </a:xfrm>
          <a:prstGeom prst="rect">
            <a:avLst/>
          </a:prstGeom>
        </p:spPr>
        <p:txBody>
          <a:bodyPr lIns="0" tIns="0" rIns="0" bIns="0" rtlCol="0" anchor="t">
            <a:spAutoFit/>
          </a:bodyPr>
          <a:lstStyle/>
          <a:p>
            <a:pPr marL="647700" lvl="1" indent="-323850" algn="l">
              <a:lnSpc>
                <a:spcPts val="4200"/>
              </a:lnSpc>
              <a:buFont typeface="Arial"/>
              <a:buChar char="•"/>
            </a:pPr>
            <a:r>
              <a:rPr lang="en-US" sz="3000">
                <a:solidFill>
                  <a:srgbClr val="14274E"/>
                </a:solidFill>
                <a:latin typeface="Clear Sans"/>
                <a:ea typeface="Clear Sans"/>
                <a:cs typeface="Clear Sans"/>
                <a:sym typeface="Clear Sans"/>
              </a:rPr>
              <a:t>Thử nghiệm YOLOv8-x, YOLO-NAS hoặc các mô hình anchor-free như RT-DETR để cải thiện kết quả phát hiện trong điều kiện khó.</a:t>
            </a:r>
          </a:p>
          <a:p>
            <a:pPr marL="647700" lvl="1" indent="-323850" algn="l">
              <a:lnSpc>
                <a:spcPts val="4200"/>
              </a:lnSpc>
              <a:buFont typeface="Arial"/>
              <a:buChar char="•"/>
            </a:pPr>
            <a:r>
              <a:rPr lang="en-US" sz="3000">
                <a:solidFill>
                  <a:srgbClr val="14274E"/>
                </a:solidFill>
                <a:latin typeface="Clear Sans"/>
                <a:ea typeface="Clear Sans"/>
                <a:cs typeface="Clear Sans"/>
                <a:sym typeface="Clear Sans"/>
              </a:rPr>
              <a:t>Đưa hệ thống lên camera giám sát thực tế (CCTV, IP cam).</a:t>
            </a:r>
          </a:p>
          <a:p>
            <a:pPr marL="647700" lvl="1" indent="-323850" algn="l">
              <a:lnSpc>
                <a:spcPts val="4200"/>
              </a:lnSpc>
              <a:buFont typeface="Arial"/>
              <a:buChar char="•"/>
            </a:pPr>
            <a:r>
              <a:rPr lang="en-US" sz="3000">
                <a:solidFill>
                  <a:srgbClr val="14274E"/>
                </a:solidFill>
                <a:latin typeface="Clear Sans"/>
                <a:ea typeface="Clear Sans"/>
                <a:cs typeface="Clear Sans"/>
                <a:sym typeface="Clear Sans"/>
              </a:rPr>
              <a:t>Kết nối với server lưu trữ biển số để hỗ trợ an ninh, quản lý xe ra/vào.</a:t>
            </a:r>
          </a:p>
          <a:p>
            <a:pPr marL="647700" lvl="1" indent="-323850" algn="l">
              <a:lnSpc>
                <a:spcPts val="4200"/>
              </a:lnSpc>
              <a:buFont typeface="Arial"/>
              <a:buChar char="•"/>
            </a:pPr>
            <a:r>
              <a:rPr lang="en-US" sz="3000">
                <a:solidFill>
                  <a:srgbClr val="14274E"/>
                </a:solidFill>
                <a:latin typeface="Clear Sans"/>
                <a:ea typeface="Clear Sans"/>
                <a:cs typeface="Clear Sans"/>
                <a:sym typeface="Clear Sans"/>
              </a:rPr>
              <a:t>Thiết kế dashboard hiển thị: số lượng xe, loại xe, biển số, thời gian di chuyển.</a:t>
            </a:r>
          </a:p>
          <a:p>
            <a:pPr marL="647700" lvl="1" indent="-323850" algn="l">
              <a:lnSpc>
                <a:spcPts val="4200"/>
              </a:lnSpc>
              <a:buFont typeface="Arial"/>
              <a:buChar char="•"/>
            </a:pPr>
            <a:r>
              <a:rPr lang="en-US" sz="3000">
                <a:solidFill>
                  <a:srgbClr val="14274E"/>
                </a:solidFill>
                <a:latin typeface="Clear Sans"/>
                <a:ea typeface="Clear Sans"/>
                <a:cs typeface="Clear Sans"/>
                <a:sym typeface="Clear Sans"/>
              </a:rPr>
              <a:t>Xuất kết quả theo thời gian thực hoặc cuối ngày (CSV/Excel).</a:t>
            </a:r>
          </a:p>
          <a:p>
            <a:pPr algn="l">
              <a:lnSpc>
                <a:spcPts val="4759"/>
              </a:lnSpc>
            </a:pPr>
            <a:endParaRPr lang="en-US" sz="3000">
              <a:solidFill>
                <a:srgbClr val="14274E"/>
              </a:solidFill>
              <a:latin typeface="Clear Sans"/>
              <a:ea typeface="Clear Sans"/>
              <a:cs typeface="Clear Sans"/>
              <a:sym typeface="Clear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4274E"/>
        </a:solidFill>
        <a:effectLst/>
      </p:bgPr>
    </p:bg>
    <p:spTree>
      <p:nvGrpSpPr>
        <p:cNvPr id="1" name=""/>
        <p:cNvGrpSpPr/>
        <p:nvPr/>
      </p:nvGrpSpPr>
      <p:grpSpPr>
        <a:xfrm>
          <a:off x="0" y="0"/>
          <a:ext cx="0" cy="0"/>
          <a:chOff x="0" y="0"/>
          <a:chExt cx="0" cy="0"/>
        </a:xfrm>
      </p:grpSpPr>
      <p:sp>
        <p:nvSpPr>
          <p:cNvPr id="2" name="Freeform 2"/>
          <p:cNvSpPr/>
          <p:nvPr/>
        </p:nvSpPr>
        <p:spPr>
          <a:xfrm flipV="1">
            <a:off x="0" y="-57150"/>
            <a:ext cx="6229350" cy="6229350"/>
          </a:xfrm>
          <a:custGeom>
            <a:avLst/>
            <a:gdLst/>
            <a:ahLst/>
            <a:cxnLst/>
            <a:rect l="l" t="t" r="r" b="b"/>
            <a:pathLst>
              <a:path w="6229350" h="6229350">
                <a:moveTo>
                  <a:pt x="0" y="6229350"/>
                </a:moveTo>
                <a:lnTo>
                  <a:pt x="6229350" y="6229350"/>
                </a:lnTo>
                <a:lnTo>
                  <a:pt x="6229350" y="0"/>
                </a:lnTo>
                <a:lnTo>
                  <a:pt x="0" y="0"/>
                </a:lnTo>
                <a:lnTo>
                  <a:pt x="0" y="622935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TextBox 3"/>
          <p:cNvSpPr txBox="1"/>
          <p:nvPr/>
        </p:nvSpPr>
        <p:spPr>
          <a:xfrm>
            <a:off x="3485922" y="3808731"/>
            <a:ext cx="11316156" cy="1830069"/>
          </a:xfrm>
          <a:prstGeom prst="rect">
            <a:avLst/>
          </a:prstGeom>
        </p:spPr>
        <p:txBody>
          <a:bodyPr lIns="0" tIns="0" rIns="0" bIns="0" rtlCol="0" anchor="t">
            <a:spAutoFit/>
          </a:bodyPr>
          <a:lstStyle/>
          <a:p>
            <a:pPr algn="ctr">
              <a:lnSpc>
                <a:spcPts val="12769"/>
              </a:lnSpc>
            </a:pPr>
            <a:r>
              <a:rPr lang="en-US" sz="15962" b="1">
                <a:solidFill>
                  <a:srgbClr val="F1F6F9"/>
                </a:solidFill>
                <a:latin typeface="Clear Sans Bold"/>
                <a:ea typeface="Clear Sans Bold"/>
                <a:cs typeface="Clear Sans Bold"/>
                <a:sym typeface="Clear Sans Bold"/>
              </a:rPr>
              <a:t>THANK YOU</a:t>
            </a:r>
          </a:p>
        </p:txBody>
      </p:sp>
      <p:sp>
        <p:nvSpPr>
          <p:cNvPr id="4" name="Freeform 4"/>
          <p:cNvSpPr/>
          <p:nvPr/>
        </p:nvSpPr>
        <p:spPr>
          <a:xfrm>
            <a:off x="0" y="6172200"/>
            <a:ext cx="4848071" cy="4114800"/>
          </a:xfrm>
          <a:custGeom>
            <a:avLst/>
            <a:gdLst/>
            <a:ahLst/>
            <a:cxnLst/>
            <a:rect l="l" t="t" r="r" b="b"/>
            <a:pathLst>
              <a:path w="4848071" h="4114800">
                <a:moveTo>
                  <a:pt x="0" y="0"/>
                </a:moveTo>
                <a:lnTo>
                  <a:pt x="4848071" y="0"/>
                </a:lnTo>
                <a:lnTo>
                  <a:pt x="4848071" y="4114800"/>
                </a:lnTo>
                <a:lnTo>
                  <a:pt x="0" y="411480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5" name="Freeform 5"/>
          <p:cNvSpPr/>
          <p:nvPr/>
        </p:nvSpPr>
        <p:spPr>
          <a:xfrm flipH="1" flipV="1">
            <a:off x="13439929" y="0"/>
            <a:ext cx="4848071" cy="4114800"/>
          </a:xfrm>
          <a:custGeom>
            <a:avLst/>
            <a:gdLst/>
            <a:ahLst/>
            <a:cxnLst/>
            <a:rect l="l" t="t" r="r" b="b"/>
            <a:pathLst>
              <a:path w="4848071" h="4114800">
                <a:moveTo>
                  <a:pt x="4848071" y="4114800"/>
                </a:moveTo>
                <a:lnTo>
                  <a:pt x="0" y="4114800"/>
                </a:lnTo>
                <a:lnTo>
                  <a:pt x="0" y="0"/>
                </a:lnTo>
                <a:lnTo>
                  <a:pt x="4848071" y="0"/>
                </a:lnTo>
                <a:lnTo>
                  <a:pt x="4848071" y="411480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6" name="Freeform 6"/>
          <p:cNvSpPr/>
          <p:nvPr/>
        </p:nvSpPr>
        <p:spPr>
          <a:xfrm flipH="1">
            <a:off x="12058650" y="4143375"/>
            <a:ext cx="6229350" cy="6229350"/>
          </a:xfrm>
          <a:custGeom>
            <a:avLst/>
            <a:gdLst/>
            <a:ahLst/>
            <a:cxnLst/>
            <a:rect l="l" t="t" r="r" b="b"/>
            <a:pathLst>
              <a:path w="6229350" h="6229350">
                <a:moveTo>
                  <a:pt x="6229350" y="0"/>
                </a:moveTo>
                <a:lnTo>
                  <a:pt x="0" y="0"/>
                </a:lnTo>
                <a:lnTo>
                  <a:pt x="0" y="6229350"/>
                </a:lnTo>
                <a:lnTo>
                  <a:pt x="6229350" y="6229350"/>
                </a:lnTo>
                <a:lnTo>
                  <a:pt x="622935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1170</Words>
  <Application>Microsoft Office PowerPoint</Application>
  <PresentationFormat>Custom</PresentationFormat>
  <Paragraphs>104</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Calibri</vt:lpstr>
      <vt:lpstr>Clear Sans Bold</vt:lpstr>
      <vt:lpstr>Arial</vt:lpstr>
      <vt:lpstr>Clear Sans</vt:lpstr>
      <vt:lpstr>Open Sans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MÔN XỬ LÝ ẢNH SỐ</dc:title>
  <cp:lastModifiedBy>nguyentiu259@gmail.com</cp:lastModifiedBy>
  <cp:revision>2</cp:revision>
  <dcterms:created xsi:type="dcterms:W3CDTF">2006-08-16T00:00:00Z</dcterms:created>
  <dcterms:modified xsi:type="dcterms:W3CDTF">2025-08-03T01:27:34Z</dcterms:modified>
  <dc:identifier>DAGuXdswBHE</dc:identifier>
</cp:coreProperties>
</file>
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Clear Sans" panose="020B0604020202020204" charset="0"/>
      <p:regular r:id="rId18"/>
    </p:embeddedFont>
    <p:embeddedFont>
      <p:font typeface="Clear Sans Bold" panose="020B0604020202020204" charset="0"/>
      <p:regular r:id="rId19"/>
    </p:embeddedFont>
    <p:embeddedFont>
      <p:font typeface="Open Sans" panose="020B0606030504020204" pitchFamily="3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6144" autoAdjust="0"/>
  </p:normalViewPr>
  <p:slideViewPr>
    <p:cSldViewPr>
      <p:cViewPr>
        <p:scale>
          <a:sx n="50" d="100"/>
          <a:sy n="50" d="100"/>
        </p:scale>
        <p:origin x="946"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7.sv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74E"/>
        </a:solidFill>
        <a:effectLst/>
      </p:bgPr>
    </p:bg>
    <p:spTree>
      <p:nvGrpSpPr>
        <p:cNvPr id="1" name=""/>
        <p:cNvGrpSpPr/>
        <p:nvPr/>
      </p:nvGrpSpPr>
      <p:grpSpPr>
        <a:xfrm>
          <a:off x="0" y="0"/>
          <a:ext cx="0" cy="0"/>
          <a:chOff x="0" y="0"/>
          <a:chExt cx="0" cy="0"/>
        </a:xfrm>
      </p:grpSpPr>
      <p:sp>
        <p:nvSpPr>
          <p:cNvPr id="2" name="Freeform 2"/>
          <p:cNvSpPr/>
          <p:nvPr/>
        </p:nvSpPr>
        <p:spPr>
          <a:xfrm>
            <a:off x="0" y="-343"/>
            <a:ext cx="1538409" cy="1603701"/>
          </a:xfrm>
          <a:custGeom>
            <a:avLst/>
            <a:gdLst/>
            <a:ahLst/>
            <a:cxnLst/>
            <a:rect l="l" t="t" r="r" b="b"/>
            <a:pathLst>
              <a:path w="1538409" h="1603701">
                <a:moveTo>
                  <a:pt x="0" y="0"/>
                </a:moveTo>
                <a:lnTo>
                  <a:pt x="1538409" y="0"/>
                </a:lnTo>
                <a:lnTo>
                  <a:pt x="1538409" y="1603700"/>
                </a:lnTo>
                <a:lnTo>
                  <a:pt x="0" y="1603700"/>
                </a:lnTo>
                <a:lnTo>
                  <a:pt x="0" y="0"/>
                </a:lnTo>
                <a:close/>
              </a:path>
            </a:pathLst>
          </a:custGeom>
          <a:blipFill>
            <a:blip r:embed="rId2"/>
            <a:stretch>
              <a:fillRect r="-10403"/>
            </a:stretch>
          </a:blipFill>
        </p:spPr>
        <p:txBody>
          <a:bodyPr/>
          <a:lstStyle/>
          <a:p>
            <a:endParaRPr lang="en-US"/>
          </a:p>
        </p:txBody>
      </p:sp>
      <p:sp>
        <p:nvSpPr>
          <p:cNvPr id="3" name="TextBox 3"/>
          <p:cNvSpPr txBox="1"/>
          <p:nvPr/>
        </p:nvSpPr>
        <p:spPr>
          <a:xfrm>
            <a:off x="2677982" y="359506"/>
            <a:ext cx="12124096" cy="484395"/>
          </a:xfrm>
          <a:prstGeom prst="rect">
            <a:avLst/>
          </a:prstGeom>
        </p:spPr>
        <p:txBody>
          <a:bodyPr lIns="0" tIns="0" rIns="0" bIns="0" rtlCol="0" anchor="t">
            <a:spAutoFit/>
          </a:bodyPr>
          <a:lstStyle/>
          <a:p>
            <a:pPr algn="ctr">
              <a:lnSpc>
                <a:spcPts val="3428"/>
              </a:lnSpc>
            </a:pPr>
            <a:r>
              <a:rPr lang="en-US" sz="4285" b="1">
                <a:solidFill>
                  <a:srgbClr val="F1F6F9"/>
                </a:solidFill>
                <a:latin typeface="Clear Sans Bold"/>
                <a:ea typeface="Clear Sans Bold"/>
                <a:cs typeface="Clear Sans Bold"/>
                <a:sym typeface="Clear Sans Bold"/>
              </a:rPr>
              <a:t>NHẬP MÔN XỬ LÝ ẢNH SỐ</a:t>
            </a:r>
          </a:p>
        </p:txBody>
      </p:sp>
      <p:sp>
        <p:nvSpPr>
          <p:cNvPr id="4" name="TextBox 4"/>
          <p:cNvSpPr txBox="1"/>
          <p:nvPr/>
        </p:nvSpPr>
        <p:spPr>
          <a:xfrm>
            <a:off x="3877369" y="9447449"/>
            <a:ext cx="9000619" cy="679450"/>
          </a:xfrm>
          <a:prstGeom prst="rect">
            <a:avLst/>
          </a:prstGeom>
        </p:spPr>
        <p:txBody>
          <a:bodyPr lIns="0" tIns="0" rIns="0" bIns="0" rtlCol="0" anchor="t">
            <a:spAutoFit/>
          </a:bodyPr>
          <a:lstStyle/>
          <a:p>
            <a:pPr algn="ctr">
              <a:lnSpc>
                <a:spcPts val="5599"/>
              </a:lnSpc>
            </a:pPr>
            <a:r>
              <a:rPr lang="en-US" sz="3999">
                <a:solidFill>
                  <a:srgbClr val="F1F6F9"/>
                </a:solidFill>
                <a:latin typeface="Clear Sans"/>
                <a:ea typeface="Clear Sans"/>
                <a:cs typeface="Clear Sans"/>
                <a:sym typeface="Clear Sans"/>
              </a:rPr>
              <a:t>By: Nhóm 20</a:t>
            </a:r>
          </a:p>
        </p:txBody>
      </p:sp>
      <p:sp>
        <p:nvSpPr>
          <p:cNvPr id="5" name="TextBox 5"/>
          <p:cNvSpPr txBox="1"/>
          <p:nvPr/>
        </p:nvSpPr>
        <p:spPr>
          <a:xfrm>
            <a:off x="1672165" y="7221186"/>
            <a:ext cx="6198039" cy="450850"/>
          </a:xfrm>
          <a:prstGeom prst="rect">
            <a:avLst/>
          </a:prstGeom>
        </p:spPr>
        <p:txBody>
          <a:bodyPr lIns="0" tIns="0" rIns="0" bIns="0" rtlCol="0" anchor="t">
            <a:spAutoFit/>
          </a:bodyPr>
          <a:lstStyle/>
          <a:p>
            <a:pPr algn="r">
              <a:lnSpc>
                <a:spcPts val="3199"/>
              </a:lnSpc>
            </a:pPr>
            <a:r>
              <a:rPr lang="en-US" sz="3999" b="1">
                <a:solidFill>
                  <a:srgbClr val="F1F6F9"/>
                </a:solidFill>
                <a:latin typeface="Clear Sans Bold"/>
                <a:ea typeface="Clear Sans Bold"/>
                <a:cs typeface="Clear Sans Bold"/>
                <a:sym typeface="Clear Sans Bold"/>
              </a:rPr>
              <a:t>GVHD: TS.ĐỖ HỮU QUÂN</a:t>
            </a:r>
          </a:p>
        </p:txBody>
      </p:sp>
      <p:sp>
        <p:nvSpPr>
          <p:cNvPr id="6" name="TextBox 6"/>
          <p:cNvSpPr txBox="1"/>
          <p:nvPr/>
        </p:nvSpPr>
        <p:spPr>
          <a:xfrm>
            <a:off x="1672165" y="3241657"/>
            <a:ext cx="1649282" cy="450850"/>
          </a:xfrm>
          <a:prstGeom prst="rect">
            <a:avLst/>
          </a:prstGeom>
        </p:spPr>
        <p:txBody>
          <a:bodyPr lIns="0" tIns="0" rIns="0" bIns="0" rtlCol="0" anchor="t">
            <a:spAutoFit/>
          </a:bodyPr>
          <a:lstStyle/>
          <a:p>
            <a:pPr algn="r">
              <a:lnSpc>
                <a:spcPts val="3199"/>
              </a:lnSpc>
            </a:pPr>
            <a:r>
              <a:rPr lang="en-US" sz="3999" b="1">
                <a:solidFill>
                  <a:srgbClr val="F1F6F9"/>
                </a:solidFill>
                <a:latin typeface="Clear Sans Bold"/>
                <a:ea typeface="Clear Sans Bold"/>
                <a:cs typeface="Clear Sans Bold"/>
                <a:sym typeface="Clear Sans Bold"/>
              </a:rPr>
              <a:t>SVTH:</a:t>
            </a:r>
          </a:p>
        </p:txBody>
      </p:sp>
      <p:sp>
        <p:nvSpPr>
          <p:cNvPr id="7" name="TextBox 7"/>
          <p:cNvSpPr txBox="1"/>
          <p:nvPr/>
        </p:nvSpPr>
        <p:spPr>
          <a:xfrm>
            <a:off x="3877368" y="3959207"/>
            <a:ext cx="11210232" cy="3613297"/>
          </a:xfrm>
          <a:prstGeom prst="rect">
            <a:avLst/>
          </a:prstGeom>
        </p:spPr>
        <p:txBody>
          <a:bodyPr wrap="square" lIns="0" tIns="0" rIns="0" bIns="0" rtlCol="0" anchor="t">
            <a:spAutoFit/>
          </a:bodyPr>
          <a:lstStyle/>
          <a:p>
            <a:pPr>
              <a:lnSpc>
                <a:spcPts val="3199"/>
              </a:lnSpc>
              <a:spcBef>
                <a:spcPts val="3000"/>
              </a:spcBef>
            </a:pPr>
            <a:r>
              <a:rPr lang="en-US" sz="3999" dirty="0">
                <a:solidFill>
                  <a:srgbClr val="F1F6F9"/>
                </a:solidFill>
                <a:latin typeface="Clear Sans"/>
                <a:ea typeface="Clear Sans"/>
                <a:cs typeface="Clear Sans"/>
                <a:sym typeface="Clear Sans"/>
              </a:rPr>
              <a:t>NGUYỄN HUỲNH ANH TÚ – 2374802010536</a:t>
            </a:r>
          </a:p>
          <a:p>
            <a:pPr>
              <a:lnSpc>
                <a:spcPts val="3199"/>
              </a:lnSpc>
              <a:spcBef>
                <a:spcPts val="3000"/>
              </a:spcBef>
            </a:pPr>
            <a:r>
              <a:rPr lang="en-US" sz="3999" dirty="0">
                <a:solidFill>
                  <a:srgbClr val="F1F6F9"/>
                </a:solidFill>
                <a:latin typeface="Clear Sans"/>
                <a:ea typeface="Clear Sans"/>
                <a:cs typeface="Clear Sans"/>
                <a:sym typeface="Clear Sans"/>
              </a:rPr>
              <a:t>LÊ HOÀNG </a:t>
            </a:r>
            <a:r>
              <a:rPr lang="en-US" sz="3999" dirty="0" err="1">
                <a:solidFill>
                  <a:srgbClr val="F1F6F9"/>
                </a:solidFill>
                <a:latin typeface="Clear Sans"/>
                <a:ea typeface="Clear Sans"/>
                <a:cs typeface="Clear Sans"/>
                <a:sym typeface="Clear Sans"/>
              </a:rPr>
              <a:t>HIỆP</a:t>
            </a:r>
            <a:r>
              <a:rPr lang="en-US" sz="3999" dirty="0">
                <a:solidFill>
                  <a:srgbClr val="F1F6F9"/>
                </a:solidFill>
                <a:latin typeface="Clear Sans"/>
                <a:ea typeface="Clear Sans"/>
                <a:cs typeface="Clear Sans"/>
                <a:sym typeface="Clear Sans"/>
              </a:rPr>
              <a:t> – 2374802010139</a:t>
            </a:r>
          </a:p>
          <a:p>
            <a:pPr>
              <a:lnSpc>
                <a:spcPts val="3199"/>
              </a:lnSpc>
              <a:spcBef>
                <a:spcPts val="3000"/>
              </a:spcBef>
            </a:pPr>
            <a:r>
              <a:rPr lang="en-US" sz="3999" dirty="0">
                <a:solidFill>
                  <a:srgbClr val="F1F6F9"/>
                </a:solidFill>
                <a:latin typeface="Clear Sans"/>
                <a:ea typeface="Clear Sans"/>
                <a:cs typeface="Clear Sans"/>
                <a:sym typeface="Clear Sans"/>
              </a:rPr>
              <a:t>NGUYỄN XUÂN CÔNG SƠN – 2374802013440</a:t>
            </a:r>
          </a:p>
          <a:p>
            <a:pPr>
              <a:lnSpc>
                <a:spcPts val="3199"/>
              </a:lnSpc>
              <a:spcBef>
                <a:spcPts val="3000"/>
              </a:spcBef>
            </a:pPr>
            <a:r>
              <a:rPr lang="en-US" sz="3999" dirty="0">
                <a:solidFill>
                  <a:srgbClr val="F1F6F9"/>
                </a:solidFill>
                <a:latin typeface="Clear Sans"/>
                <a:ea typeface="Clear Sans"/>
                <a:cs typeface="Clear Sans"/>
                <a:sym typeface="Clear Sans"/>
              </a:rPr>
              <a:t>NGUYỄN PHƯỚC THÀNH - 2374802013578</a:t>
            </a:r>
          </a:p>
          <a:p>
            <a:pPr>
              <a:lnSpc>
                <a:spcPts val="3199"/>
              </a:lnSpc>
              <a:spcBef>
                <a:spcPts val="3000"/>
              </a:spcBef>
            </a:pPr>
            <a:endParaRPr lang="en-US" sz="3999" dirty="0">
              <a:solidFill>
                <a:srgbClr val="F1F6F9"/>
              </a:solidFill>
              <a:latin typeface="Clear Sans"/>
              <a:ea typeface="Clear Sans"/>
              <a:cs typeface="Clear Sans"/>
              <a:sym typeface="Clear Sans"/>
            </a:endParaRPr>
          </a:p>
        </p:txBody>
      </p:sp>
      <p:sp>
        <p:nvSpPr>
          <p:cNvPr id="11" name="TextBox 11"/>
          <p:cNvSpPr txBox="1"/>
          <p:nvPr/>
        </p:nvSpPr>
        <p:spPr>
          <a:xfrm>
            <a:off x="9304865" y="7221186"/>
            <a:ext cx="8237937" cy="450850"/>
          </a:xfrm>
          <a:prstGeom prst="rect">
            <a:avLst/>
          </a:prstGeom>
        </p:spPr>
        <p:txBody>
          <a:bodyPr lIns="0" tIns="0" rIns="0" bIns="0" rtlCol="0" anchor="t">
            <a:spAutoFit/>
          </a:bodyPr>
          <a:lstStyle/>
          <a:p>
            <a:pPr algn="r">
              <a:lnSpc>
                <a:spcPts val="3199"/>
              </a:lnSpc>
            </a:pPr>
            <a:r>
              <a:rPr lang="en-US" sz="3999" b="1">
                <a:solidFill>
                  <a:srgbClr val="F1F6F9"/>
                </a:solidFill>
                <a:latin typeface="Clear Sans Bold"/>
                <a:ea typeface="Clear Sans Bold"/>
                <a:cs typeface="Clear Sans Bold"/>
                <a:sym typeface="Clear Sans Bold"/>
              </a:rPr>
              <a:t>NGÀNH: CÔNG NGHỆ THÔNG TIN</a:t>
            </a:r>
          </a:p>
        </p:txBody>
      </p:sp>
      <p:sp>
        <p:nvSpPr>
          <p:cNvPr id="12" name="TextBox 12"/>
          <p:cNvSpPr txBox="1"/>
          <p:nvPr/>
        </p:nvSpPr>
        <p:spPr>
          <a:xfrm>
            <a:off x="1672165" y="877264"/>
            <a:ext cx="14943669" cy="1526193"/>
          </a:xfrm>
          <a:prstGeom prst="rect">
            <a:avLst/>
          </a:prstGeom>
        </p:spPr>
        <p:txBody>
          <a:bodyPr lIns="0" tIns="0" rIns="0" bIns="0" rtlCol="0" anchor="t">
            <a:spAutoFit/>
          </a:bodyPr>
          <a:lstStyle/>
          <a:p>
            <a:pPr algn="ctr">
              <a:lnSpc>
                <a:spcPts val="6179"/>
              </a:lnSpc>
            </a:pPr>
            <a:r>
              <a:rPr lang="en-US" sz="4413" b="1" dirty="0" err="1">
                <a:solidFill>
                  <a:srgbClr val="F1F6F9"/>
                </a:solidFill>
                <a:latin typeface="Clear Sans Bold"/>
                <a:ea typeface="Clear Sans Bold"/>
                <a:cs typeface="Clear Sans Bold"/>
                <a:sym typeface="Clear Sans Bold"/>
              </a:rPr>
              <a:t>TÊN</a:t>
            </a:r>
            <a:r>
              <a:rPr lang="en-US" sz="4413" b="1" dirty="0">
                <a:solidFill>
                  <a:srgbClr val="F1F6F9"/>
                </a:solidFill>
                <a:latin typeface="Clear Sans Bold"/>
                <a:ea typeface="Clear Sans Bold"/>
                <a:cs typeface="Clear Sans Bold"/>
                <a:sym typeface="Clear Sans Bold"/>
              </a:rPr>
              <a:t> </a:t>
            </a:r>
            <a:r>
              <a:rPr lang="en-US" sz="4413" b="1" dirty="0" err="1">
                <a:solidFill>
                  <a:srgbClr val="F1F6F9"/>
                </a:solidFill>
                <a:latin typeface="Clear Sans Bold"/>
                <a:ea typeface="Clear Sans Bold"/>
                <a:cs typeface="Clear Sans Bold"/>
                <a:sym typeface="Clear Sans Bold"/>
              </a:rPr>
              <a:t>ĐỀ</a:t>
            </a:r>
            <a:r>
              <a:rPr lang="en-US" sz="4413" b="1" dirty="0">
                <a:solidFill>
                  <a:srgbClr val="F1F6F9"/>
                </a:solidFill>
                <a:latin typeface="Clear Sans Bold"/>
                <a:ea typeface="Clear Sans Bold"/>
                <a:cs typeface="Clear Sans Bold"/>
                <a:sym typeface="Clear Sans Bold"/>
              </a:rPr>
              <a:t> TÀI: </a:t>
            </a:r>
            <a:r>
              <a:rPr lang="en-US" sz="4413" b="1" dirty="0" err="1">
                <a:solidFill>
                  <a:srgbClr val="F1F6F9"/>
                </a:solidFill>
                <a:latin typeface="Clear Sans Bold"/>
                <a:ea typeface="Clear Sans Bold"/>
                <a:cs typeface="Clear Sans Bold"/>
                <a:sym typeface="Clear Sans Bold"/>
              </a:rPr>
              <a:t>PHÁT</a:t>
            </a:r>
            <a:r>
              <a:rPr lang="en-US" sz="4413" b="1" dirty="0">
                <a:solidFill>
                  <a:srgbClr val="F1F6F9"/>
                </a:solidFill>
                <a:latin typeface="Clear Sans Bold"/>
                <a:ea typeface="Clear Sans Bold"/>
                <a:cs typeface="Clear Sans Bold"/>
                <a:sym typeface="Clear Sans Bold"/>
              </a:rPr>
              <a:t> </a:t>
            </a:r>
            <a:r>
              <a:rPr lang="en-US" sz="4413" b="1" dirty="0" err="1">
                <a:solidFill>
                  <a:srgbClr val="F1F6F9"/>
                </a:solidFill>
                <a:latin typeface="Clear Sans Bold"/>
                <a:ea typeface="Clear Sans Bold"/>
                <a:cs typeface="Clear Sans Bold"/>
                <a:sym typeface="Clear Sans Bold"/>
              </a:rPr>
              <a:t>HIỆN</a:t>
            </a:r>
            <a:r>
              <a:rPr lang="en-US" sz="4413" b="1" dirty="0">
                <a:solidFill>
                  <a:srgbClr val="F1F6F9"/>
                </a:solidFill>
                <a:latin typeface="Clear Sans Bold"/>
                <a:ea typeface="Clear Sans Bold"/>
                <a:cs typeface="Clear Sans Bold"/>
                <a:sym typeface="Clear Sans Bold"/>
              </a:rPr>
              <a:t> </a:t>
            </a:r>
            <a:r>
              <a:rPr lang="en-US" sz="4413" b="1" dirty="0" err="1">
                <a:solidFill>
                  <a:srgbClr val="F1F6F9"/>
                </a:solidFill>
                <a:latin typeface="Clear Sans Bold"/>
                <a:ea typeface="Clear Sans Bold"/>
                <a:cs typeface="Clear Sans Bold"/>
                <a:sym typeface="Clear Sans Bold"/>
              </a:rPr>
              <a:t>VÀ</a:t>
            </a:r>
            <a:r>
              <a:rPr lang="en-US" sz="4413" b="1" dirty="0">
                <a:solidFill>
                  <a:srgbClr val="F1F6F9"/>
                </a:solidFill>
                <a:latin typeface="Clear Sans Bold"/>
                <a:ea typeface="Clear Sans Bold"/>
                <a:cs typeface="Clear Sans Bold"/>
                <a:sym typeface="Clear Sans Bold"/>
              </a:rPr>
              <a:t> </a:t>
            </a:r>
            <a:r>
              <a:rPr lang="en-US" sz="4413" b="1" dirty="0" err="1">
                <a:solidFill>
                  <a:srgbClr val="F1F6F9"/>
                </a:solidFill>
                <a:latin typeface="Clear Sans Bold"/>
                <a:ea typeface="Clear Sans Bold"/>
                <a:cs typeface="Clear Sans Bold"/>
                <a:sym typeface="Clear Sans Bold"/>
              </a:rPr>
              <a:t>ĐẾM</a:t>
            </a:r>
            <a:r>
              <a:rPr lang="en-US" sz="4413" b="1" dirty="0">
                <a:solidFill>
                  <a:srgbClr val="F1F6F9"/>
                </a:solidFill>
                <a:latin typeface="Clear Sans Bold"/>
                <a:ea typeface="Clear Sans Bold"/>
                <a:cs typeface="Clear Sans Bold"/>
                <a:sym typeface="Clear Sans Bold"/>
              </a:rPr>
              <a:t> </a:t>
            </a:r>
            <a:r>
              <a:rPr lang="en-US" sz="4413" b="1" dirty="0" err="1">
                <a:solidFill>
                  <a:srgbClr val="F1F6F9"/>
                </a:solidFill>
                <a:latin typeface="Clear Sans Bold"/>
                <a:ea typeface="Clear Sans Bold"/>
                <a:cs typeface="Clear Sans Bold"/>
                <a:sym typeface="Clear Sans Bold"/>
              </a:rPr>
              <a:t>SỐ</a:t>
            </a:r>
            <a:r>
              <a:rPr lang="en-US" sz="4413" b="1" dirty="0">
                <a:solidFill>
                  <a:srgbClr val="F1F6F9"/>
                </a:solidFill>
                <a:latin typeface="Clear Sans Bold"/>
                <a:ea typeface="Clear Sans Bold"/>
                <a:cs typeface="Clear Sans Bold"/>
                <a:sym typeface="Clear Sans Bold"/>
              </a:rPr>
              <a:t> </a:t>
            </a:r>
            <a:r>
              <a:rPr lang="en-US" sz="4413" b="1" dirty="0" err="1">
                <a:solidFill>
                  <a:srgbClr val="F1F6F9"/>
                </a:solidFill>
                <a:latin typeface="Clear Sans Bold"/>
                <a:ea typeface="Clear Sans Bold"/>
                <a:cs typeface="Clear Sans Bold"/>
                <a:sym typeface="Clear Sans Bold"/>
              </a:rPr>
              <a:t>LƯỢNG</a:t>
            </a:r>
            <a:r>
              <a:rPr lang="en-US" sz="4413" b="1" dirty="0">
                <a:solidFill>
                  <a:srgbClr val="F1F6F9"/>
                </a:solidFill>
                <a:latin typeface="Clear Sans Bold"/>
                <a:ea typeface="Clear Sans Bold"/>
                <a:cs typeface="Clear Sans Bold"/>
                <a:sym typeface="Clear Sans Bold"/>
              </a:rPr>
              <a:t> </a:t>
            </a:r>
            <a:r>
              <a:rPr lang="en-US" sz="4413" b="1" dirty="0" err="1">
                <a:solidFill>
                  <a:srgbClr val="F1F6F9"/>
                </a:solidFill>
                <a:latin typeface="Clear Sans Bold"/>
                <a:ea typeface="Clear Sans Bold"/>
                <a:cs typeface="Clear Sans Bold"/>
                <a:sym typeface="Clear Sans Bold"/>
              </a:rPr>
              <a:t>ĐỐI</a:t>
            </a:r>
            <a:r>
              <a:rPr lang="en-US" sz="4413" b="1" dirty="0">
                <a:solidFill>
                  <a:srgbClr val="F1F6F9"/>
                </a:solidFill>
                <a:latin typeface="Clear Sans Bold"/>
                <a:ea typeface="Clear Sans Bold"/>
                <a:cs typeface="Clear Sans Bold"/>
                <a:sym typeface="Clear Sans Bold"/>
              </a:rPr>
              <a:t> </a:t>
            </a:r>
            <a:r>
              <a:rPr lang="en-US" sz="4413" b="1" dirty="0" err="1">
                <a:solidFill>
                  <a:srgbClr val="F1F6F9"/>
                </a:solidFill>
                <a:latin typeface="Clear Sans Bold"/>
                <a:ea typeface="Clear Sans Bold"/>
                <a:cs typeface="Clear Sans Bold"/>
                <a:sym typeface="Clear Sans Bold"/>
              </a:rPr>
              <a:t>TƯỢNG</a:t>
            </a:r>
            <a:r>
              <a:rPr lang="en-US" sz="4413" b="1" dirty="0">
                <a:solidFill>
                  <a:srgbClr val="F1F6F9"/>
                </a:solidFill>
                <a:latin typeface="Clear Sans Bold"/>
                <a:ea typeface="Clear Sans Bold"/>
                <a:cs typeface="Clear Sans Bold"/>
                <a:sym typeface="Clear Sans Bold"/>
              </a:rPr>
              <a:t> TRONG </a:t>
            </a:r>
            <a:r>
              <a:rPr lang="en-US" sz="4413" b="1" dirty="0" err="1">
                <a:solidFill>
                  <a:srgbClr val="F1F6F9"/>
                </a:solidFill>
                <a:latin typeface="Clear Sans Bold"/>
                <a:ea typeface="Clear Sans Bold"/>
                <a:cs typeface="Clear Sans Bold"/>
                <a:sym typeface="Clear Sans Bold"/>
              </a:rPr>
              <a:t>ẢNH</a:t>
            </a:r>
            <a:r>
              <a:rPr lang="en-US" sz="4413" b="1" dirty="0">
                <a:solidFill>
                  <a:srgbClr val="F1F6F9"/>
                </a:solidFill>
                <a:latin typeface="Clear Sans Bold"/>
                <a:ea typeface="Clear Sans Bold"/>
                <a:cs typeface="Clear Sans Bold"/>
                <a:sym typeface="Clear Sans Bold"/>
              </a:rPr>
              <a:t> (</a:t>
            </a:r>
            <a:r>
              <a:rPr lang="en-US" sz="4413" b="1" dirty="0" err="1">
                <a:solidFill>
                  <a:srgbClr val="F1F6F9"/>
                </a:solidFill>
                <a:latin typeface="Clear Sans Bold"/>
                <a:ea typeface="Clear Sans Bold"/>
                <a:cs typeface="Clear Sans Bold"/>
                <a:sym typeface="Clear Sans Bold"/>
              </a:rPr>
              <a:t>NGƯỜI</a:t>
            </a:r>
            <a:r>
              <a:rPr lang="en-US" sz="4413" b="1" dirty="0">
                <a:solidFill>
                  <a:srgbClr val="F1F6F9"/>
                </a:solidFill>
                <a:latin typeface="Clear Sans Bold"/>
                <a:ea typeface="Clear Sans Bold"/>
                <a:cs typeface="Clear Sans Bold"/>
                <a:sym typeface="Clear Sans Bold"/>
              </a:rPr>
              <a:t>, XE, </a:t>
            </a:r>
            <a:r>
              <a:rPr lang="en-US" sz="4413" b="1" dirty="0" err="1">
                <a:solidFill>
                  <a:srgbClr val="F1F6F9"/>
                </a:solidFill>
                <a:latin typeface="Clear Sans Bold"/>
                <a:ea typeface="Clear Sans Bold"/>
                <a:cs typeface="Clear Sans Bold"/>
                <a:sym typeface="Clear Sans Bold"/>
              </a:rPr>
              <a:t>VẬT</a:t>
            </a:r>
            <a:r>
              <a:rPr lang="en-US" sz="4413" b="1" dirty="0">
                <a:solidFill>
                  <a:srgbClr val="F1F6F9"/>
                </a:solidFill>
                <a:latin typeface="Clear Sans Bold"/>
                <a:ea typeface="Clear Sans Bold"/>
                <a:cs typeface="Clear Sans Bold"/>
                <a:sym typeface="Clear Sans Bold"/>
              </a:rPr>
              <a:t> </a:t>
            </a:r>
            <a:r>
              <a:rPr lang="en-US" sz="4413" b="1" dirty="0" err="1">
                <a:solidFill>
                  <a:srgbClr val="F1F6F9"/>
                </a:solidFill>
                <a:latin typeface="Clear Sans Bold"/>
                <a:ea typeface="Clear Sans Bold"/>
                <a:cs typeface="Clear Sans Bold"/>
                <a:sym typeface="Clear Sans Bold"/>
              </a:rPr>
              <a:t>THỂ</a:t>
            </a:r>
            <a:r>
              <a:rPr lang="en-US" sz="4413" b="1" dirty="0">
                <a:solidFill>
                  <a:srgbClr val="F1F6F9"/>
                </a:solidFill>
                <a:latin typeface="Clear Sans Bold"/>
                <a:ea typeface="Clear Sans Bold"/>
                <a:cs typeface="Clear Sans Bold"/>
                <a:sym typeface="Clear Sans Bold"/>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274E"/>
        </a:solidFill>
        <a:effectLst/>
      </p:bgPr>
    </p:bg>
    <p:spTree>
      <p:nvGrpSpPr>
        <p:cNvPr id="1" name=""/>
        <p:cNvGrpSpPr/>
        <p:nvPr/>
      </p:nvGrpSpPr>
      <p:grpSpPr>
        <a:xfrm>
          <a:off x="0" y="0"/>
          <a:ext cx="0" cy="0"/>
          <a:chOff x="0" y="0"/>
          <a:chExt cx="0" cy="0"/>
        </a:xfrm>
      </p:grpSpPr>
      <p:sp>
        <p:nvSpPr>
          <p:cNvPr id="2" name="Freeform 2"/>
          <p:cNvSpPr/>
          <p:nvPr/>
        </p:nvSpPr>
        <p:spPr>
          <a:xfrm>
            <a:off x="0" y="622935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flipV="1">
            <a:off x="14173200" y="-5715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028700" y="1219719"/>
            <a:ext cx="16230600" cy="8190981"/>
            <a:chOff x="0" y="0"/>
            <a:chExt cx="4274726" cy="2157295"/>
          </a:xfrm>
        </p:grpSpPr>
        <p:sp>
          <p:nvSpPr>
            <p:cNvPr id="5" name="Freeform 5"/>
            <p:cNvSpPr/>
            <p:nvPr/>
          </p:nvSpPr>
          <p:spPr>
            <a:xfrm>
              <a:off x="0" y="0"/>
              <a:ext cx="4274726" cy="2157295"/>
            </a:xfrm>
            <a:custGeom>
              <a:avLst/>
              <a:gdLst/>
              <a:ahLst/>
              <a:cxnLst/>
              <a:rect l="l" t="t" r="r" b="b"/>
              <a:pathLst>
                <a:path w="4274726" h="2157295">
                  <a:moveTo>
                    <a:pt x="24327" y="0"/>
                  </a:moveTo>
                  <a:lnTo>
                    <a:pt x="4250399" y="0"/>
                  </a:lnTo>
                  <a:cubicBezTo>
                    <a:pt x="4263834" y="0"/>
                    <a:pt x="4274726" y="10891"/>
                    <a:pt x="4274726" y="24327"/>
                  </a:cubicBezTo>
                  <a:lnTo>
                    <a:pt x="4274726" y="2132968"/>
                  </a:lnTo>
                  <a:cubicBezTo>
                    <a:pt x="4274726" y="2146404"/>
                    <a:pt x="4263834" y="2157295"/>
                    <a:pt x="4250399" y="2157295"/>
                  </a:cubicBezTo>
                  <a:lnTo>
                    <a:pt x="24327" y="2157295"/>
                  </a:lnTo>
                  <a:cubicBezTo>
                    <a:pt x="17875" y="2157295"/>
                    <a:pt x="11687" y="2154732"/>
                    <a:pt x="7125" y="2150170"/>
                  </a:cubicBezTo>
                  <a:cubicBezTo>
                    <a:pt x="2563" y="2145608"/>
                    <a:pt x="0" y="2139420"/>
                    <a:pt x="0" y="2132968"/>
                  </a:cubicBezTo>
                  <a:lnTo>
                    <a:pt x="0" y="24327"/>
                  </a:lnTo>
                  <a:cubicBezTo>
                    <a:pt x="0" y="10891"/>
                    <a:pt x="10891" y="0"/>
                    <a:pt x="24327" y="0"/>
                  </a:cubicBezTo>
                  <a:close/>
                </a:path>
              </a:pathLst>
            </a:custGeom>
            <a:solidFill>
              <a:srgbClr val="F1F6F9"/>
            </a:solidFill>
            <a:ln w="133350" cap="rnd">
              <a:solidFill>
                <a:srgbClr val="394867"/>
              </a:solidFill>
              <a:prstDash val="solid"/>
              <a:round/>
            </a:ln>
          </p:spPr>
          <p:txBody>
            <a:bodyPr/>
            <a:lstStyle/>
            <a:p>
              <a:endParaRPr lang="en-US"/>
            </a:p>
          </p:txBody>
        </p:sp>
        <p:sp>
          <p:nvSpPr>
            <p:cNvPr id="6" name="TextBox 6"/>
            <p:cNvSpPr txBox="1"/>
            <p:nvPr/>
          </p:nvSpPr>
          <p:spPr>
            <a:xfrm>
              <a:off x="0" y="-38100"/>
              <a:ext cx="4274726" cy="2195395"/>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4038600" y="1842962"/>
            <a:ext cx="8414221" cy="955674"/>
          </a:xfrm>
          <a:prstGeom prst="rect">
            <a:avLst/>
          </a:prstGeom>
        </p:spPr>
        <p:txBody>
          <a:bodyPr wrap="square" lIns="0" tIns="0" rIns="0" bIns="0" rtlCol="0" anchor="t">
            <a:spAutoFit/>
          </a:bodyPr>
          <a:lstStyle/>
          <a:p>
            <a:pPr algn="just">
              <a:lnSpc>
                <a:spcPts val="6799"/>
              </a:lnSpc>
            </a:pPr>
            <a:r>
              <a:rPr lang="en-US" sz="8499" b="1" dirty="0" err="1">
                <a:solidFill>
                  <a:srgbClr val="14274E"/>
                </a:solidFill>
                <a:latin typeface="Clear Sans Bold"/>
                <a:ea typeface="Clear Sans Bold"/>
                <a:cs typeface="Clear Sans Bold"/>
                <a:sym typeface="Clear Sans Bold"/>
              </a:rPr>
              <a:t>Giới</a:t>
            </a:r>
            <a:r>
              <a:rPr lang="en-US" sz="8499" b="1" dirty="0">
                <a:solidFill>
                  <a:srgbClr val="14274E"/>
                </a:solidFill>
                <a:latin typeface="Clear Sans Bold"/>
                <a:ea typeface="Clear Sans Bold"/>
                <a:cs typeface="Clear Sans Bold"/>
                <a:sym typeface="Clear Sans Bold"/>
              </a:rPr>
              <a:t> </a:t>
            </a:r>
            <a:r>
              <a:rPr lang="en-US" sz="8499" b="1" dirty="0" err="1">
                <a:solidFill>
                  <a:srgbClr val="14274E"/>
                </a:solidFill>
                <a:latin typeface="Clear Sans Bold"/>
                <a:ea typeface="Clear Sans Bold"/>
                <a:cs typeface="Clear Sans Bold"/>
                <a:sym typeface="Clear Sans Bold"/>
              </a:rPr>
              <a:t>thiệu</a:t>
            </a:r>
            <a:r>
              <a:rPr lang="en-US" sz="8499" b="1" dirty="0">
                <a:solidFill>
                  <a:srgbClr val="14274E"/>
                </a:solidFill>
                <a:latin typeface="Clear Sans Bold"/>
                <a:ea typeface="Clear Sans Bold"/>
                <a:cs typeface="Clear Sans Bold"/>
                <a:sym typeface="Clear Sans Bold"/>
              </a:rPr>
              <a:t> </a:t>
            </a:r>
            <a:r>
              <a:rPr lang="en-US" sz="8499" b="1" dirty="0" err="1">
                <a:solidFill>
                  <a:srgbClr val="14274E"/>
                </a:solidFill>
                <a:latin typeface="Clear Sans Bold"/>
                <a:ea typeface="Clear Sans Bold"/>
                <a:cs typeface="Clear Sans Bold"/>
                <a:sym typeface="Clear Sans Bold"/>
              </a:rPr>
              <a:t>đề</a:t>
            </a:r>
            <a:r>
              <a:rPr lang="en-US" sz="8499" b="1" dirty="0">
                <a:solidFill>
                  <a:srgbClr val="14274E"/>
                </a:solidFill>
                <a:latin typeface="Clear Sans Bold"/>
                <a:ea typeface="Clear Sans Bold"/>
                <a:cs typeface="Clear Sans Bold"/>
                <a:sym typeface="Clear Sans Bold"/>
              </a:rPr>
              <a:t> </a:t>
            </a:r>
            <a:r>
              <a:rPr lang="en-US" sz="8499" b="1" dirty="0" err="1">
                <a:solidFill>
                  <a:srgbClr val="14274E"/>
                </a:solidFill>
                <a:latin typeface="Clear Sans Bold"/>
                <a:ea typeface="Clear Sans Bold"/>
                <a:cs typeface="Clear Sans Bold"/>
                <a:sym typeface="Clear Sans Bold"/>
              </a:rPr>
              <a:t>tài</a:t>
            </a:r>
            <a:endParaRPr lang="en-US" sz="8499" b="1" dirty="0">
              <a:solidFill>
                <a:srgbClr val="14274E"/>
              </a:solidFill>
              <a:latin typeface="Clear Sans Bold"/>
              <a:ea typeface="Clear Sans Bold"/>
              <a:cs typeface="Clear Sans Bold"/>
              <a:sym typeface="Clear Sans Bold"/>
            </a:endParaRPr>
          </a:p>
        </p:txBody>
      </p:sp>
      <p:sp>
        <p:nvSpPr>
          <p:cNvPr id="8" name="TextBox 8"/>
          <p:cNvSpPr txBox="1"/>
          <p:nvPr/>
        </p:nvSpPr>
        <p:spPr>
          <a:xfrm>
            <a:off x="1381125" y="2790827"/>
            <a:ext cx="16230600" cy="4495798"/>
          </a:xfrm>
          <a:prstGeom prst="rect">
            <a:avLst/>
          </a:prstGeom>
        </p:spPr>
        <p:txBody>
          <a:bodyPr lIns="0" tIns="0" rIns="0" bIns="0" rtlCol="0" anchor="t">
            <a:spAutoFit/>
          </a:bodyPr>
          <a:lstStyle/>
          <a:p>
            <a:pPr algn="l">
              <a:lnSpc>
                <a:spcPts val="6000"/>
              </a:lnSpc>
            </a:pPr>
            <a:r>
              <a:rPr lang="en-US" sz="3000" dirty="0">
                <a:solidFill>
                  <a:srgbClr val="14274E"/>
                </a:solidFill>
                <a:latin typeface="Clear Sans"/>
                <a:ea typeface="Clear Sans"/>
                <a:cs typeface="Clear Sans"/>
                <a:sym typeface="Clear Sans"/>
              </a:rPr>
              <a:t>PHÁT HIỆN VÀ ĐẾM ĐỐI TƯỢNG (NGƯỜI, XE, VẬT THỂ) TRONG ẢNH/VIDEO.</a:t>
            </a:r>
          </a:p>
          <a:p>
            <a:pPr algn="l">
              <a:lnSpc>
                <a:spcPts val="6000"/>
              </a:lnSpc>
            </a:pPr>
            <a:r>
              <a:rPr lang="en-US" sz="3000" dirty="0">
                <a:solidFill>
                  <a:srgbClr val="14274E"/>
                </a:solidFill>
                <a:latin typeface="Clear Sans"/>
                <a:ea typeface="Clear Sans"/>
                <a:cs typeface="Clear Sans"/>
                <a:sym typeface="Clear Sans"/>
              </a:rPr>
              <a:t>TẦM QUAN TRỌNG CỦA VIỆC ÁP DỤNG VÀO THỰC TẾ:</a:t>
            </a:r>
          </a:p>
          <a:p>
            <a:pPr marL="647705" lvl="1" indent="-323852" algn="l">
              <a:lnSpc>
                <a:spcPts val="6000"/>
              </a:lnSpc>
              <a:buFont typeface="Arial"/>
              <a:buChar char="•"/>
            </a:pPr>
            <a:r>
              <a:rPr lang="en-US" sz="3000" dirty="0">
                <a:solidFill>
                  <a:srgbClr val="14274E"/>
                </a:solidFill>
                <a:latin typeface="Clear Sans"/>
                <a:ea typeface="Clear Sans"/>
                <a:cs typeface="Clear Sans"/>
                <a:sym typeface="Clear Sans"/>
              </a:rPr>
              <a:t>GIÁM SÁT GIAO THÔNG</a:t>
            </a:r>
          </a:p>
          <a:p>
            <a:pPr marL="647705" lvl="1" indent="-323852" algn="l">
              <a:lnSpc>
                <a:spcPts val="6000"/>
              </a:lnSpc>
              <a:buFont typeface="Arial"/>
              <a:buChar char="•"/>
            </a:pPr>
            <a:r>
              <a:rPr lang="en-US" sz="3000" dirty="0">
                <a:solidFill>
                  <a:srgbClr val="14274E"/>
                </a:solidFill>
                <a:latin typeface="Clear Sans"/>
                <a:ea typeface="Clear Sans"/>
                <a:cs typeface="Clear Sans"/>
                <a:sym typeface="Clear Sans"/>
              </a:rPr>
              <a:t>ĐẾM NGƯỜI RA VÀO</a:t>
            </a:r>
          </a:p>
          <a:p>
            <a:pPr marL="647705" lvl="1" indent="-323852" algn="l">
              <a:lnSpc>
                <a:spcPts val="6000"/>
              </a:lnSpc>
              <a:buFont typeface="Arial"/>
              <a:buChar char="•"/>
            </a:pPr>
            <a:r>
              <a:rPr lang="en-US" sz="3000" dirty="0">
                <a:solidFill>
                  <a:srgbClr val="14274E"/>
                </a:solidFill>
                <a:latin typeface="Clear Sans"/>
                <a:ea typeface="Clear Sans"/>
                <a:cs typeface="Clear Sans"/>
                <a:sym typeface="Clear Sans"/>
              </a:rPr>
              <a:t>THEO DÕI AN NINH TỰ ĐỘNG</a:t>
            </a:r>
          </a:p>
          <a:p>
            <a:pPr algn="l">
              <a:lnSpc>
                <a:spcPts val="6000"/>
              </a:lnSpc>
            </a:pPr>
            <a:endParaRPr lang="en-US" sz="3000" dirty="0">
              <a:solidFill>
                <a:srgbClr val="14274E"/>
              </a:solidFill>
              <a:latin typeface="Clear Sans"/>
              <a:ea typeface="Clear Sans"/>
              <a:cs typeface="Clear Sans"/>
              <a:sym typeface="Clear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274E"/>
        </a:solidFill>
        <a:effectLst/>
      </p:bgPr>
    </p:bg>
    <p:spTree>
      <p:nvGrpSpPr>
        <p:cNvPr id="1" name=""/>
        <p:cNvGrpSpPr/>
        <p:nvPr/>
      </p:nvGrpSpPr>
      <p:grpSpPr>
        <a:xfrm>
          <a:off x="0" y="0"/>
          <a:ext cx="0" cy="0"/>
          <a:chOff x="0" y="0"/>
          <a:chExt cx="0" cy="0"/>
        </a:xfrm>
      </p:grpSpPr>
      <p:sp>
        <p:nvSpPr>
          <p:cNvPr id="2" name="Freeform 2"/>
          <p:cNvSpPr/>
          <p:nvPr/>
        </p:nvSpPr>
        <p:spPr>
          <a:xfrm flipV="1">
            <a:off x="0" y="0"/>
            <a:ext cx="3970782" cy="4114800"/>
          </a:xfrm>
          <a:custGeom>
            <a:avLst/>
            <a:gdLst/>
            <a:ahLst/>
            <a:cxnLst/>
            <a:rect l="l" t="t" r="r" b="b"/>
            <a:pathLst>
              <a:path w="3970782" h="4114800">
                <a:moveTo>
                  <a:pt x="0" y="4114800"/>
                </a:moveTo>
                <a:lnTo>
                  <a:pt x="3970782" y="4114800"/>
                </a:lnTo>
                <a:lnTo>
                  <a:pt x="3970782"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a:off x="14317218" y="6172200"/>
            <a:ext cx="3970782" cy="4114800"/>
          </a:xfrm>
          <a:custGeom>
            <a:avLst/>
            <a:gdLst/>
            <a:ahLst/>
            <a:cxnLst/>
            <a:rect l="l" t="t" r="r" b="b"/>
            <a:pathLst>
              <a:path w="3970782" h="4114800">
                <a:moveTo>
                  <a:pt x="3970782" y="0"/>
                </a:moveTo>
                <a:lnTo>
                  <a:pt x="0" y="0"/>
                </a:lnTo>
                <a:lnTo>
                  <a:pt x="0" y="4114800"/>
                </a:lnTo>
                <a:lnTo>
                  <a:pt x="3970782" y="4114800"/>
                </a:lnTo>
                <a:lnTo>
                  <a:pt x="3970782"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028700" y="1067319"/>
            <a:ext cx="16230600" cy="8190981"/>
            <a:chOff x="0" y="0"/>
            <a:chExt cx="4274726" cy="2157295"/>
          </a:xfrm>
        </p:grpSpPr>
        <p:sp>
          <p:nvSpPr>
            <p:cNvPr id="5" name="Freeform 5"/>
            <p:cNvSpPr/>
            <p:nvPr/>
          </p:nvSpPr>
          <p:spPr>
            <a:xfrm>
              <a:off x="0" y="0"/>
              <a:ext cx="4274726" cy="2157295"/>
            </a:xfrm>
            <a:custGeom>
              <a:avLst/>
              <a:gdLst/>
              <a:ahLst/>
              <a:cxnLst/>
              <a:rect l="l" t="t" r="r" b="b"/>
              <a:pathLst>
                <a:path w="4274726" h="2157295">
                  <a:moveTo>
                    <a:pt x="24327" y="0"/>
                  </a:moveTo>
                  <a:lnTo>
                    <a:pt x="4250399" y="0"/>
                  </a:lnTo>
                  <a:cubicBezTo>
                    <a:pt x="4263834" y="0"/>
                    <a:pt x="4274726" y="10891"/>
                    <a:pt x="4274726" y="24327"/>
                  </a:cubicBezTo>
                  <a:lnTo>
                    <a:pt x="4274726" y="2132968"/>
                  </a:lnTo>
                  <a:cubicBezTo>
                    <a:pt x="4274726" y="2146404"/>
                    <a:pt x="4263834" y="2157295"/>
                    <a:pt x="4250399" y="2157295"/>
                  </a:cubicBezTo>
                  <a:lnTo>
                    <a:pt x="24327" y="2157295"/>
                  </a:lnTo>
                  <a:cubicBezTo>
                    <a:pt x="17875" y="2157295"/>
                    <a:pt x="11687" y="2154732"/>
                    <a:pt x="7125" y="2150170"/>
                  </a:cubicBezTo>
                  <a:cubicBezTo>
                    <a:pt x="2563" y="2145608"/>
                    <a:pt x="0" y="2139420"/>
                    <a:pt x="0" y="2132968"/>
                  </a:cubicBezTo>
                  <a:lnTo>
                    <a:pt x="0" y="24327"/>
                  </a:lnTo>
                  <a:cubicBezTo>
                    <a:pt x="0" y="10891"/>
                    <a:pt x="10891" y="0"/>
                    <a:pt x="24327" y="0"/>
                  </a:cubicBezTo>
                  <a:close/>
                </a:path>
              </a:pathLst>
            </a:custGeom>
            <a:solidFill>
              <a:srgbClr val="F1F6F9"/>
            </a:solidFill>
            <a:ln w="133350" cap="rnd">
              <a:solidFill>
                <a:srgbClr val="394867"/>
              </a:solidFill>
              <a:prstDash val="solid"/>
              <a:round/>
            </a:ln>
          </p:spPr>
          <p:txBody>
            <a:bodyPr/>
            <a:lstStyle/>
            <a:p>
              <a:endParaRPr lang="en-US"/>
            </a:p>
          </p:txBody>
        </p:sp>
        <p:sp>
          <p:nvSpPr>
            <p:cNvPr id="6" name="TextBox 6"/>
            <p:cNvSpPr txBox="1"/>
            <p:nvPr/>
          </p:nvSpPr>
          <p:spPr>
            <a:xfrm>
              <a:off x="0" y="-38100"/>
              <a:ext cx="4274726" cy="2195395"/>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3433107" y="3539997"/>
            <a:ext cx="11421785" cy="3580765"/>
          </a:xfrm>
          <a:prstGeom prst="rect">
            <a:avLst/>
          </a:prstGeom>
        </p:spPr>
        <p:txBody>
          <a:bodyPr lIns="0" tIns="0" rIns="0" bIns="0" rtlCol="0" anchor="t">
            <a:spAutoFit/>
          </a:bodyPr>
          <a:lstStyle/>
          <a:p>
            <a:pPr marL="734059" lvl="1" indent="-367030" algn="l">
              <a:lnSpc>
                <a:spcPts val="4759"/>
              </a:lnSpc>
              <a:buFont typeface="Arial"/>
              <a:buChar char="•"/>
            </a:pPr>
            <a:r>
              <a:rPr lang="en-US" sz="3399">
                <a:solidFill>
                  <a:srgbClr val="14274E"/>
                </a:solidFill>
                <a:latin typeface="Clear Sans"/>
                <a:ea typeface="Clear Sans"/>
                <a:cs typeface="Clear Sans"/>
                <a:sym typeface="Clear Sans"/>
              </a:rPr>
              <a:t>Tìm hiểu thuật toán phát hiện đối tượng (Object Detection)</a:t>
            </a:r>
          </a:p>
          <a:p>
            <a:pPr marL="734059" lvl="1" indent="-367030" algn="l">
              <a:lnSpc>
                <a:spcPts val="4759"/>
              </a:lnSpc>
              <a:buFont typeface="Arial"/>
              <a:buChar char="•"/>
            </a:pPr>
            <a:r>
              <a:rPr lang="en-US" sz="3399">
                <a:solidFill>
                  <a:srgbClr val="14274E"/>
                </a:solidFill>
                <a:latin typeface="Clear Sans"/>
                <a:ea typeface="Clear Sans"/>
                <a:cs typeface="Clear Sans"/>
                <a:sym typeface="Clear Sans"/>
              </a:rPr>
              <a:t>Áp dụng mô hình YOLOv8s</a:t>
            </a:r>
          </a:p>
          <a:p>
            <a:pPr marL="734059" lvl="1" indent="-367030" algn="l">
              <a:lnSpc>
                <a:spcPts val="4759"/>
              </a:lnSpc>
              <a:buFont typeface="Arial"/>
              <a:buChar char="•"/>
            </a:pPr>
            <a:r>
              <a:rPr lang="en-US" sz="3399">
                <a:solidFill>
                  <a:srgbClr val="14274E"/>
                </a:solidFill>
                <a:latin typeface="Clear Sans"/>
                <a:ea typeface="Clear Sans"/>
                <a:cs typeface="Clear Sans"/>
                <a:sym typeface="Clear Sans"/>
              </a:rPr>
              <a:t>Thực hiện đếm chính xác số lượng vật thể qua vùng xác định</a:t>
            </a:r>
          </a:p>
          <a:p>
            <a:pPr algn="l">
              <a:lnSpc>
                <a:spcPts val="4759"/>
              </a:lnSpc>
            </a:pPr>
            <a:endParaRPr lang="en-US" sz="3399">
              <a:solidFill>
                <a:srgbClr val="14274E"/>
              </a:solidFill>
              <a:latin typeface="Clear Sans"/>
              <a:ea typeface="Clear Sans"/>
              <a:cs typeface="Clear Sans"/>
              <a:sym typeface="Clear Sans"/>
            </a:endParaRPr>
          </a:p>
        </p:txBody>
      </p:sp>
      <p:sp>
        <p:nvSpPr>
          <p:cNvPr id="8" name="TextBox 8"/>
          <p:cNvSpPr txBox="1"/>
          <p:nvPr/>
        </p:nvSpPr>
        <p:spPr>
          <a:xfrm>
            <a:off x="5139538" y="1995868"/>
            <a:ext cx="8008924" cy="1812924"/>
          </a:xfrm>
          <a:prstGeom prst="rect">
            <a:avLst/>
          </a:prstGeom>
        </p:spPr>
        <p:txBody>
          <a:bodyPr lIns="0" tIns="0" rIns="0" bIns="0" rtlCol="0" anchor="t">
            <a:spAutoFit/>
          </a:bodyPr>
          <a:lstStyle/>
          <a:p>
            <a:pPr algn="just">
              <a:lnSpc>
                <a:spcPts val="6799"/>
              </a:lnSpc>
            </a:pPr>
            <a:r>
              <a:rPr lang="en-US" sz="8499" b="1">
                <a:solidFill>
                  <a:srgbClr val="14274E"/>
                </a:solidFill>
                <a:latin typeface="Clear Sans Bold"/>
                <a:ea typeface="Clear Sans Bold"/>
                <a:cs typeface="Clear Sans Bold"/>
                <a:sym typeface="Clear Sans Bold"/>
              </a:rPr>
              <a:t>Mục tiêu đề tài:</a:t>
            </a:r>
          </a:p>
          <a:p>
            <a:pPr algn="just">
              <a:lnSpc>
                <a:spcPts val="6799"/>
              </a:lnSpc>
            </a:pPr>
            <a:endParaRPr lang="en-US" sz="8499" b="1">
              <a:solidFill>
                <a:srgbClr val="14274E"/>
              </a:solidFill>
              <a:latin typeface="Clear Sans Bold"/>
              <a:ea typeface="Clear Sans Bold"/>
              <a:cs typeface="Clear Sans Bold"/>
              <a:sym typeface="Clear Sans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274E"/>
        </a:solidFill>
        <a:effectLst/>
      </p:bgPr>
    </p:bg>
    <p:spTree>
      <p:nvGrpSpPr>
        <p:cNvPr id="1" name=""/>
        <p:cNvGrpSpPr/>
        <p:nvPr/>
      </p:nvGrpSpPr>
      <p:grpSpPr>
        <a:xfrm>
          <a:off x="0" y="0"/>
          <a:ext cx="0" cy="0"/>
          <a:chOff x="0" y="0"/>
          <a:chExt cx="0" cy="0"/>
        </a:xfrm>
      </p:grpSpPr>
      <p:sp>
        <p:nvSpPr>
          <p:cNvPr id="2" name="Freeform 2"/>
          <p:cNvSpPr/>
          <p:nvPr/>
        </p:nvSpPr>
        <p:spPr>
          <a:xfrm>
            <a:off x="0" y="622935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flipV="1">
            <a:off x="14173200" y="-5715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028700" y="1067319"/>
            <a:ext cx="16230600" cy="8190981"/>
            <a:chOff x="0" y="0"/>
            <a:chExt cx="4274726" cy="2157295"/>
          </a:xfrm>
        </p:grpSpPr>
        <p:sp>
          <p:nvSpPr>
            <p:cNvPr id="5" name="Freeform 5"/>
            <p:cNvSpPr/>
            <p:nvPr/>
          </p:nvSpPr>
          <p:spPr>
            <a:xfrm>
              <a:off x="0" y="0"/>
              <a:ext cx="4274726" cy="2157295"/>
            </a:xfrm>
            <a:custGeom>
              <a:avLst/>
              <a:gdLst/>
              <a:ahLst/>
              <a:cxnLst/>
              <a:rect l="l" t="t" r="r" b="b"/>
              <a:pathLst>
                <a:path w="4274726" h="2157295">
                  <a:moveTo>
                    <a:pt x="24327" y="0"/>
                  </a:moveTo>
                  <a:lnTo>
                    <a:pt x="4250399" y="0"/>
                  </a:lnTo>
                  <a:cubicBezTo>
                    <a:pt x="4263834" y="0"/>
                    <a:pt x="4274726" y="10891"/>
                    <a:pt x="4274726" y="24327"/>
                  </a:cubicBezTo>
                  <a:lnTo>
                    <a:pt x="4274726" y="2132968"/>
                  </a:lnTo>
                  <a:cubicBezTo>
                    <a:pt x="4274726" y="2146404"/>
                    <a:pt x="4263834" y="2157295"/>
                    <a:pt x="4250399" y="2157295"/>
                  </a:cubicBezTo>
                  <a:lnTo>
                    <a:pt x="24327" y="2157295"/>
                  </a:lnTo>
                  <a:cubicBezTo>
                    <a:pt x="17875" y="2157295"/>
                    <a:pt x="11687" y="2154732"/>
                    <a:pt x="7125" y="2150170"/>
                  </a:cubicBezTo>
                  <a:cubicBezTo>
                    <a:pt x="2563" y="2145608"/>
                    <a:pt x="0" y="2139420"/>
                    <a:pt x="0" y="2132968"/>
                  </a:cubicBezTo>
                  <a:lnTo>
                    <a:pt x="0" y="24327"/>
                  </a:lnTo>
                  <a:cubicBezTo>
                    <a:pt x="0" y="10891"/>
                    <a:pt x="10891" y="0"/>
                    <a:pt x="24327" y="0"/>
                  </a:cubicBezTo>
                  <a:close/>
                </a:path>
              </a:pathLst>
            </a:custGeom>
            <a:solidFill>
              <a:srgbClr val="F1F6F9"/>
            </a:solidFill>
            <a:ln w="133350" cap="rnd">
              <a:solidFill>
                <a:srgbClr val="394867"/>
              </a:solidFill>
              <a:prstDash val="solid"/>
              <a:round/>
            </a:ln>
          </p:spPr>
          <p:txBody>
            <a:bodyPr/>
            <a:lstStyle/>
            <a:p>
              <a:endParaRPr lang="en-US"/>
            </a:p>
          </p:txBody>
        </p:sp>
        <p:sp>
          <p:nvSpPr>
            <p:cNvPr id="6" name="TextBox 6"/>
            <p:cNvSpPr txBox="1"/>
            <p:nvPr/>
          </p:nvSpPr>
          <p:spPr>
            <a:xfrm>
              <a:off x="0" y="-38100"/>
              <a:ext cx="4274726" cy="2195395"/>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4537996" y="1842962"/>
            <a:ext cx="8540270" cy="955674"/>
          </a:xfrm>
          <a:prstGeom prst="rect">
            <a:avLst/>
          </a:prstGeom>
        </p:spPr>
        <p:txBody>
          <a:bodyPr lIns="0" tIns="0" rIns="0" bIns="0" rtlCol="0" anchor="t">
            <a:spAutoFit/>
          </a:bodyPr>
          <a:lstStyle/>
          <a:p>
            <a:pPr algn="just">
              <a:lnSpc>
                <a:spcPts val="6799"/>
              </a:lnSpc>
            </a:pPr>
            <a:r>
              <a:rPr lang="en-US" sz="8499" b="1">
                <a:solidFill>
                  <a:srgbClr val="14274E"/>
                </a:solidFill>
                <a:latin typeface="Clear Sans Bold"/>
                <a:ea typeface="Clear Sans Bold"/>
                <a:cs typeface="Clear Sans Bold"/>
                <a:sym typeface="Clear Sans Bold"/>
              </a:rPr>
              <a:t>Công cụ sử dụng</a:t>
            </a:r>
          </a:p>
        </p:txBody>
      </p:sp>
      <p:sp>
        <p:nvSpPr>
          <p:cNvPr id="8" name="TextBox 8"/>
          <p:cNvSpPr txBox="1"/>
          <p:nvPr/>
        </p:nvSpPr>
        <p:spPr>
          <a:xfrm>
            <a:off x="1883840" y="3797822"/>
            <a:ext cx="14520319" cy="3203578"/>
          </a:xfrm>
          <a:prstGeom prst="rect">
            <a:avLst/>
          </a:prstGeom>
        </p:spPr>
        <p:txBody>
          <a:bodyPr lIns="0" tIns="0" rIns="0" bIns="0" rtlCol="0" anchor="t">
            <a:spAutoFit/>
          </a:bodyPr>
          <a:lstStyle/>
          <a:p>
            <a:pPr algn="l">
              <a:lnSpc>
                <a:spcPts val="4620"/>
              </a:lnSpc>
              <a:spcBef>
                <a:spcPct val="0"/>
              </a:spcBef>
            </a:pPr>
            <a:r>
              <a:rPr lang="en-US" sz="3300" dirty="0">
                <a:solidFill>
                  <a:srgbClr val="14274E"/>
                </a:solidFill>
                <a:latin typeface="Open Sans"/>
                <a:ea typeface="Open Sans"/>
                <a:cs typeface="Open Sans"/>
                <a:sym typeface="Open Sans"/>
              </a:rPr>
              <a:t>·Visual </a:t>
            </a:r>
            <a:r>
              <a:rPr lang="en-US" sz="3300" dirty="0" err="1">
                <a:solidFill>
                  <a:srgbClr val="14274E"/>
                </a:solidFill>
                <a:latin typeface="Open Sans"/>
                <a:ea typeface="Open Sans"/>
                <a:cs typeface="Open Sans"/>
                <a:sym typeface="Open Sans"/>
              </a:rPr>
              <a:t>Stadio</a:t>
            </a:r>
            <a:r>
              <a:rPr lang="en-US" sz="3300" dirty="0">
                <a:solidFill>
                  <a:srgbClr val="14274E"/>
                </a:solidFill>
                <a:latin typeface="Open Sans"/>
                <a:ea typeface="Open Sans"/>
                <a:cs typeface="Open Sans"/>
                <a:sym typeface="Open Sans"/>
              </a:rPr>
              <a:t> Code</a:t>
            </a:r>
          </a:p>
          <a:p>
            <a:pPr algn="l">
              <a:lnSpc>
                <a:spcPts val="4620"/>
              </a:lnSpc>
              <a:spcBef>
                <a:spcPct val="0"/>
              </a:spcBef>
            </a:pPr>
            <a:r>
              <a:rPr lang="en-US" sz="3300" dirty="0">
                <a:solidFill>
                  <a:srgbClr val="14274E"/>
                </a:solidFill>
                <a:latin typeface="Open Sans"/>
                <a:ea typeface="Open Sans"/>
                <a:cs typeface="Open Sans"/>
                <a:sym typeface="Open Sans"/>
              </a:rPr>
              <a:t>·OpenCV</a:t>
            </a:r>
          </a:p>
          <a:p>
            <a:pPr algn="l">
              <a:lnSpc>
                <a:spcPts val="4620"/>
              </a:lnSpc>
              <a:spcBef>
                <a:spcPct val="0"/>
              </a:spcBef>
            </a:pPr>
            <a:r>
              <a:rPr lang="en-US" sz="3300" dirty="0">
                <a:solidFill>
                  <a:srgbClr val="14274E"/>
                </a:solidFill>
                <a:latin typeface="Open Sans"/>
                <a:ea typeface="Open Sans"/>
                <a:cs typeface="Open Sans"/>
                <a:sym typeface="Open Sans"/>
              </a:rPr>
              <a:t>·NumPy</a:t>
            </a:r>
          </a:p>
          <a:p>
            <a:pPr algn="l">
              <a:lnSpc>
                <a:spcPts val="4620"/>
              </a:lnSpc>
              <a:spcBef>
                <a:spcPct val="0"/>
              </a:spcBef>
            </a:pPr>
            <a:r>
              <a:rPr lang="en-US" sz="3300" dirty="0">
                <a:solidFill>
                  <a:srgbClr val="14274E"/>
                </a:solidFill>
                <a:latin typeface="Open Sans"/>
                <a:ea typeface="Open Sans"/>
                <a:cs typeface="Open Sans"/>
                <a:sym typeface="Open Sans"/>
              </a:rPr>
              <a:t>·</a:t>
            </a:r>
            <a:r>
              <a:rPr lang="en-US" sz="3300" dirty="0" err="1">
                <a:solidFill>
                  <a:srgbClr val="14274E"/>
                </a:solidFill>
                <a:latin typeface="Open Sans"/>
                <a:ea typeface="Open Sans"/>
                <a:cs typeface="Open Sans"/>
                <a:sym typeface="Open Sans"/>
              </a:rPr>
              <a:t>Mô</a:t>
            </a:r>
            <a:r>
              <a:rPr lang="en-US" sz="3300" dirty="0">
                <a:solidFill>
                  <a:srgbClr val="14274E"/>
                </a:solidFill>
                <a:latin typeface="Open Sans"/>
                <a:ea typeface="Open Sans"/>
                <a:cs typeface="Open Sans"/>
                <a:sym typeface="Open Sans"/>
              </a:rPr>
              <a:t> </a:t>
            </a:r>
            <a:r>
              <a:rPr lang="en-US" sz="3300" dirty="0" err="1">
                <a:solidFill>
                  <a:srgbClr val="14274E"/>
                </a:solidFill>
                <a:latin typeface="Open Sans"/>
                <a:ea typeface="Open Sans"/>
                <a:cs typeface="Open Sans"/>
                <a:sym typeface="Open Sans"/>
              </a:rPr>
              <a:t>hình</a:t>
            </a:r>
            <a:r>
              <a:rPr lang="en-US" sz="3300" dirty="0">
                <a:solidFill>
                  <a:srgbClr val="14274E"/>
                </a:solidFill>
                <a:latin typeface="Open Sans"/>
                <a:ea typeface="Open Sans"/>
                <a:cs typeface="Open Sans"/>
                <a:sym typeface="Open Sans"/>
              </a:rPr>
              <a:t> </a:t>
            </a:r>
            <a:r>
              <a:rPr lang="en-US" sz="3300" dirty="0" err="1">
                <a:solidFill>
                  <a:srgbClr val="14274E"/>
                </a:solidFill>
                <a:latin typeface="Open Sans"/>
                <a:ea typeface="Open Sans"/>
                <a:cs typeface="Open Sans"/>
                <a:sym typeface="Open Sans"/>
              </a:rPr>
              <a:t>YOLOv8</a:t>
            </a:r>
            <a:endParaRPr lang="en-US" sz="3300" dirty="0">
              <a:solidFill>
                <a:srgbClr val="14274E"/>
              </a:solidFill>
              <a:latin typeface="Open Sans"/>
              <a:ea typeface="Open Sans"/>
              <a:cs typeface="Open Sans"/>
              <a:sym typeface="Open Sans"/>
            </a:endParaRPr>
          </a:p>
          <a:p>
            <a:pPr algn="l">
              <a:lnSpc>
                <a:spcPts val="4620"/>
              </a:lnSpc>
              <a:spcBef>
                <a:spcPct val="0"/>
              </a:spcBef>
            </a:pPr>
            <a:r>
              <a:rPr lang="en-US" sz="3300" dirty="0">
                <a:solidFill>
                  <a:srgbClr val="14274E"/>
                </a:solidFill>
                <a:latin typeface="Open Sans"/>
                <a:ea typeface="Open Sans"/>
                <a:cs typeface="Open Sans"/>
                <a:sym typeface="Open Sans"/>
              </a:rPr>
              <a:t>·</a:t>
            </a:r>
            <a:r>
              <a:rPr lang="en-US" sz="3300" dirty="0" err="1">
                <a:solidFill>
                  <a:srgbClr val="14274E"/>
                </a:solidFill>
                <a:latin typeface="Open Sans"/>
                <a:ea typeface="Open Sans"/>
                <a:cs typeface="Open Sans"/>
                <a:sym typeface="Open Sans"/>
              </a:rPr>
              <a:t>ByteTrack</a:t>
            </a:r>
            <a:endParaRPr lang="en-US" sz="3300" dirty="0">
              <a:solidFill>
                <a:srgbClr val="14274E"/>
              </a:solidFill>
              <a:latin typeface="Open Sans"/>
              <a:ea typeface="Open Sans"/>
              <a:cs typeface="Open Sans"/>
              <a:sym typeface="Open Sans"/>
            </a:endParaRPr>
          </a:p>
          <a:p>
            <a:pPr algn="ctr">
              <a:lnSpc>
                <a:spcPts val="2379"/>
              </a:lnSpc>
              <a:spcBef>
                <a:spcPct val="0"/>
              </a:spcBef>
            </a:pPr>
            <a:endParaRPr lang="en-US" sz="3300" dirty="0">
              <a:solidFill>
                <a:srgbClr val="14274E"/>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274E"/>
        </a:solidFill>
        <a:effectLst/>
      </p:bgPr>
    </p:bg>
    <p:spTree>
      <p:nvGrpSpPr>
        <p:cNvPr id="1" name=""/>
        <p:cNvGrpSpPr/>
        <p:nvPr/>
      </p:nvGrpSpPr>
      <p:grpSpPr>
        <a:xfrm>
          <a:off x="0" y="0"/>
          <a:ext cx="0" cy="0"/>
          <a:chOff x="0" y="0"/>
          <a:chExt cx="0" cy="0"/>
        </a:xfrm>
      </p:grpSpPr>
      <p:sp>
        <p:nvSpPr>
          <p:cNvPr id="2" name="Freeform 2"/>
          <p:cNvSpPr/>
          <p:nvPr/>
        </p:nvSpPr>
        <p:spPr>
          <a:xfrm flipV="1">
            <a:off x="0" y="-57150"/>
            <a:ext cx="3657759" cy="3657759"/>
          </a:xfrm>
          <a:custGeom>
            <a:avLst/>
            <a:gdLst/>
            <a:ahLst/>
            <a:cxnLst/>
            <a:rect l="l" t="t" r="r" b="b"/>
            <a:pathLst>
              <a:path w="3657759" h="3657759">
                <a:moveTo>
                  <a:pt x="0" y="3657759"/>
                </a:moveTo>
                <a:lnTo>
                  <a:pt x="3657759" y="3657759"/>
                </a:lnTo>
                <a:lnTo>
                  <a:pt x="3657759" y="0"/>
                </a:lnTo>
                <a:lnTo>
                  <a:pt x="0" y="0"/>
                </a:lnTo>
                <a:lnTo>
                  <a:pt x="0" y="3657759"/>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flipV="1">
            <a:off x="13439929" y="0"/>
            <a:ext cx="4848071" cy="4114800"/>
          </a:xfrm>
          <a:custGeom>
            <a:avLst/>
            <a:gdLst/>
            <a:ahLst/>
            <a:cxnLst/>
            <a:rect l="l" t="t" r="r" b="b"/>
            <a:pathLst>
              <a:path w="4848071" h="4114800">
                <a:moveTo>
                  <a:pt x="4848071" y="4114800"/>
                </a:moveTo>
                <a:lnTo>
                  <a:pt x="0" y="4114800"/>
                </a:lnTo>
                <a:lnTo>
                  <a:pt x="0" y="0"/>
                </a:lnTo>
                <a:lnTo>
                  <a:pt x="4848071" y="0"/>
                </a:lnTo>
                <a:lnTo>
                  <a:pt x="4848071" y="4114800"/>
                </a:lnTo>
                <a:close/>
              </a:path>
            </a:pathLst>
          </a:custGeom>
          <a:blipFill>
            <a:blip r:embed="rId4">
              <a:alphaModFix amt="50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0" y="6172200"/>
            <a:ext cx="4848071" cy="4114800"/>
          </a:xfrm>
          <a:custGeom>
            <a:avLst/>
            <a:gdLst/>
            <a:ahLst/>
            <a:cxnLst/>
            <a:rect l="l" t="t" r="r" b="b"/>
            <a:pathLst>
              <a:path w="4848071" h="4114800">
                <a:moveTo>
                  <a:pt x="0" y="0"/>
                </a:moveTo>
                <a:lnTo>
                  <a:pt x="4848071" y="0"/>
                </a:lnTo>
                <a:lnTo>
                  <a:pt x="4848071" y="4114800"/>
                </a:lnTo>
                <a:lnTo>
                  <a:pt x="0" y="4114800"/>
                </a:lnTo>
                <a:lnTo>
                  <a:pt x="0" y="0"/>
                </a:lnTo>
                <a:close/>
              </a:path>
            </a:pathLst>
          </a:custGeom>
          <a:blipFill>
            <a:blip r:embed="rId4">
              <a:alphaModFix amt="51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flipH="1">
            <a:off x="14630241" y="6629241"/>
            <a:ext cx="3657759" cy="3657759"/>
          </a:xfrm>
          <a:custGeom>
            <a:avLst/>
            <a:gdLst/>
            <a:ahLst/>
            <a:cxnLst/>
            <a:rect l="l" t="t" r="r" b="b"/>
            <a:pathLst>
              <a:path w="3657759" h="3657759">
                <a:moveTo>
                  <a:pt x="3657759" y="0"/>
                </a:moveTo>
                <a:lnTo>
                  <a:pt x="0" y="0"/>
                </a:lnTo>
                <a:lnTo>
                  <a:pt x="0" y="3657759"/>
                </a:lnTo>
                <a:lnTo>
                  <a:pt x="3657759" y="3657759"/>
                </a:lnTo>
                <a:lnTo>
                  <a:pt x="365775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6" name="Group 6"/>
          <p:cNvGrpSpPr/>
          <p:nvPr/>
        </p:nvGrpSpPr>
        <p:grpSpPr>
          <a:xfrm>
            <a:off x="1028700" y="1067319"/>
            <a:ext cx="16230600" cy="8190981"/>
            <a:chOff x="0" y="0"/>
            <a:chExt cx="4274726" cy="2157295"/>
          </a:xfrm>
        </p:grpSpPr>
        <p:sp>
          <p:nvSpPr>
            <p:cNvPr id="7" name="Freeform 7"/>
            <p:cNvSpPr/>
            <p:nvPr/>
          </p:nvSpPr>
          <p:spPr>
            <a:xfrm>
              <a:off x="0" y="0"/>
              <a:ext cx="4274726" cy="2157295"/>
            </a:xfrm>
            <a:custGeom>
              <a:avLst/>
              <a:gdLst/>
              <a:ahLst/>
              <a:cxnLst/>
              <a:rect l="l" t="t" r="r" b="b"/>
              <a:pathLst>
                <a:path w="4274726" h="2157295">
                  <a:moveTo>
                    <a:pt x="24327" y="0"/>
                  </a:moveTo>
                  <a:lnTo>
                    <a:pt x="4250399" y="0"/>
                  </a:lnTo>
                  <a:cubicBezTo>
                    <a:pt x="4263834" y="0"/>
                    <a:pt x="4274726" y="10891"/>
                    <a:pt x="4274726" y="24327"/>
                  </a:cubicBezTo>
                  <a:lnTo>
                    <a:pt x="4274726" y="2132968"/>
                  </a:lnTo>
                  <a:cubicBezTo>
                    <a:pt x="4274726" y="2146404"/>
                    <a:pt x="4263834" y="2157295"/>
                    <a:pt x="4250399" y="2157295"/>
                  </a:cubicBezTo>
                  <a:lnTo>
                    <a:pt x="24327" y="2157295"/>
                  </a:lnTo>
                  <a:cubicBezTo>
                    <a:pt x="17875" y="2157295"/>
                    <a:pt x="11687" y="2154732"/>
                    <a:pt x="7125" y="2150170"/>
                  </a:cubicBezTo>
                  <a:cubicBezTo>
                    <a:pt x="2563" y="2145608"/>
                    <a:pt x="0" y="2139420"/>
                    <a:pt x="0" y="2132968"/>
                  </a:cubicBezTo>
                  <a:lnTo>
                    <a:pt x="0" y="24327"/>
                  </a:lnTo>
                  <a:cubicBezTo>
                    <a:pt x="0" y="10891"/>
                    <a:pt x="10891" y="0"/>
                    <a:pt x="24327" y="0"/>
                  </a:cubicBezTo>
                  <a:close/>
                </a:path>
              </a:pathLst>
            </a:custGeom>
            <a:solidFill>
              <a:srgbClr val="F1F6F9"/>
            </a:solidFill>
            <a:ln w="133350" cap="rnd">
              <a:solidFill>
                <a:srgbClr val="394867"/>
              </a:solidFill>
              <a:prstDash val="solid"/>
              <a:round/>
            </a:ln>
          </p:spPr>
          <p:txBody>
            <a:bodyPr/>
            <a:lstStyle/>
            <a:p>
              <a:endParaRPr lang="en-US"/>
            </a:p>
          </p:txBody>
        </p:sp>
        <p:sp>
          <p:nvSpPr>
            <p:cNvPr id="8" name="TextBox 8"/>
            <p:cNvSpPr txBox="1"/>
            <p:nvPr/>
          </p:nvSpPr>
          <p:spPr>
            <a:xfrm>
              <a:off x="0" y="-38100"/>
              <a:ext cx="4274726" cy="2195395"/>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716554" y="1787685"/>
            <a:ext cx="14742567" cy="1812924"/>
          </a:xfrm>
          <a:prstGeom prst="rect">
            <a:avLst/>
          </a:prstGeom>
        </p:spPr>
        <p:txBody>
          <a:bodyPr lIns="0" tIns="0" rIns="0" bIns="0" rtlCol="0" anchor="t">
            <a:spAutoFit/>
          </a:bodyPr>
          <a:lstStyle/>
          <a:p>
            <a:pPr algn="ctr">
              <a:lnSpc>
                <a:spcPts val="6799"/>
              </a:lnSpc>
            </a:pPr>
            <a:r>
              <a:rPr lang="en-US" sz="8499" b="1">
                <a:solidFill>
                  <a:srgbClr val="14274E"/>
                </a:solidFill>
                <a:latin typeface="Clear Sans Bold"/>
                <a:ea typeface="Clear Sans Bold"/>
                <a:cs typeface="Clear Sans Bold"/>
                <a:sym typeface="Clear Sans Bold"/>
              </a:rPr>
              <a:t>Cơ sở lý thuyết</a:t>
            </a:r>
          </a:p>
          <a:p>
            <a:pPr algn="ctr">
              <a:lnSpc>
                <a:spcPts val="6799"/>
              </a:lnSpc>
            </a:pPr>
            <a:endParaRPr lang="en-US" sz="8499" b="1">
              <a:solidFill>
                <a:srgbClr val="14274E"/>
              </a:solidFill>
              <a:latin typeface="Clear Sans Bold"/>
              <a:ea typeface="Clear Sans Bold"/>
              <a:cs typeface="Clear Sans Bold"/>
              <a:sym typeface="Clear Sans Bold"/>
            </a:endParaRPr>
          </a:p>
        </p:txBody>
      </p:sp>
      <p:sp>
        <p:nvSpPr>
          <p:cNvPr id="10" name="TextBox 10"/>
          <p:cNvSpPr txBox="1"/>
          <p:nvPr/>
        </p:nvSpPr>
        <p:spPr>
          <a:xfrm>
            <a:off x="1716554" y="2984413"/>
            <a:ext cx="15057649" cy="5380990"/>
          </a:xfrm>
          <a:prstGeom prst="rect">
            <a:avLst/>
          </a:prstGeom>
        </p:spPr>
        <p:txBody>
          <a:bodyPr lIns="0" tIns="0" rIns="0" bIns="0" rtlCol="0" anchor="t">
            <a:spAutoFit/>
          </a:bodyPr>
          <a:lstStyle/>
          <a:p>
            <a:pPr algn="l">
              <a:lnSpc>
                <a:spcPts val="4759"/>
              </a:lnSpc>
            </a:pPr>
            <a:r>
              <a:rPr lang="en-US" sz="3399" b="1">
                <a:solidFill>
                  <a:srgbClr val="14274E"/>
                </a:solidFill>
                <a:latin typeface="Clear Sans Bold"/>
                <a:ea typeface="Clear Sans Bold"/>
                <a:cs typeface="Clear Sans Bold"/>
                <a:sym typeface="Clear Sans Bold"/>
              </a:rPr>
              <a:t>YOLO</a:t>
            </a:r>
            <a:r>
              <a:rPr lang="en-US" sz="3399">
                <a:solidFill>
                  <a:srgbClr val="14274E"/>
                </a:solidFill>
                <a:latin typeface="Clear Sans"/>
                <a:ea typeface="Clear Sans"/>
                <a:cs typeface="Clear Sans"/>
                <a:sym typeface="Clear Sans"/>
              </a:rPr>
              <a:t>: YOLO (You Only Look Once) là một thuật toán phát hiện đối tượng trong ảnh nổi bật, thuộc nhóm One-Stage Object Detector, được thiết kế để nhận diện và định vị các vật thể trong thời gian thực.</a:t>
            </a:r>
          </a:p>
          <a:p>
            <a:pPr algn="l">
              <a:lnSpc>
                <a:spcPts val="4759"/>
              </a:lnSpc>
            </a:pPr>
            <a:r>
              <a:rPr lang="en-US" sz="3399">
                <a:solidFill>
                  <a:srgbClr val="14274E"/>
                </a:solidFill>
                <a:latin typeface="Clear Sans"/>
                <a:ea typeface="Clear Sans"/>
                <a:cs typeface="Clear Sans"/>
                <a:sym typeface="Clear Sans"/>
              </a:rPr>
              <a:t>Khác với các phương pháp truyền thống chia việc phát hiện và phân loại thành hai giai đoạn, YOLO xử lý toàn bộ ảnh đầu vào chỉ trong một lần “nhìn” (one pass) bằng mạng nơ-ron, giúp tăng tốc độ xử lý vượt trội.</a:t>
            </a:r>
          </a:p>
          <a:p>
            <a:pPr algn="l">
              <a:lnSpc>
                <a:spcPts val="4759"/>
              </a:lnSpc>
            </a:pPr>
            <a:endParaRPr lang="en-US" sz="3399">
              <a:solidFill>
                <a:srgbClr val="14274E"/>
              </a:solidFill>
              <a:latin typeface="Clear Sans"/>
              <a:ea typeface="Clear Sans"/>
              <a:cs typeface="Clear Sans"/>
              <a:sym typeface="Clear Sans"/>
            </a:endParaRPr>
          </a:p>
          <a:p>
            <a:pPr algn="l">
              <a:lnSpc>
                <a:spcPts val="4759"/>
              </a:lnSpc>
            </a:pPr>
            <a:endParaRPr lang="en-US" sz="3399">
              <a:solidFill>
                <a:srgbClr val="14274E"/>
              </a:solidFill>
              <a:latin typeface="Clear Sans"/>
              <a:ea typeface="Clear Sans"/>
              <a:cs typeface="Clear Sans"/>
              <a:sym typeface="Clear Sans"/>
            </a:endParaRPr>
          </a:p>
          <a:p>
            <a:pPr algn="l">
              <a:lnSpc>
                <a:spcPts val="4759"/>
              </a:lnSpc>
            </a:pPr>
            <a:endParaRPr lang="en-US" sz="3399">
              <a:solidFill>
                <a:srgbClr val="14274E"/>
              </a:solidFill>
              <a:latin typeface="Clear Sans"/>
              <a:ea typeface="Clear Sans"/>
              <a:cs typeface="Clear Sans"/>
              <a:sym typeface="Clear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274E"/>
        </a:solidFill>
        <a:effectLst/>
      </p:bgPr>
    </p:bg>
    <p:spTree>
      <p:nvGrpSpPr>
        <p:cNvPr id="1" name=""/>
        <p:cNvGrpSpPr/>
        <p:nvPr/>
      </p:nvGrpSpPr>
      <p:grpSpPr>
        <a:xfrm>
          <a:off x="0" y="0"/>
          <a:ext cx="0" cy="0"/>
          <a:chOff x="0" y="0"/>
          <a:chExt cx="0" cy="0"/>
        </a:xfrm>
      </p:grpSpPr>
      <p:sp>
        <p:nvSpPr>
          <p:cNvPr id="2" name="Freeform 2"/>
          <p:cNvSpPr/>
          <p:nvPr/>
        </p:nvSpPr>
        <p:spPr>
          <a:xfrm flipV="1">
            <a:off x="0" y="-57150"/>
            <a:ext cx="3657759" cy="3657759"/>
          </a:xfrm>
          <a:custGeom>
            <a:avLst/>
            <a:gdLst/>
            <a:ahLst/>
            <a:cxnLst/>
            <a:rect l="l" t="t" r="r" b="b"/>
            <a:pathLst>
              <a:path w="3657759" h="3657759">
                <a:moveTo>
                  <a:pt x="0" y="3657759"/>
                </a:moveTo>
                <a:lnTo>
                  <a:pt x="3657759" y="3657759"/>
                </a:lnTo>
                <a:lnTo>
                  <a:pt x="3657759" y="0"/>
                </a:lnTo>
                <a:lnTo>
                  <a:pt x="0" y="0"/>
                </a:lnTo>
                <a:lnTo>
                  <a:pt x="0" y="3657759"/>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flipV="1">
            <a:off x="13439929" y="0"/>
            <a:ext cx="4848071" cy="4114800"/>
          </a:xfrm>
          <a:custGeom>
            <a:avLst/>
            <a:gdLst/>
            <a:ahLst/>
            <a:cxnLst/>
            <a:rect l="l" t="t" r="r" b="b"/>
            <a:pathLst>
              <a:path w="4848071" h="4114800">
                <a:moveTo>
                  <a:pt x="4848071" y="4114800"/>
                </a:moveTo>
                <a:lnTo>
                  <a:pt x="0" y="4114800"/>
                </a:lnTo>
                <a:lnTo>
                  <a:pt x="0" y="0"/>
                </a:lnTo>
                <a:lnTo>
                  <a:pt x="4848071" y="0"/>
                </a:lnTo>
                <a:lnTo>
                  <a:pt x="4848071" y="4114800"/>
                </a:lnTo>
                <a:close/>
              </a:path>
            </a:pathLst>
          </a:custGeom>
          <a:blipFill>
            <a:blip r:embed="rId4">
              <a:alphaModFix amt="50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0" y="6172200"/>
            <a:ext cx="4848071" cy="4114800"/>
          </a:xfrm>
          <a:custGeom>
            <a:avLst/>
            <a:gdLst/>
            <a:ahLst/>
            <a:cxnLst/>
            <a:rect l="l" t="t" r="r" b="b"/>
            <a:pathLst>
              <a:path w="4848071" h="4114800">
                <a:moveTo>
                  <a:pt x="0" y="0"/>
                </a:moveTo>
                <a:lnTo>
                  <a:pt x="4848071" y="0"/>
                </a:lnTo>
                <a:lnTo>
                  <a:pt x="4848071" y="4114800"/>
                </a:lnTo>
                <a:lnTo>
                  <a:pt x="0" y="4114800"/>
                </a:lnTo>
                <a:lnTo>
                  <a:pt x="0" y="0"/>
                </a:lnTo>
                <a:close/>
              </a:path>
            </a:pathLst>
          </a:custGeom>
          <a:blipFill>
            <a:blip r:embed="rId4">
              <a:alphaModFix amt="51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flipH="1">
            <a:off x="14630241" y="6629241"/>
            <a:ext cx="3657759" cy="3657759"/>
          </a:xfrm>
          <a:custGeom>
            <a:avLst/>
            <a:gdLst/>
            <a:ahLst/>
            <a:cxnLst/>
            <a:rect l="l" t="t" r="r" b="b"/>
            <a:pathLst>
              <a:path w="3657759" h="3657759">
                <a:moveTo>
                  <a:pt x="3657759" y="0"/>
                </a:moveTo>
                <a:lnTo>
                  <a:pt x="0" y="0"/>
                </a:lnTo>
                <a:lnTo>
                  <a:pt x="0" y="3657759"/>
                </a:lnTo>
                <a:lnTo>
                  <a:pt x="3657759" y="3657759"/>
                </a:lnTo>
                <a:lnTo>
                  <a:pt x="365775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6" name="Group 6"/>
          <p:cNvGrpSpPr/>
          <p:nvPr/>
        </p:nvGrpSpPr>
        <p:grpSpPr>
          <a:xfrm>
            <a:off x="1028700" y="1048010"/>
            <a:ext cx="16230600" cy="8190981"/>
            <a:chOff x="0" y="0"/>
            <a:chExt cx="4274726" cy="2157295"/>
          </a:xfrm>
        </p:grpSpPr>
        <p:sp>
          <p:nvSpPr>
            <p:cNvPr id="7" name="Freeform 7"/>
            <p:cNvSpPr/>
            <p:nvPr/>
          </p:nvSpPr>
          <p:spPr>
            <a:xfrm>
              <a:off x="0" y="0"/>
              <a:ext cx="4274726" cy="2157295"/>
            </a:xfrm>
            <a:custGeom>
              <a:avLst/>
              <a:gdLst/>
              <a:ahLst/>
              <a:cxnLst/>
              <a:rect l="l" t="t" r="r" b="b"/>
              <a:pathLst>
                <a:path w="4274726" h="2157295">
                  <a:moveTo>
                    <a:pt x="24327" y="0"/>
                  </a:moveTo>
                  <a:lnTo>
                    <a:pt x="4250399" y="0"/>
                  </a:lnTo>
                  <a:cubicBezTo>
                    <a:pt x="4263834" y="0"/>
                    <a:pt x="4274726" y="10891"/>
                    <a:pt x="4274726" y="24327"/>
                  </a:cubicBezTo>
                  <a:lnTo>
                    <a:pt x="4274726" y="2132968"/>
                  </a:lnTo>
                  <a:cubicBezTo>
                    <a:pt x="4274726" y="2146404"/>
                    <a:pt x="4263834" y="2157295"/>
                    <a:pt x="4250399" y="2157295"/>
                  </a:cubicBezTo>
                  <a:lnTo>
                    <a:pt x="24327" y="2157295"/>
                  </a:lnTo>
                  <a:cubicBezTo>
                    <a:pt x="17875" y="2157295"/>
                    <a:pt x="11687" y="2154732"/>
                    <a:pt x="7125" y="2150170"/>
                  </a:cubicBezTo>
                  <a:cubicBezTo>
                    <a:pt x="2563" y="2145608"/>
                    <a:pt x="0" y="2139420"/>
                    <a:pt x="0" y="2132968"/>
                  </a:cubicBezTo>
                  <a:lnTo>
                    <a:pt x="0" y="24327"/>
                  </a:lnTo>
                  <a:cubicBezTo>
                    <a:pt x="0" y="10891"/>
                    <a:pt x="10891" y="0"/>
                    <a:pt x="24327" y="0"/>
                  </a:cubicBezTo>
                  <a:close/>
                </a:path>
              </a:pathLst>
            </a:custGeom>
            <a:solidFill>
              <a:srgbClr val="F1F6F9"/>
            </a:solidFill>
            <a:ln w="133350" cap="rnd">
              <a:solidFill>
                <a:srgbClr val="394867"/>
              </a:solidFill>
              <a:prstDash val="solid"/>
              <a:round/>
            </a:ln>
          </p:spPr>
          <p:txBody>
            <a:bodyPr/>
            <a:lstStyle/>
            <a:p>
              <a:endParaRPr lang="en-US"/>
            </a:p>
          </p:txBody>
        </p:sp>
        <p:sp>
          <p:nvSpPr>
            <p:cNvPr id="8" name="TextBox 8"/>
            <p:cNvSpPr txBox="1"/>
            <p:nvPr/>
          </p:nvSpPr>
          <p:spPr>
            <a:xfrm>
              <a:off x="0" y="-38100"/>
              <a:ext cx="4274726" cy="2195395"/>
            </a:xfrm>
            <a:prstGeom prst="rect">
              <a:avLst/>
            </a:prstGeom>
          </p:spPr>
          <p:txBody>
            <a:bodyPr lIns="50800" tIns="50800" rIns="50800" bIns="50800" rtlCol="0" anchor="ctr"/>
            <a:lstStyle/>
            <a:p>
              <a:pPr algn="ctr">
                <a:lnSpc>
                  <a:spcPts val="2659"/>
                </a:lnSpc>
                <a:spcBef>
                  <a:spcPct val="0"/>
                </a:spcBef>
              </a:pPr>
              <a:endParaRPr/>
            </a:p>
          </p:txBody>
        </p:sp>
      </p:grpSp>
      <p:graphicFrame>
        <p:nvGraphicFramePr>
          <p:cNvPr id="9" name="Table 9"/>
          <p:cNvGraphicFramePr>
            <a:graphicFrameLocks noGrp="1"/>
          </p:cNvGraphicFramePr>
          <p:nvPr>
            <p:extLst>
              <p:ext uri="{D42A27DB-BD31-4B8C-83A1-F6EECF244321}">
                <p14:modId xmlns:p14="http://schemas.microsoft.com/office/powerpoint/2010/main" val="399598062"/>
              </p:ext>
            </p:extLst>
          </p:nvPr>
        </p:nvGraphicFramePr>
        <p:xfrm>
          <a:off x="1828879" y="3600609"/>
          <a:ext cx="14630241" cy="4461847"/>
        </p:xfrm>
        <a:graphic>
          <a:graphicData uri="http://schemas.openxmlformats.org/drawingml/2006/table">
            <a:tbl>
              <a:tblPr/>
              <a:tblGrid>
                <a:gridCol w="4851656">
                  <a:extLst>
                    <a:ext uri="{9D8B030D-6E8A-4147-A177-3AD203B41FA5}">
                      <a16:colId xmlns:a16="http://schemas.microsoft.com/office/drawing/2014/main" val="20000"/>
                    </a:ext>
                  </a:extLst>
                </a:gridCol>
                <a:gridCol w="4851656">
                  <a:extLst>
                    <a:ext uri="{9D8B030D-6E8A-4147-A177-3AD203B41FA5}">
                      <a16:colId xmlns:a16="http://schemas.microsoft.com/office/drawing/2014/main" val="20001"/>
                    </a:ext>
                  </a:extLst>
                </a:gridCol>
                <a:gridCol w="4926929">
                  <a:extLst>
                    <a:ext uri="{9D8B030D-6E8A-4147-A177-3AD203B41FA5}">
                      <a16:colId xmlns:a16="http://schemas.microsoft.com/office/drawing/2014/main" val="20002"/>
                    </a:ext>
                  </a:extLst>
                </a:gridCol>
              </a:tblGrid>
              <a:tr h="1095481">
                <a:tc>
                  <a:txBody>
                    <a:bodyPr/>
                    <a:lstStyle/>
                    <a:p>
                      <a:pPr algn="ctr">
                        <a:lnSpc>
                          <a:spcPts val="2659"/>
                        </a:lnSpc>
                        <a:defRPr/>
                      </a:pPr>
                      <a:r>
                        <a:rPr lang="en-US" sz="3600" b="1" dirty="0" err="1">
                          <a:solidFill>
                            <a:srgbClr val="000000"/>
                          </a:solidFill>
                          <a:latin typeface="Clear Sans"/>
                          <a:ea typeface="Clear Sans"/>
                          <a:cs typeface="Clear Sans"/>
                          <a:sym typeface="Clear Sans"/>
                        </a:rPr>
                        <a:t>Tiêu</a:t>
                      </a:r>
                      <a:r>
                        <a:rPr lang="en-US" sz="3600" b="1" dirty="0">
                          <a:solidFill>
                            <a:srgbClr val="000000"/>
                          </a:solidFill>
                          <a:latin typeface="Clear Sans"/>
                          <a:ea typeface="Clear Sans"/>
                          <a:cs typeface="Clear Sans"/>
                          <a:sym typeface="Clear Sans"/>
                        </a:rPr>
                        <a:t> </a:t>
                      </a:r>
                      <a:r>
                        <a:rPr lang="en-US" sz="3600" b="1" dirty="0" err="1">
                          <a:solidFill>
                            <a:srgbClr val="000000"/>
                          </a:solidFill>
                          <a:latin typeface="Clear Sans"/>
                          <a:ea typeface="Clear Sans"/>
                          <a:cs typeface="Clear Sans"/>
                          <a:sym typeface="Clear Sans"/>
                        </a:rPr>
                        <a:t>chí</a:t>
                      </a:r>
                      <a:endParaRPr lang="en-US" sz="3600" b="1"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620"/>
                        </a:lnSpc>
                        <a:defRPr/>
                      </a:pPr>
                      <a:r>
                        <a:rPr lang="en-US" sz="3600" dirty="0" err="1">
                          <a:solidFill>
                            <a:srgbClr val="000000"/>
                          </a:solidFill>
                          <a:latin typeface="Clear Sans"/>
                          <a:ea typeface="Clear Sans"/>
                          <a:cs typeface="Clear Sans"/>
                          <a:sym typeface="Clear Sans"/>
                        </a:rPr>
                        <a:t>YOLOv5</a:t>
                      </a:r>
                      <a:endParaRPr lang="en-US" sz="12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620"/>
                        </a:lnSpc>
                        <a:defRPr/>
                      </a:pPr>
                      <a:r>
                        <a:rPr lang="en-US" sz="3600">
                          <a:solidFill>
                            <a:srgbClr val="000000"/>
                          </a:solidFill>
                          <a:latin typeface="Clear Sans"/>
                          <a:ea typeface="Clear Sans"/>
                          <a:cs typeface="Clear Sans"/>
                          <a:sym typeface="Clear Sans"/>
                        </a:rPr>
                        <a:t>YOLOv8</a:t>
                      </a:r>
                      <a:endParaRPr lang="en-US" sz="12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28214">
                <a:tc>
                  <a:txBody>
                    <a:bodyPr/>
                    <a:lstStyle/>
                    <a:p>
                      <a:pPr algn="ctr">
                        <a:lnSpc>
                          <a:spcPts val="2800"/>
                        </a:lnSpc>
                        <a:defRPr/>
                      </a:pPr>
                      <a:r>
                        <a:rPr lang="en-US" sz="2400" b="1" dirty="0" err="1">
                          <a:solidFill>
                            <a:srgbClr val="000000"/>
                          </a:solidFill>
                          <a:latin typeface="Clear Sans"/>
                          <a:ea typeface="Clear Sans"/>
                          <a:cs typeface="Clear Sans"/>
                          <a:sym typeface="Clear Sans"/>
                        </a:rPr>
                        <a:t>Cách</a:t>
                      </a:r>
                      <a:r>
                        <a:rPr lang="en-US" sz="2400" b="1" dirty="0">
                          <a:solidFill>
                            <a:srgbClr val="000000"/>
                          </a:solidFill>
                          <a:latin typeface="Clear Sans"/>
                          <a:ea typeface="Clear Sans"/>
                          <a:cs typeface="Clear Sans"/>
                          <a:sym typeface="Clear Sans"/>
                        </a:rPr>
                        <a:t> </a:t>
                      </a:r>
                      <a:r>
                        <a:rPr lang="en-US" sz="2400" b="1" dirty="0" err="1">
                          <a:solidFill>
                            <a:srgbClr val="000000"/>
                          </a:solidFill>
                          <a:latin typeface="Clear Sans"/>
                          <a:ea typeface="Clear Sans"/>
                          <a:cs typeface="Clear Sans"/>
                          <a:sym typeface="Clear Sans"/>
                        </a:rPr>
                        <a:t>sử</a:t>
                      </a:r>
                      <a:r>
                        <a:rPr lang="en-US" sz="2400" b="1" dirty="0">
                          <a:solidFill>
                            <a:srgbClr val="000000"/>
                          </a:solidFill>
                          <a:latin typeface="Clear Sans"/>
                          <a:ea typeface="Clear Sans"/>
                          <a:cs typeface="Clear Sans"/>
                          <a:sym typeface="Clear Sans"/>
                        </a:rPr>
                        <a:t> </a:t>
                      </a:r>
                      <a:r>
                        <a:rPr lang="en-US" sz="2400" b="1" dirty="0" err="1">
                          <a:solidFill>
                            <a:srgbClr val="000000"/>
                          </a:solidFill>
                          <a:latin typeface="Clear Sans"/>
                          <a:ea typeface="Clear Sans"/>
                          <a:cs typeface="Clear Sans"/>
                          <a:sym typeface="Clear Sans"/>
                        </a:rPr>
                        <a:t>dụng</a:t>
                      </a:r>
                      <a:endParaRPr lang="en-US" sz="1200" b="1"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400" dirty="0" err="1">
                          <a:solidFill>
                            <a:srgbClr val="000000"/>
                          </a:solidFill>
                          <a:latin typeface="Clear Sans"/>
                          <a:ea typeface="Clear Sans"/>
                          <a:cs typeface="Clear Sans"/>
                          <a:sym typeface="Clear Sans"/>
                        </a:rPr>
                        <a:t>Phải</a:t>
                      </a:r>
                      <a:r>
                        <a:rPr lang="en-US" sz="2400" dirty="0">
                          <a:solidFill>
                            <a:srgbClr val="000000"/>
                          </a:solidFill>
                          <a:latin typeface="Clear Sans"/>
                          <a:ea typeface="Clear Sans"/>
                          <a:cs typeface="Clear Sans"/>
                          <a:sym typeface="Clear Sans"/>
                        </a:rPr>
                        <a:t> import </a:t>
                      </a:r>
                      <a:r>
                        <a:rPr lang="en-US" sz="2400" dirty="0" err="1">
                          <a:solidFill>
                            <a:srgbClr val="000000"/>
                          </a:solidFill>
                          <a:latin typeface="Clear Sans"/>
                          <a:ea typeface="Clear Sans"/>
                          <a:cs typeface="Clear Sans"/>
                          <a:sym typeface="Clear Sans"/>
                        </a:rPr>
                        <a:t>từ</a:t>
                      </a:r>
                      <a:r>
                        <a:rPr lang="en-US" sz="2400" dirty="0">
                          <a:solidFill>
                            <a:srgbClr val="000000"/>
                          </a:solidFill>
                          <a:latin typeface="Clear Sans"/>
                          <a:ea typeface="Clear Sans"/>
                          <a:cs typeface="Clear Sans"/>
                          <a:sym typeface="Clear Sans"/>
                        </a:rPr>
                        <a:t> repo </a:t>
                      </a:r>
                      <a:r>
                        <a:rPr lang="en-US" sz="2400" dirty="0" err="1">
                          <a:solidFill>
                            <a:srgbClr val="000000"/>
                          </a:solidFill>
                          <a:latin typeface="Clear Sans"/>
                          <a:ea typeface="Clear Sans"/>
                          <a:cs typeface="Clear Sans"/>
                          <a:sym typeface="Clear Sans"/>
                        </a:rPr>
                        <a:t>YOLOv5</a:t>
                      </a:r>
                      <a:endParaRPr lang="en-US" sz="12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400">
                          <a:solidFill>
                            <a:srgbClr val="000000"/>
                          </a:solidFill>
                          <a:latin typeface="Clear Sans"/>
                          <a:ea typeface="Clear Sans"/>
                          <a:cs typeface="Clear Sans"/>
                          <a:sym typeface="Clear Sans"/>
                        </a:rPr>
                        <a:t>Dùng trực tiếp với thư viện ultralytics</a:t>
                      </a:r>
                      <a:endParaRPr lang="en-US" sz="12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81966">
                <a:tc>
                  <a:txBody>
                    <a:bodyPr/>
                    <a:lstStyle/>
                    <a:p>
                      <a:pPr algn="ctr">
                        <a:lnSpc>
                          <a:spcPts val="2659"/>
                        </a:lnSpc>
                        <a:defRPr/>
                      </a:pPr>
                      <a:r>
                        <a:rPr lang="en-US" sz="2400" b="1" dirty="0" err="1">
                          <a:solidFill>
                            <a:srgbClr val="000000"/>
                          </a:solidFill>
                          <a:latin typeface="Clear Sans"/>
                          <a:ea typeface="Clear Sans"/>
                          <a:cs typeface="Clear Sans"/>
                          <a:sym typeface="Clear Sans"/>
                        </a:rPr>
                        <a:t>Tích</a:t>
                      </a:r>
                      <a:r>
                        <a:rPr lang="en-US" sz="2400" b="1" dirty="0">
                          <a:solidFill>
                            <a:srgbClr val="000000"/>
                          </a:solidFill>
                          <a:latin typeface="Clear Sans"/>
                          <a:ea typeface="Clear Sans"/>
                          <a:cs typeface="Clear Sans"/>
                          <a:sym typeface="Clear Sans"/>
                        </a:rPr>
                        <a:t> </a:t>
                      </a:r>
                      <a:r>
                        <a:rPr lang="en-US" sz="2400" b="1" dirty="0" err="1">
                          <a:solidFill>
                            <a:srgbClr val="000000"/>
                          </a:solidFill>
                          <a:latin typeface="Clear Sans"/>
                          <a:ea typeface="Clear Sans"/>
                          <a:cs typeface="Clear Sans"/>
                          <a:sym typeface="Clear Sans"/>
                        </a:rPr>
                        <a:t>hợp</a:t>
                      </a:r>
                      <a:r>
                        <a:rPr lang="en-US" sz="2400" b="1" dirty="0">
                          <a:solidFill>
                            <a:srgbClr val="000000"/>
                          </a:solidFill>
                          <a:latin typeface="Clear Sans"/>
                          <a:ea typeface="Clear Sans"/>
                          <a:cs typeface="Clear Sans"/>
                          <a:sym typeface="Clear Sans"/>
                        </a:rPr>
                        <a:t> </a:t>
                      </a:r>
                      <a:r>
                        <a:rPr lang="en-US" sz="2400" b="1" dirty="0" err="1">
                          <a:solidFill>
                            <a:srgbClr val="000000"/>
                          </a:solidFill>
                          <a:latin typeface="Clear Sans"/>
                          <a:ea typeface="Clear Sans"/>
                          <a:cs typeface="Clear Sans"/>
                          <a:sym typeface="Clear Sans"/>
                        </a:rPr>
                        <a:t>tính</a:t>
                      </a:r>
                      <a:r>
                        <a:rPr lang="en-US" sz="2400" b="1" dirty="0">
                          <a:solidFill>
                            <a:srgbClr val="000000"/>
                          </a:solidFill>
                          <a:latin typeface="Clear Sans"/>
                          <a:ea typeface="Clear Sans"/>
                          <a:cs typeface="Clear Sans"/>
                          <a:sym typeface="Clear Sans"/>
                        </a:rPr>
                        <a:t> </a:t>
                      </a:r>
                      <a:r>
                        <a:rPr lang="en-US" sz="2400" b="1" dirty="0" err="1">
                          <a:solidFill>
                            <a:srgbClr val="000000"/>
                          </a:solidFill>
                          <a:latin typeface="Clear Sans"/>
                          <a:ea typeface="Clear Sans"/>
                          <a:cs typeface="Clear Sans"/>
                          <a:sym typeface="Clear Sans"/>
                        </a:rPr>
                        <a:t>năng</a:t>
                      </a:r>
                      <a:endParaRPr lang="en-US" sz="2400" b="1"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400" dirty="0" err="1">
                          <a:solidFill>
                            <a:srgbClr val="000000"/>
                          </a:solidFill>
                          <a:latin typeface="Clear Sans"/>
                          <a:ea typeface="Clear Sans"/>
                          <a:cs typeface="Clear Sans"/>
                          <a:sym typeface="Clear Sans"/>
                        </a:rPr>
                        <a:t>Chỉ</a:t>
                      </a:r>
                      <a:r>
                        <a:rPr lang="en-US" sz="2400" dirty="0">
                          <a:solidFill>
                            <a:srgbClr val="000000"/>
                          </a:solidFill>
                          <a:latin typeface="Clear Sans"/>
                          <a:ea typeface="Clear Sans"/>
                          <a:cs typeface="Clear Sans"/>
                          <a:sym typeface="Clear Sans"/>
                        </a:rPr>
                        <a:t> </a:t>
                      </a:r>
                      <a:r>
                        <a:rPr lang="en-US" sz="2400" dirty="0" err="1">
                          <a:solidFill>
                            <a:srgbClr val="000000"/>
                          </a:solidFill>
                          <a:latin typeface="Clear Sans"/>
                          <a:ea typeface="Clear Sans"/>
                          <a:cs typeface="Clear Sans"/>
                          <a:sym typeface="Clear Sans"/>
                        </a:rPr>
                        <a:t>có</a:t>
                      </a:r>
                      <a:r>
                        <a:rPr lang="en-US" sz="2400" dirty="0">
                          <a:solidFill>
                            <a:srgbClr val="000000"/>
                          </a:solidFill>
                          <a:latin typeface="Clear Sans"/>
                          <a:ea typeface="Clear Sans"/>
                          <a:cs typeface="Clear Sans"/>
                          <a:sym typeface="Clear Sans"/>
                        </a:rPr>
                        <a:t> object detection</a:t>
                      </a:r>
                      <a:endParaRPr lang="en-US" sz="12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400">
                          <a:solidFill>
                            <a:srgbClr val="000000"/>
                          </a:solidFill>
                          <a:latin typeface="Clear Sans"/>
                          <a:ea typeface="Clear Sans"/>
                          <a:cs typeface="Clear Sans"/>
                          <a:sym typeface="Clear Sans"/>
                        </a:rPr>
                        <a:t>Có detection, segmentation, pose, tracking</a:t>
                      </a:r>
                      <a:endParaRPr lang="en-US" sz="12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28214">
                <a:tc>
                  <a:txBody>
                    <a:bodyPr/>
                    <a:lstStyle/>
                    <a:p>
                      <a:pPr algn="ctr">
                        <a:lnSpc>
                          <a:spcPts val="2800"/>
                        </a:lnSpc>
                        <a:defRPr/>
                      </a:pPr>
                      <a:r>
                        <a:rPr lang="en-US" sz="2400" b="1" dirty="0">
                          <a:solidFill>
                            <a:srgbClr val="000000"/>
                          </a:solidFill>
                          <a:latin typeface="Clear Sans"/>
                          <a:ea typeface="Clear Sans"/>
                          <a:cs typeface="Clear Sans"/>
                          <a:sym typeface="Clear Sans"/>
                        </a:rPr>
                        <a:t> </a:t>
                      </a:r>
                      <a:r>
                        <a:rPr lang="en-US" sz="2400" b="1" dirty="0" err="1">
                          <a:solidFill>
                            <a:srgbClr val="000000"/>
                          </a:solidFill>
                          <a:latin typeface="Clear Sans"/>
                          <a:ea typeface="Clear Sans"/>
                          <a:cs typeface="Clear Sans"/>
                          <a:sym typeface="Clear Sans"/>
                        </a:rPr>
                        <a:t>Tốc</a:t>
                      </a:r>
                      <a:r>
                        <a:rPr lang="en-US" sz="2400" b="1" dirty="0">
                          <a:solidFill>
                            <a:srgbClr val="000000"/>
                          </a:solidFill>
                          <a:latin typeface="Clear Sans"/>
                          <a:ea typeface="Clear Sans"/>
                          <a:cs typeface="Clear Sans"/>
                          <a:sym typeface="Clear Sans"/>
                        </a:rPr>
                        <a:t> </a:t>
                      </a:r>
                      <a:r>
                        <a:rPr lang="en-US" sz="2400" b="1" dirty="0" err="1">
                          <a:solidFill>
                            <a:srgbClr val="000000"/>
                          </a:solidFill>
                          <a:latin typeface="Clear Sans"/>
                          <a:ea typeface="Clear Sans"/>
                          <a:cs typeface="Clear Sans"/>
                          <a:sym typeface="Clear Sans"/>
                        </a:rPr>
                        <a:t>độ</a:t>
                      </a:r>
                      <a:r>
                        <a:rPr lang="en-US" sz="2400" b="1" dirty="0">
                          <a:solidFill>
                            <a:srgbClr val="000000"/>
                          </a:solidFill>
                          <a:latin typeface="Clear Sans"/>
                          <a:ea typeface="Clear Sans"/>
                          <a:cs typeface="Clear Sans"/>
                          <a:sym typeface="Clear Sans"/>
                        </a:rPr>
                        <a:t> &amp; </a:t>
                      </a:r>
                      <a:r>
                        <a:rPr lang="en-US" sz="2400" b="1" dirty="0" err="1">
                          <a:solidFill>
                            <a:srgbClr val="000000"/>
                          </a:solidFill>
                          <a:latin typeface="Clear Sans"/>
                          <a:ea typeface="Clear Sans"/>
                          <a:cs typeface="Clear Sans"/>
                          <a:sym typeface="Clear Sans"/>
                        </a:rPr>
                        <a:t>hiệu</a:t>
                      </a:r>
                      <a:r>
                        <a:rPr lang="en-US" sz="2400" b="1" dirty="0">
                          <a:solidFill>
                            <a:srgbClr val="000000"/>
                          </a:solidFill>
                          <a:latin typeface="Clear Sans"/>
                          <a:ea typeface="Clear Sans"/>
                          <a:cs typeface="Clear Sans"/>
                          <a:sym typeface="Clear Sans"/>
                        </a:rPr>
                        <a:t> </a:t>
                      </a:r>
                      <a:r>
                        <a:rPr lang="en-US" sz="2400" b="1" dirty="0" err="1">
                          <a:solidFill>
                            <a:srgbClr val="000000"/>
                          </a:solidFill>
                          <a:latin typeface="Clear Sans"/>
                          <a:ea typeface="Clear Sans"/>
                          <a:cs typeface="Clear Sans"/>
                          <a:sym typeface="Clear Sans"/>
                        </a:rPr>
                        <a:t>suất</a:t>
                      </a:r>
                      <a:endParaRPr lang="en-US" sz="1200" b="1"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400">
                          <a:solidFill>
                            <a:srgbClr val="000000"/>
                          </a:solidFill>
                          <a:latin typeface="Clear Sans"/>
                          <a:ea typeface="Clear Sans"/>
                          <a:cs typeface="Clear Sans"/>
                          <a:sym typeface="Clear Sans"/>
                        </a:rPr>
                        <a:t>Tốt</a:t>
                      </a:r>
                      <a:endParaRPr lang="en-US" sz="12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400" dirty="0">
                          <a:solidFill>
                            <a:srgbClr val="000000"/>
                          </a:solidFill>
                          <a:latin typeface="Clear Sans"/>
                          <a:ea typeface="Clear Sans"/>
                          <a:cs typeface="Clear Sans"/>
                          <a:sym typeface="Clear Sans"/>
                        </a:rPr>
                        <a:t>	</a:t>
                      </a:r>
                      <a:r>
                        <a:rPr lang="en-US" sz="2400" dirty="0" err="1">
                          <a:solidFill>
                            <a:srgbClr val="000000"/>
                          </a:solidFill>
                          <a:latin typeface="Clear Sans"/>
                          <a:ea typeface="Clear Sans"/>
                          <a:cs typeface="Clear Sans"/>
                          <a:sym typeface="Clear Sans"/>
                        </a:rPr>
                        <a:t>Tốt</a:t>
                      </a:r>
                      <a:r>
                        <a:rPr lang="en-US" sz="2400" dirty="0">
                          <a:solidFill>
                            <a:srgbClr val="000000"/>
                          </a:solidFill>
                          <a:latin typeface="Clear Sans"/>
                          <a:ea typeface="Clear Sans"/>
                          <a:cs typeface="Clear Sans"/>
                          <a:sym typeface="Clear Sans"/>
                        </a:rPr>
                        <a:t> </a:t>
                      </a:r>
                      <a:r>
                        <a:rPr lang="en-US" sz="2400" dirty="0" err="1">
                          <a:solidFill>
                            <a:srgbClr val="000000"/>
                          </a:solidFill>
                          <a:latin typeface="Clear Sans"/>
                          <a:ea typeface="Clear Sans"/>
                          <a:cs typeface="Clear Sans"/>
                          <a:sym typeface="Clear Sans"/>
                        </a:rPr>
                        <a:t>hơn</a:t>
                      </a:r>
                      <a:r>
                        <a:rPr lang="en-US" sz="2400" dirty="0">
                          <a:solidFill>
                            <a:srgbClr val="000000"/>
                          </a:solidFill>
                          <a:latin typeface="Clear Sans"/>
                          <a:ea typeface="Clear Sans"/>
                          <a:cs typeface="Clear Sans"/>
                          <a:sym typeface="Clear Sans"/>
                        </a:rPr>
                        <a:t>, </a:t>
                      </a:r>
                      <a:r>
                        <a:rPr lang="en-US" sz="2400" dirty="0" err="1">
                          <a:solidFill>
                            <a:srgbClr val="000000"/>
                          </a:solidFill>
                          <a:latin typeface="Clear Sans"/>
                          <a:ea typeface="Clear Sans"/>
                          <a:cs typeface="Clear Sans"/>
                          <a:sym typeface="Clear Sans"/>
                        </a:rPr>
                        <a:t>nhẹ</a:t>
                      </a:r>
                      <a:r>
                        <a:rPr lang="en-US" sz="2400" dirty="0">
                          <a:solidFill>
                            <a:srgbClr val="000000"/>
                          </a:solidFill>
                          <a:latin typeface="Clear Sans"/>
                          <a:ea typeface="Clear Sans"/>
                          <a:cs typeface="Clear Sans"/>
                          <a:sym typeface="Clear Sans"/>
                        </a:rPr>
                        <a:t> </a:t>
                      </a:r>
                      <a:r>
                        <a:rPr lang="en-US" sz="2400" dirty="0" err="1">
                          <a:solidFill>
                            <a:srgbClr val="000000"/>
                          </a:solidFill>
                          <a:latin typeface="Clear Sans"/>
                          <a:ea typeface="Clear Sans"/>
                          <a:cs typeface="Clear Sans"/>
                          <a:sym typeface="Clear Sans"/>
                        </a:rPr>
                        <a:t>và</a:t>
                      </a:r>
                      <a:r>
                        <a:rPr lang="en-US" sz="2400" dirty="0">
                          <a:solidFill>
                            <a:srgbClr val="000000"/>
                          </a:solidFill>
                          <a:latin typeface="Clear Sans"/>
                          <a:ea typeface="Clear Sans"/>
                          <a:cs typeface="Clear Sans"/>
                          <a:sym typeface="Clear Sans"/>
                        </a:rPr>
                        <a:t> </a:t>
                      </a:r>
                      <a:r>
                        <a:rPr lang="en-US" sz="2400" dirty="0" err="1">
                          <a:solidFill>
                            <a:srgbClr val="000000"/>
                          </a:solidFill>
                          <a:latin typeface="Clear Sans"/>
                          <a:ea typeface="Clear Sans"/>
                          <a:cs typeface="Clear Sans"/>
                          <a:sym typeface="Clear Sans"/>
                        </a:rPr>
                        <a:t>chính</a:t>
                      </a:r>
                      <a:r>
                        <a:rPr lang="en-US" sz="2400" dirty="0">
                          <a:solidFill>
                            <a:srgbClr val="000000"/>
                          </a:solidFill>
                          <a:latin typeface="Clear Sans"/>
                          <a:ea typeface="Clear Sans"/>
                          <a:cs typeface="Clear Sans"/>
                          <a:sym typeface="Clear Sans"/>
                        </a:rPr>
                        <a:t> </a:t>
                      </a:r>
                      <a:r>
                        <a:rPr lang="en-US" sz="2400" dirty="0" err="1">
                          <a:solidFill>
                            <a:srgbClr val="000000"/>
                          </a:solidFill>
                          <a:latin typeface="Clear Sans"/>
                          <a:ea typeface="Clear Sans"/>
                          <a:cs typeface="Clear Sans"/>
                          <a:sym typeface="Clear Sans"/>
                        </a:rPr>
                        <a:t>xác</a:t>
                      </a:r>
                      <a:r>
                        <a:rPr lang="en-US" sz="2400" dirty="0">
                          <a:solidFill>
                            <a:srgbClr val="000000"/>
                          </a:solidFill>
                          <a:latin typeface="Clear Sans"/>
                          <a:ea typeface="Clear Sans"/>
                          <a:cs typeface="Clear Sans"/>
                          <a:sym typeface="Clear Sans"/>
                        </a:rPr>
                        <a:t> </a:t>
                      </a:r>
                      <a:r>
                        <a:rPr lang="en-US" sz="2400" dirty="0" err="1">
                          <a:solidFill>
                            <a:srgbClr val="000000"/>
                          </a:solidFill>
                          <a:latin typeface="Clear Sans"/>
                          <a:ea typeface="Clear Sans"/>
                          <a:cs typeface="Clear Sans"/>
                          <a:sym typeface="Clear Sans"/>
                        </a:rPr>
                        <a:t>hơn</a:t>
                      </a:r>
                      <a:endParaRPr lang="en-US" sz="12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TextBox 10"/>
          <p:cNvSpPr txBox="1"/>
          <p:nvPr/>
        </p:nvSpPr>
        <p:spPr>
          <a:xfrm>
            <a:off x="1716554" y="1787685"/>
            <a:ext cx="14742567" cy="1812924"/>
          </a:xfrm>
          <a:prstGeom prst="rect">
            <a:avLst/>
          </a:prstGeom>
        </p:spPr>
        <p:txBody>
          <a:bodyPr lIns="0" tIns="0" rIns="0" bIns="0" rtlCol="0" anchor="t">
            <a:spAutoFit/>
          </a:bodyPr>
          <a:lstStyle/>
          <a:p>
            <a:pPr algn="ctr">
              <a:lnSpc>
                <a:spcPts val="6799"/>
              </a:lnSpc>
            </a:pPr>
            <a:r>
              <a:rPr lang="en-US" sz="8499" b="1">
                <a:solidFill>
                  <a:srgbClr val="14274E"/>
                </a:solidFill>
                <a:latin typeface="Clear Sans Bold"/>
                <a:ea typeface="Clear Sans Bold"/>
                <a:cs typeface="Clear Sans Bold"/>
                <a:sym typeface="Clear Sans Bold"/>
              </a:rPr>
              <a:t>So sánh </a:t>
            </a:r>
          </a:p>
          <a:p>
            <a:pPr algn="ctr">
              <a:lnSpc>
                <a:spcPts val="6799"/>
              </a:lnSpc>
            </a:pPr>
            <a:endParaRPr lang="en-US" sz="8499" b="1">
              <a:solidFill>
                <a:srgbClr val="14274E"/>
              </a:solidFill>
              <a:latin typeface="Clear Sans Bold"/>
              <a:ea typeface="Clear Sans Bold"/>
              <a:cs typeface="Clear Sans Bold"/>
              <a:sym typeface="Clear Sans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274E"/>
        </a:solidFill>
        <a:effectLst/>
      </p:bgPr>
    </p:bg>
    <p:spTree>
      <p:nvGrpSpPr>
        <p:cNvPr id="1" name=""/>
        <p:cNvGrpSpPr/>
        <p:nvPr/>
      </p:nvGrpSpPr>
      <p:grpSpPr>
        <a:xfrm>
          <a:off x="0" y="0"/>
          <a:ext cx="0" cy="0"/>
          <a:chOff x="0" y="0"/>
          <a:chExt cx="0" cy="0"/>
        </a:xfrm>
      </p:grpSpPr>
      <p:sp>
        <p:nvSpPr>
          <p:cNvPr id="2" name="Freeform 2"/>
          <p:cNvSpPr/>
          <p:nvPr/>
        </p:nvSpPr>
        <p:spPr>
          <a:xfrm flipV="1">
            <a:off x="0" y="-57150"/>
            <a:ext cx="3657759" cy="3657759"/>
          </a:xfrm>
          <a:custGeom>
            <a:avLst/>
            <a:gdLst/>
            <a:ahLst/>
            <a:cxnLst/>
            <a:rect l="l" t="t" r="r" b="b"/>
            <a:pathLst>
              <a:path w="3657759" h="3657759">
                <a:moveTo>
                  <a:pt x="0" y="3657759"/>
                </a:moveTo>
                <a:lnTo>
                  <a:pt x="3657759" y="3657759"/>
                </a:lnTo>
                <a:lnTo>
                  <a:pt x="3657759" y="0"/>
                </a:lnTo>
                <a:lnTo>
                  <a:pt x="0" y="0"/>
                </a:lnTo>
                <a:lnTo>
                  <a:pt x="0" y="3657759"/>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flipV="1">
            <a:off x="13439929" y="0"/>
            <a:ext cx="4848071" cy="4114800"/>
          </a:xfrm>
          <a:custGeom>
            <a:avLst/>
            <a:gdLst/>
            <a:ahLst/>
            <a:cxnLst/>
            <a:rect l="l" t="t" r="r" b="b"/>
            <a:pathLst>
              <a:path w="4848071" h="4114800">
                <a:moveTo>
                  <a:pt x="4848071" y="4114800"/>
                </a:moveTo>
                <a:lnTo>
                  <a:pt x="0" y="4114800"/>
                </a:lnTo>
                <a:lnTo>
                  <a:pt x="0" y="0"/>
                </a:lnTo>
                <a:lnTo>
                  <a:pt x="4848071" y="0"/>
                </a:lnTo>
                <a:lnTo>
                  <a:pt x="4848071" y="4114800"/>
                </a:lnTo>
                <a:close/>
              </a:path>
            </a:pathLst>
          </a:custGeom>
          <a:blipFill>
            <a:blip r:embed="rId4">
              <a:alphaModFix amt="50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0" y="6172200"/>
            <a:ext cx="4848071" cy="4114800"/>
          </a:xfrm>
          <a:custGeom>
            <a:avLst/>
            <a:gdLst/>
            <a:ahLst/>
            <a:cxnLst/>
            <a:rect l="l" t="t" r="r" b="b"/>
            <a:pathLst>
              <a:path w="4848071" h="4114800">
                <a:moveTo>
                  <a:pt x="0" y="0"/>
                </a:moveTo>
                <a:lnTo>
                  <a:pt x="4848071" y="0"/>
                </a:lnTo>
                <a:lnTo>
                  <a:pt x="4848071" y="4114800"/>
                </a:lnTo>
                <a:lnTo>
                  <a:pt x="0" y="4114800"/>
                </a:lnTo>
                <a:lnTo>
                  <a:pt x="0" y="0"/>
                </a:lnTo>
                <a:close/>
              </a:path>
            </a:pathLst>
          </a:custGeom>
          <a:blipFill>
            <a:blip r:embed="rId4">
              <a:alphaModFix amt="51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flipH="1">
            <a:off x="14630241" y="6629241"/>
            <a:ext cx="3657759" cy="3657759"/>
          </a:xfrm>
          <a:custGeom>
            <a:avLst/>
            <a:gdLst/>
            <a:ahLst/>
            <a:cxnLst/>
            <a:rect l="l" t="t" r="r" b="b"/>
            <a:pathLst>
              <a:path w="3657759" h="3657759">
                <a:moveTo>
                  <a:pt x="3657759" y="0"/>
                </a:moveTo>
                <a:lnTo>
                  <a:pt x="0" y="0"/>
                </a:lnTo>
                <a:lnTo>
                  <a:pt x="0" y="3657759"/>
                </a:lnTo>
                <a:lnTo>
                  <a:pt x="3657759" y="3657759"/>
                </a:lnTo>
                <a:lnTo>
                  <a:pt x="3657759"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6" name="Group 6"/>
          <p:cNvGrpSpPr/>
          <p:nvPr/>
        </p:nvGrpSpPr>
        <p:grpSpPr>
          <a:xfrm>
            <a:off x="1028700" y="1067319"/>
            <a:ext cx="16230600" cy="8190981"/>
            <a:chOff x="0" y="0"/>
            <a:chExt cx="4274726" cy="2157295"/>
          </a:xfrm>
        </p:grpSpPr>
        <p:sp>
          <p:nvSpPr>
            <p:cNvPr id="7" name="Freeform 7"/>
            <p:cNvSpPr/>
            <p:nvPr/>
          </p:nvSpPr>
          <p:spPr>
            <a:xfrm>
              <a:off x="0" y="0"/>
              <a:ext cx="4274726" cy="2157295"/>
            </a:xfrm>
            <a:custGeom>
              <a:avLst/>
              <a:gdLst/>
              <a:ahLst/>
              <a:cxnLst/>
              <a:rect l="l" t="t" r="r" b="b"/>
              <a:pathLst>
                <a:path w="4274726" h="2157295">
                  <a:moveTo>
                    <a:pt x="24327" y="0"/>
                  </a:moveTo>
                  <a:lnTo>
                    <a:pt x="4250399" y="0"/>
                  </a:lnTo>
                  <a:cubicBezTo>
                    <a:pt x="4263834" y="0"/>
                    <a:pt x="4274726" y="10891"/>
                    <a:pt x="4274726" y="24327"/>
                  </a:cubicBezTo>
                  <a:lnTo>
                    <a:pt x="4274726" y="2132968"/>
                  </a:lnTo>
                  <a:cubicBezTo>
                    <a:pt x="4274726" y="2146404"/>
                    <a:pt x="4263834" y="2157295"/>
                    <a:pt x="4250399" y="2157295"/>
                  </a:cubicBezTo>
                  <a:lnTo>
                    <a:pt x="24327" y="2157295"/>
                  </a:lnTo>
                  <a:cubicBezTo>
                    <a:pt x="17875" y="2157295"/>
                    <a:pt x="11687" y="2154732"/>
                    <a:pt x="7125" y="2150170"/>
                  </a:cubicBezTo>
                  <a:cubicBezTo>
                    <a:pt x="2563" y="2145608"/>
                    <a:pt x="0" y="2139420"/>
                    <a:pt x="0" y="2132968"/>
                  </a:cubicBezTo>
                  <a:lnTo>
                    <a:pt x="0" y="24327"/>
                  </a:lnTo>
                  <a:cubicBezTo>
                    <a:pt x="0" y="10891"/>
                    <a:pt x="10891" y="0"/>
                    <a:pt x="24327" y="0"/>
                  </a:cubicBezTo>
                  <a:close/>
                </a:path>
              </a:pathLst>
            </a:custGeom>
            <a:solidFill>
              <a:srgbClr val="F1F6F9"/>
            </a:solidFill>
            <a:ln w="133350" cap="rnd">
              <a:solidFill>
                <a:srgbClr val="394867"/>
              </a:solidFill>
              <a:prstDash val="solid"/>
              <a:round/>
            </a:ln>
          </p:spPr>
          <p:txBody>
            <a:bodyPr/>
            <a:lstStyle/>
            <a:p>
              <a:endParaRPr lang="en-US"/>
            </a:p>
          </p:txBody>
        </p:sp>
        <p:sp>
          <p:nvSpPr>
            <p:cNvPr id="8" name="TextBox 8"/>
            <p:cNvSpPr txBox="1"/>
            <p:nvPr/>
          </p:nvSpPr>
          <p:spPr>
            <a:xfrm>
              <a:off x="0" y="-38100"/>
              <a:ext cx="4274726" cy="2195395"/>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716554" y="1787685"/>
            <a:ext cx="14742567" cy="1812924"/>
          </a:xfrm>
          <a:prstGeom prst="rect">
            <a:avLst/>
          </a:prstGeom>
        </p:spPr>
        <p:txBody>
          <a:bodyPr lIns="0" tIns="0" rIns="0" bIns="0" rtlCol="0" anchor="t">
            <a:spAutoFit/>
          </a:bodyPr>
          <a:lstStyle/>
          <a:p>
            <a:pPr algn="ctr">
              <a:lnSpc>
                <a:spcPts val="6799"/>
              </a:lnSpc>
            </a:pPr>
            <a:r>
              <a:rPr lang="en-US" sz="8499" b="1">
                <a:solidFill>
                  <a:srgbClr val="14274E"/>
                </a:solidFill>
                <a:latin typeface="Clear Sans Bold"/>
                <a:ea typeface="Clear Sans Bold"/>
                <a:cs typeface="Clear Sans Bold"/>
                <a:sym typeface="Clear Sans Bold"/>
              </a:rPr>
              <a:t>Cơ sở lý thuyết</a:t>
            </a:r>
          </a:p>
          <a:p>
            <a:pPr algn="ctr">
              <a:lnSpc>
                <a:spcPts val="6799"/>
              </a:lnSpc>
            </a:pPr>
            <a:endParaRPr lang="en-US" sz="8499" b="1">
              <a:solidFill>
                <a:srgbClr val="14274E"/>
              </a:solidFill>
              <a:latin typeface="Clear Sans Bold"/>
              <a:ea typeface="Clear Sans Bold"/>
              <a:cs typeface="Clear Sans Bold"/>
              <a:sym typeface="Clear Sans Bold"/>
            </a:endParaRPr>
          </a:p>
        </p:txBody>
      </p:sp>
      <p:sp>
        <p:nvSpPr>
          <p:cNvPr id="10" name="TextBox 10"/>
          <p:cNvSpPr txBox="1"/>
          <p:nvPr/>
        </p:nvSpPr>
        <p:spPr>
          <a:xfrm>
            <a:off x="1716554" y="2984413"/>
            <a:ext cx="15057649" cy="6581140"/>
          </a:xfrm>
          <a:prstGeom prst="rect">
            <a:avLst/>
          </a:prstGeom>
        </p:spPr>
        <p:txBody>
          <a:bodyPr lIns="0" tIns="0" rIns="0" bIns="0" rtlCol="0" anchor="t">
            <a:spAutoFit/>
          </a:bodyPr>
          <a:lstStyle/>
          <a:p>
            <a:pPr algn="l">
              <a:lnSpc>
                <a:spcPts val="4759"/>
              </a:lnSpc>
            </a:pPr>
            <a:r>
              <a:rPr lang="en-US" sz="3399" b="1">
                <a:solidFill>
                  <a:srgbClr val="14274E"/>
                </a:solidFill>
                <a:latin typeface="Clear Sans Bold"/>
                <a:ea typeface="Clear Sans Bold"/>
                <a:cs typeface="Clear Sans Bold"/>
                <a:sym typeface="Clear Sans Bold"/>
              </a:rPr>
              <a:t>ByteTrack</a:t>
            </a:r>
            <a:r>
              <a:rPr lang="en-US" sz="3399">
                <a:solidFill>
                  <a:srgbClr val="14274E"/>
                </a:solidFill>
                <a:latin typeface="Clear Sans"/>
                <a:ea typeface="Clear Sans"/>
                <a:cs typeface="Clear Sans"/>
                <a:sym typeface="Clear Sans"/>
              </a:rPr>
              <a:t>: ByteTrack là một thuật toán theo dõi đối tượng (Multi-Object Tracking - MOT), được thiết kế để duy trì ID và theo dõi đường đi của các đối tượng (người, xe, vật thể...) trong video theo thời gian thực.</a:t>
            </a:r>
          </a:p>
          <a:p>
            <a:pPr algn="l">
              <a:lnSpc>
                <a:spcPts val="4759"/>
              </a:lnSpc>
            </a:pPr>
            <a:r>
              <a:rPr lang="en-US" sz="3399">
                <a:solidFill>
                  <a:srgbClr val="14274E"/>
                </a:solidFill>
                <a:latin typeface="Clear Sans"/>
                <a:ea typeface="Clear Sans"/>
                <a:cs typeface="Clear Sans"/>
                <a:sym typeface="Clear Sans"/>
              </a:rPr>
              <a:t>Khác với nhiều phương pháp truyền thống chỉ theo dõi các đối tượng có độ tin cậy cao (high-confidence detections), ByteTrack thực hiện theo dõi cả những đối tượng có độ tin cậy thấp (low-confidence) – giúp nâng cao độ chính xác, đặc biệt trong các khung hình có vật thể bị che khuất, di chuyển nhanh hoặc bị làm mờ.</a:t>
            </a:r>
          </a:p>
          <a:p>
            <a:pPr algn="l">
              <a:lnSpc>
                <a:spcPts val="4759"/>
              </a:lnSpc>
            </a:pPr>
            <a:endParaRPr lang="en-US" sz="3399">
              <a:solidFill>
                <a:srgbClr val="14274E"/>
              </a:solidFill>
              <a:latin typeface="Clear Sans"/>
              <a:ea typeface="Clear Sans"/>
              <a:cs typeface="Clear Sans"/>
              <a:sym typeface="Clear Sans"/>
            </a:endParaRPr>
          </a:p>
          <a:p>
            <a:pPr algn="l">
              <a:lnSpc>
                <a:spcPts val="4759"/>
              </a:lnSpc>
            </a:pPr>
            <a:endParaRPr lang="en-US" sz="3399">
              <a:solidFill>
                <a:srgbClr val="14274E"/>
              </a:solidFill>
              <a:latin typeface="Clear Sans"/>
              <a:ea typeface="Clear Sans"/>
              <a:cs typeface="Clear Sans"/>
              <a:sym typeface="Clear Sans"/>
            </a:endParaRPr>
          </a:p>
          <a:p>
            <a:pPr algn="l">
              <a:lnSpc>
                <a:spcPts val="4759"/>
              </a:lnSpc>
            </a:pPr>
            <a:endParaRPr lang="en-US" sz="3399">
              <a:solidFill>
                <a:srgbClr val="14274E"/>
              </a:solidFill>
              <a:latin typeface="Clear Sans"/>
              <a:ea typeface="Clear Sans"/>
              <a:cs typeface="Clear Sans"/>
              <a:sym typeface="Clear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274E"/>
        </a:solidFill>
        <a:effectLst/>
      </p:bgPr>
    </p:bg>
    <p:spTree>
      <p:nvGrpSpPr>
        <p:cNvPr id="1" name=""/>
        <p:cNvGrpSpPr/>
        <p:nvPr/>
      </p:nvGrpSpPr>
      <p:grpSpPr>
        <a:xfrm>
          <a:off x="0" y="0"/>
          <a:ext cx="0" cy="0"/>
          <a:chOff x="0" y="0"/>
          <a:chExt cx="0" cy="0"/>
        </a:xfrm>
      </p:grpSpPr>
      <p:sp>
        <p:nvSpPr>
          <p:cNvPr id="2" name="Freeform 2"/>
          <p:cNvSpPr/>
          <p:nvPr/>
        </p:nvSpPr>
        <p:spPr>
          <a:xfrm>
            <a:off x="0" y="622935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flipV="1">
            <a:off x="14173200" y="-5715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028700" y="1067319"/>
            <a:ext cx="16230600" cy="8190981"/>
            <a:chOff x="0" y="0"/>
            <a:chExt cx="4274726" cy="2157295"/>
          </a:xfrm>
        </p:grpSpPr>
        <p:sp>
          <p:nvSpPr>
            <p:cNvPr id="5" name="Freeform 5"/>
            <p:cNvSpPr/>
            <p:nvPr/>
          </p:nvSpPr>
          <p:spPr>
            <a:xfrm>
              <a:off x="0" y="0"/>
              <a:ext cx="4274726" cy="2157295"/>
            </a:xfrm>
            <a:custGeom>
              <a:avLst/>
              <a:gdLst/>
              <a:ahLst/>
              <a:cxnLst/>
              <a:rect l="l" t="t" r="r" b="b"/>
              <a:pathLst>
                <a:path w="4274726" h="2157295">
                  <a:moveTo>
                    <a:pt x="24327" y="0"/>
                  </a:moveTo>
                  <a:lnTo>
                    <a:pt x="4250399" y="0"/>
                  </a:lnTo>
                  <a:cubicBezTo>
                    <a:pt x="4263834" y="0"/>
                    <a:pt x="4274726" y="10891"/>
                    <a:pt x="4274726" y="24327"/>
                  </a:cubicBezTo>
                  <a:lnTo>
                    <a:pt x="4274726" y="2132968"/>
                  </a:lnTo>
                  <a:cubicBezTo>
                    <a:pt x="4274726" y="2146404"/>
                    <a:pt x="4263834" y="2157295"/>
                    <a:pt x="4250399" y="2157295"/>
                  </a:cubicBezTo>
                  <a:lnTo>
                    <a:pt x="24327" y="2157295"/>
                  </a:lnTo>
                  <a:cubicBezTo>
                    <a:pt x="17875" y="2157295"/>
                    <a:pt x="11687" y="2154732"/>
                    <a:pt x="7125" y="2150170"/>
                  </a:cubicBezTo>
                  <a:cubicBezTo>
                    <a:pt x="2563" y="2145608"/>
                    <a:pt x="0" y="2139420"/>
                    <a:pt x="0" y="2132968"/>
                  </a:cubicBezTo>
                  <a:lnTo>
                    <a:pt x="0" y="24327"/>
                  </a:lnTo>
                  <a:cubicBezTo>
                    <a:pt x="0" y="10891"/>
                    <a:pt x="10891" y="0"/>
                    <a:pt x="24327" y="0"/>
                  </a:cubicBezTo>
                  <a:close/>
                </a:path>
              </a:pathLst>
            </a:custGeom>
            <a:solidFill>
              <a:srgbClr val="F1F6F9"/>
            </a:solidFill>
            <a:ln w="133350" cap="rnd">
              <a:solidFill>
                <a:srgbClr val="394867"/>
              </a:solidFill>
              <a:prstDash val="solid"/>
              <a:round/>
            </a:ln>
          </p:spPr>
          <p:txBody>
            <a:bodyPr/>
            <a:lstStyle/>
            <a:p>
              <a:endParaRPr lang="en-US"/>
            </a:p>
          </p:txBody>
        </p:sp>
        <p:sp>
          <p:nvSpPr>
            <p:cNvPr id="6" name="TextBox 6"/>
            <p:cNvSpPr txBox="1"/>
            <p:nvPr/>
          </p:nvSpPr>
          <p:spPr>
            <a:xfrm>
              <a:off x="0" y="-38100"/>
              <a:ext cx="4274726" cy="2195395"/>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4299806" y="1993095"/>
            <a:ext cx="9688387" cy="955674"/>
          </a:xfrm>
          <a:prstGeom prst="rect">
            <a:avLst/>
          </a:prstGeom>
        </p:spPr>
        <p:txBody>
          <a:bodyPr lIns="0" tIns="0" rIns="0" bIns="0" rtlCol="0" anchor="t">
            <a:spAutoFit/>
          </a:bodyPr>
          <a:lstStyle/>
          <a:p>
            <a:pPr algn="just">
              <a:lnSpc>
                <a:spcPts val="6799"/>
              </a:lnSpc>
            </a:pPr>
            <a:r>
              <a:rPr lang="en-US" sz="8499" b="1">
                <a:solidFill>
                  <a:srgbClr val="14274E"/>
                </a:solidFill>
                <a:latin typeface="Clear Sans Bold"/>
                <a:ea typeface="Clear Sans Bold"/>
                <a:cs typeface="Clear Sans Bold"/>
                <a:sym typeface="Clear Sans Bold"/>
              </a:rPr>
              <a:t>Phân tích bài toán</a:t>
            </a:r>
          </a:p>
        </p:txBody>
      </p:sp>
      <p:sp>
        <p:nvSpPr>
          <p:cNvPr id="8" name="TextBox 8"/>
          <p:cNvSpPr txBox="1"/>
          <p:nvPr/>
        </p:nvSpPr>
        <p:spPr>
          <a:xfrm>
            <a:off x="1777221" y="3137840"/>
            <a:ext cx="14733557" cy="5380990"/>
          </a:xfrm>
          <a:prstGeom prst="rect">
            <a:avLst/>
          </a:prstGeom>
        </p:spPr>
        <p:txBody>
          <a:bodyPr lIns="0" tIns="0" rIns="0" bIns="0" rtlCol="0" anchor="t">
            <a:spAutoFit/>
          </a:bodyPr>
          <a:lstStyle/>
          <a:p>
            <a:pPr algn="l">
              <a:lnSpc>
                <a:spcPts val="4759"/>
              </a:lnSpc>
            </a:pPr>
            <a:r>
              <a:rPr lang="en-US" sz="3399">
                <a:solidFill>
                  <a:srgbClr val="14274E"/>
                </a:solidFill>
                <a:latin typeface="Clear Sans"/>
                <a:ea typeface="Clear Sans"/>
                <a:cs typeface="Clear Sans"/>
                <a:sym typeface="Clear Sans"/>
              </a:rPr>
              <a:t>Đầu vào: Ảnh hoặc video chứa các đối tượng như người, xe máy, ô tô…</a:t>
            </a:r>
          </a:p>
          <a:p>
            <a:pPr algn="l">
              <a:lnSpc>
                <a:spcPts val="4759"/>
              </a:lnSpc>
            </a:pPr>
            <a:r>
              <a:rPr lang="en-US" sz="3399">
                <a:solidFill>
                  <a:srgbClr val="14274E"/>
                </a:solidFill>
                <a:latin typeface="Clear Sans"/>
                <a:ea typeface="Clear Sans"/>
                <a:cs typeface="Clear Sans"/>
                <a:sym typeface="Clear Sans"/>
              </a:rPr>
              <a:t>Yêu cầu:</a:t>
            </a:r>
          </a:p>
          <a:p>
            <a:pPr marL="734059" lvl="1" indent="-367030" algn="l">
              <a:lnSpc>
                <a:spcPts val="4759"/>
              </a:lnSpc>
              <a:buFont typeface="Arial"/>
              <a:buChar char="•"/>
            </a:pPr>
            <a:r>
              <a:rPr lang="en-US" sz="3399">
                <a:solidFill>
                  <a:srgbClr val="14274E"/>
                </a:solidFill>
                <a:latin typeface="Clear Sans"/>
                <a:ea typeface="Clear Sans"/>
                <a:cs typeface="Clear Sans"/>
                <a:sym typeface="Clear Sans"/>
              </a:rPr>
              <a:t>Phát hiện đối tượng (Object Detection)</a:t>
            </a:r>
          </a:p>
          <a:p>
            <a:pPr marL="734059" lvl="1" indent="-367030" algn="l">
              <a:lnSpc>
                <a:spcPts val="4759"/>
              </a:lnSpc>
              <a:buFont typeface="Arial"/>
              <a:buChar char="•"/>
            </a:pPr>
            <a:r>
              <a:rPr lang="en-US" sz="3399">
                <a:solidFill>
                  <a:srgbClr val="14274E"/>
                </a:solidFill>
                <a:latin typeface="Clear Sans"/>
                <a:ea typeface="Clear Sans"/>
                <a:cs typeface="Clear Sans"/>
                <a:sym typeface="Clear Sans"/>
              </a:rPr>
              <a:t>Đếm số lượng từng loại đối tượng trong vùng quan sát</a:t>
            </a:r>
          </a:p>
          <a:p>
            <a:pPr algn="l">
              <a:lnSpc>
                <a:spcPts val="4759"/>
              </a:lnSpc>
            </a:pPr>
            <a:r>
              <a:rPr lang="en-US" sz="3399">
                <a:solidFill>
                  <a:srgbClr val="14274E"/>
                </a:solidFill>
                <a:latin typeface="Clear Sans"/>
                <a:ea typeface="Clear Sans"/>
                <a:cs typeface="Clear Sans"/>
                <a:sym typeface="Clear Sans"/>
              </a:rPr>
              <a:t>Đầu ra:</a:t>
            </a:r>
          </a:p>
          <a:p>
            <a:pPr marL="734059" lvl="1" indent="-367030" algn="l">
              <a:lnSpc>
                <a:spcPts val="4759"/>
              </a:lnSpc>
              <a:buFont typeface="Arial"/>
              <a:buChar char="•"/>
            </a:pPr>
            <a:r>
              <a:rPr lang="en-US" sz="3399">
                <a:solidFill>
                  <a:srgbClr val="14274E"/>
                </a:solidFill>
                <a:latin typeface="Clear Sans"/>
                <a:ea typeface="Clear Sans"/>
                <a:cs typeface="Clear Sans"/>
                <a:sym typeface="Clear Sans"/>
              </a:rPr>
              <a:t>Ảnh/video có gắn bounding box</a:t>
            </a:r>
          </a:p>
          <a:p>
            <a:pPr marL="734059" lvl="1" indent="-367030" algn="l">
              <a:lnSpc>
                <a:spcPts val="4759"/>
              </a:lnSpc>
              <a:buFont typeface="Arial"/>
              <a:buChar char="•"/>
            </a:pPr>
            <a:r>
              <a:rPr lang="en-US" sz="3399">
                <a:solidFill>
                  <a:srgbClr val="14274E"/>
                </a:solidFill>
                <a:latin typeface="Clear Sans"/>
                <a:ea typeface="Clear Sans"/>
                <a:cs typeface="Clear Sans"/>
                <a:sym typeface="Clear Sans"/>
              </a:rPr>
              <a:t>Số lượng các đối tượng đã đếm</a:t>
            </a:r>
          </a:p>
          <a:p>
            <a:pPr algn="l">
              <a:lnSpc>
                <a:spcPts val="4759"/>
              </a:lnSpc>
            </a:pPr>
            <a:r>
              <a:rPr lang="en-US" sz="3399">
                <a:solidFill>
                  <a:srgbClr val="14274E"/>
                </a:solidFill>
                <a:latin typeface="Clear Sans"/>
                <a:ea typeface="Clear Sans"/>
                <a:cs typeface="Clear Sans"/>
                <a:sym typeface="Clear Sans"/>
              </a:rPr>
              <a:t>Ứng dụng thực tế: giám sát giao thông, đếm người vào sự kiện, thống kê…</a:t>
            </a:r>
          </a:p>
          <a:p>
            <a:pPr algn="l">
              <a:lnSpc>
                <a:spcPts val="4759"/>
              </a:lnSpc>
            </a:pPr>
            <a:endParaRPr lang="en-US" sz="3399">
              <a:solidFill>
                <a:srgbClr val="14274E"/>
              </a:solidFill>
              <a:latin typeface="Clear Sans"/>
              <a:ea typeface="Clear Sans"/>
              <a:cs typeface="Clear Sans"/>
              <a:sym typeface="Clear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274E"/>
        </a:solidFill>
        <a:effectLst/>
      </p:bgPr>
    </p:bg>
    <p:spTree>
      <p:nvGrpSpPr>
        <p:cNvPr id="1" name=""/>
        <p:cNvGrpSpPr/>
        <p:nvPr/>
      </p:nvGrpSpPr>
      <p:grpSpPr>
        <a:xfrm>
          <a:off x="0" y="0"/>
          <a:ext cx="0" cy="0"/>
          <a:chOff x="0" y="0"/>
          <a:chExt cx="0" cy="0"/>
        </a:xfrm>
      </p:grpSpPr>
      <p:sp>
        <p:nvSpPr>
          <p:cNvPr id="2" name="Freeform 2"/>
          <p:cNvSpPr/>
          <p:nvPr/>
        </p:nvSpPr>
        <p:spPr>
          <a:xfrm flipH="1">
            <a:off x="14317218" y="6172200"/>
            <a:ext cx="3970782" cy="4114800"/>
          </a:xfrm>
          <a:custGeom>
            <a:avLst/>
            <a:gdLst/>
            <a:ahLst/>
            <a:cxnLst/>
            <a:rect l="l" t="t" r="r" b="b"/>
            <a:pathLst>
              <a:path w="3970782" h="4114800">
                <a:moveTo>
                  <a:pt x="3970782" y="0"/>
                </a:moveTo>
                <a:lnTo>
                  <a:pt x="0" y="0"/>
                </a:lnTo>
                <a:lnTo>
                  <a:pt x="0" y="4114800"/>
                </a:lnTo>
                <a:lnTo>
                  <a:pt x="3970782" y="4114800"/>
                </a:lnTo>
                <a:lnTo>
                  <a:pt x="3970782"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V="1">
            <a:off x="0" y="0"/>
            <a:ext cx="3970782" cy="4114800"/>
          </a:xfrm>
          <a:custGeom>
            <a:avLst/>
            <a:gdLst/>
            <a:ahLst/>
            <a:cxnLst/>
            <a:rect l="l" t="t" r="r" b="b"/>
            <a:pathLst>
              <a:path w="3970782" h="4114800">
                <a:moveTo>
                  <a:pt x="0" y="4114800"/>
                </a:moveTo>
                <a:lnTo>
                  <a:pt x="3970782" y="4114800"/>
                </a:lnTo>
                <a:lnTo>
                  <a:pt x="3970782"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928595" y="1028700"/>
            <a:ext cx="16230600" cy="8190981"/>
            <a:chOff x="0" y="0"/>
            <a:chExt cx="4274726" cy="2157295"/>
          </a:xfrm>
        </p:grpSpPr>
        <p:sp>
          <p:nvSpPr>
            <p:cNvPr id="5" name="Freeform 5"/>
            <p:cNvSpPr/>
            <p:nvPr/>
          </p:nvSpPr>
          <p:spPr>
            <a:xfrm>
              <a:off x="0" y="0"/>
              <a:ext cx="4274726" cy="2157295"/>
            </a:xfrm>
            <a:custGeom>
              <a:avLst/>
              <a:gdLst/>
              <a:ahLst/>
              <a:cxnLst/>
              <a:rect l="l" t="t" r="r" b="b"/>
              <a:pathLst>
                <a:path w="4274726" h="2157295">
                  <a:moveTo>
                    <a:pt x="24327" y="0"/>
                  </a:moveTo>
                  <a:lnTo>
                    <a:pt x="4250399" y="0"/>
                  </a:lnTo>
                  <a:cubicBezTo>
                    <a:pt x="4263834" y="0"/>
                    <a:pt x="4274726" y="10891"/>
                    <a:pt x="4274726" y="24327"/>
                  </a:cubicBezTo>
                  <a:lnTo>
                    <a:pt x="4274726" y="2132968"/>
                  </a:lnTo>
                  <a:cubicBezTo>
                    <a:pt x="4274726" y="2146404"/>
                    <a:pt x="4263834" y="2157295"/>
                    <a:pt x="4250399" y="2157295"/>
                  </a:cubicBezTo>
                  <a:lnTo>
                    <a:pt x="24327" y="2157295"/>
                  </a:lnTo>
                  <a:cubicBezTo>
                    <a:pt x="17875" y="2157295"/>
                    <a:pt x="11687" y="2154732"/>
                    <a:pt x="7125" y="2150170"/>
                  </a:cubicBezTo>
                  <a:cubicBezTo>
                    <a:pt x="2563" y="2145608"/>
                    <a:pt x="0" y="2139420"/>
                    <a:pt x="0" y="2132968"/>
                  </a:cubicBezTo>
                  <a:lnTo>
                    <a:pt x="0" y="24327"/>
                  </a:lnTo>
                  <a:cubicBezTo>
                    <a:pt x="0" y="10891"/>
                    <a:pt x="10891" y="0"/>
                    <a:pt x="24327" y="0"/>
                  </a:cubicBezTo>
                  <a:close/>
                </a:path>
              </a:pathLst>
            </a:custGeom>
            <a:solidFill>
              <a:srgbClr val="F1F6F9"/>
            </a:solidFill>
            <a:ln w="133350" cap="rnd">
              <a:solidFill>
                <a:srgbClr val="394867"/>
              </a:solidFill>
              <a:prstDash val="solid"/>
              <a:round/>
            </a:ln>
          </p:spPr>
          <p:txBody>
            <a:bodyPr/>
            <a:lstStyle/>
            <a:p>
              <a:endParaRPr lang="en-US"/>
            </a:p>
          </p:txBody>
        </p:sp>
        <p:sp>
          <p:nvSpPr>
            <p:cNvPr id="6" name="TextBox 6"/>
            <p:cNvSpPr txBox="1"/>
            <p:nvPr/>
          </p:nvSpPr>
          <p:spPr>
            <a:xfrm>
              <a:off x="0" y="-38100"/>
              <a:ext cx="4274726" cy="2195395"/>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5295201" y="1746251"/>
            <a:ext cx="7697597" cy="955674"/>
          </a:xfrm>
          <a:prstGeom prst="rect">
            <a:avLst/>
          </a:prstGeom>
        </p:spPr>
        <p:txBody>
          <a:bodyPr lIns="0" tIns="0" rIns="0" bIns="0" rtlCol="0" anchor="t">
            <a:spAutoFit/>
          </a:bodyPr>
          <a:lstStyle/>
          <a:p>
            <a:pPr algn="just">
              <a:lnSpc>
                <a:spcPts val="6799"/>
              </a:lnSpc>
            </a:pPr>
            <a:r>
              <a:rPr lang="en-US" sz="8499" b="1">
                <a:solidFill>
                  <a:srgbClr val="14274E"/>
                </a:solidFill>
                <a:latin typeface="Clear Sans Bold"/>
                <a:ea typeface="Clear Sans Bold"/>
                <a:cs typeface="Clear Sans Bold"/>
                <a:sym typeface="Clear Sans Bold"/>
              </a:rPr>
              <a:t>Kết quả đầu ra</a:t>
            </a:r>
          </a:p>
        </p:txBody>
      </p:sp>
      <p:sp>
        <p:nvSpPr>
          <p:cNvPr id="8" name="TextBox 8"/>
          <p:cNvSpPr txBox="1"/>
          <p:nvPr/>
        </p:nvSpPr>
        <p:spPr>
          <a:xfrm>
            <a:off x="9338562" y="2726010"/>
            <a:ext cx="7308473" cy="2980690"/>
          </a:xfrm>
          <a:prstGeom prst="rect">
            <a:avLst/>
          </a:prstGeom>
        </p:spPr>
        <p:txBody>
          <a:bodyPr lIns="0" tIns="0" rIns="0" bIns="0" rtlCol="0" anchor="t">
            <a:spAutoFit/>
          </a:bodyPr>
          <a:lstStyle/>
          <a:p>
            <a:pPr algn="l">
              <a:lnSpc>
                <a:spcPts val="4759"/>
              </a:lnSpc>
            </a:pPr>
            <a:r>
              <a:rPr lang="en-US" sz="3399">
                <a:solidFill>
                  <a:srgbClr val="14274E"/>
                </a:solidFill>
                <a:latin typeface="Clear Sans"/>
                <a:ea typeface="Clear Sans"/>
                <a:cs typeface="Clear Sans"/>
                <a:sym typeface="Clear Sans"/>
              </a:rPr>
              <a:t>-Hiển thị khung giới hạn (bounding boxes):</a:t>
            </a:r>
          </a:p>
          <a:p>
            <a:pPr algn="l">
              <a:lnSpc>
                <a:spcPts val="4759"/>
              </a:lnSpc>
            </a:pPr>
            <a:r>
              <a:rPr lang="en-US" sz="3399">
                <a:solidFill>
                  <a:srgbClr val="14274E"/>
                </a:solidFill>
                <a:latin typeface="Clear Sans"/>
                <a:ea typeface="Clear Sans"/>
                <a:cs typeface="Clear Sans"/>
                <a:sym typeface="Clear Sans"/>
              </a:rPr>
              <a:t> Mỗi đối tượng được hiển thị bằng khung hình chữ nhật, kèm nhãn phân loại và độ tin cậy (confidence score).</a:t>
            </a:r>
          </a:p>
        </p:txBody>
      </p:sp>
      <p:sp>
        <p:nvSpPr>
          <p:cNvPr id="9" name="TextBox 9"/>
          <p:cNvSpPr txBox="1"/>
          <p:nvPr/>
        </p:nvSpPr>
        <p:spPr>
          <a:xfrm>
            <a:off x="1985391" y="2726010"/>
            <a:ext cx="7058504" cy="3580765"/>
          </a:xfrm>
          <a:prstGeom prst="rect">
            <a:avLst/>
          </a:prstGeom>
        </p:spPr>
        <p:txBody>
          <a:bodyPr lIns="0" tIns="0" rIns="0" bIns="0" rtlCol="0" anchor="t">
            <a:spAutoFit/>
          </a:bodyPr>
          <a:lstStyle/>
          <a:p>
            <a:pPr algn="l">
              <a:lnSpc>
                <a:spcPts val="4759"/>
              </a:lnSpc>
            </a:pPr>
            <a:r>
              <a:rPr lang="en-US" sz="3399">
                <a:solidFill>
                  <a:srgbClr val="14274E"/>
                </a:solidFill>
                <a:latin typeface="Clear Sans"/>
                <a:ea typeface="Clear Sans"/>
                <a:cs typeface="Clear Sans"/>
                <a:sym typeface="Clear Sans"/>
              </a:rPr>
              <a:t>-Phát hiện và đếm đối tượng trong vùng quan tâm (ROI):</a:t>
            </a:r>
          </a:p>
          <a:p>
            <a:pPr algn="l">
              <a:lnSpc>
                <a:spcPts val="4759"/>
              </a:lnSpc>
            </a:pPr>
            <a:r>
              <a:rPr lang="en-US" sz="3399">
                <a:solidFill>
                  <a:srgbClr val="14274E"/>
                </a:solidFill>
                <a:latin typeface="Clear Sans"/>
                <a:ea typeface="Clear Sans"/>
                <a:cs typeface="Clear Sans"/>
                <a:sym typeface="Clear Sans"/>
              </a:rPr>
              <a:t> Các đối tượng như người, xe máy, ô tô được nhận diện chính xác khi đi qua vùng đã xác định trong khung hình.</a:t>
            </a:r>
          </a:p>
        </p:txBody>
      </p:sp>
      <p:sp>
        <p:nvSpPr>
          <p:cNvPr id="10" name="TextBox 10"/>
          <p:cNvSpPr txBox="1"/>
          <p:nvPr/>
        </p:nvSpPr>
        <p:spPr>
          <a:xfrm>
            <a:off x="3508156" y="6335350"/>
            <a:ext cx="12308736" cy="2380615"/>
          </a:xfrm>
          <a:prstGeom prst="rect">
            <a:avLst/>
          </a:prstGeom>
        </p:spPr>
        <p:txBody>
          <a:bodyPr lIns="0" tIns="0" rIns="0" bIns="0" rtlCol="0" anchor="t">
            <a:spAutoFit/>
          </a:bodyPr>
          <a:lstStyle/>
          <a:p>
            <a:pPr algn="l">
              <a:lnSpc>
                <a:spcPts val="4759"/>
              </a:lnSpc>
            </a:pPr>
            <a:r>
              <a:rPr lang="en-US" sz="3399">
                <a:solidFill>
                  <a:srgbClr val="14274E"/>
                </a:solidFill>
                <a:latin typeface="Clear Sans"/>
                <a:ea typeface="Clear Sans"/>
                <a:cs typeface="Clear Sans"/>
                <a:sym typeface="Clear Sans"/>
              </a:rPr>
              <a:t>-Đánh số theo dõi (Tracking ID):</a:t>
            </a:r>
          </a:p>
          <a:p>
            <a:pPr algn="l">
              <a:lnSpc>
                <a:spcPts val="4759"/>
              </a:lnSpc>
            </a:pPr>
            <a:r>
              <a:rPr lang="en-US" sz="3399">
                <a:solidFill>
                  <a:srgbClr val="14274E"/>
                </a:solidFill>
                <a:latin typeface="Clear Sans"/>
                <a:ea typeface="Clear Sans"/>
                <a:cs typeface="Clear Sans"/>
                <a:sym typeface="Clear Sans"/>
              </a:rPr>
              <a:t> Mỗi đối tượng được gán một ID riêng để theo dõi liên tục giữa các khung hình (dựa vào thuật toán ByteTrack).</a:t>
            </a:r>
          </a:p>
          <a:p>
            <a:pPr algn="l">
              <a:lnSpc>
                <a:spcPts val="4759"/>
              </a:lnSpc>
            </a:pPr>
            <a:endParaRPr lang="en-US" sz="3399">
              <a:solidFill>
                <a:srgbClr val="14274E"/>
              </a:solidFill>
              <a:latin typeface="Clear Sans"/>
              <a:ea typeface="Clear Sans"/>
              <a:cs typeface="Clear Sans"/>
              <a:sym typeface="Clear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274E"/>
        </a:solidFill>
        <a:effectLst/>
      </p:bgPr>
    </p:bg>
    <p:spTree>
      <p:nvGrpSpPr>
        <p:cNvPr id="1" name=""/>
        <p:cNvGrpSpPr/>
        <p:nvPr/>
      </p:nvGrpSpPr>
      <p:grpSpPr>
        <a:xfrm>
          <a:off x="0" y="0"/>
          <a:ext cx="0" cy="0"/>
          <a:chOff x="0" y="0"/>
          <a:chExt cx="0" cy="0"/>
        </a:xfrm>
      </p:grpSpPr>
      <p:sp>
        <p:nvSpPr>
          <p:cNvPr id="2" name="Freeform 2"/>
          <p:cNvSpPr/>
          <p:nvPr/>
        </p:nvSpPr>
        <p:spPr>
          <a:xfrm>
            <a:off x="0" y="6172200"/>
            <a:ext cx="4848071" cy="4114800"/>
          </a:xfrm>
          <a:custGeom>
            <a:avLst/>
            <a:gdLst/>
            <a:ahLst/>
            <a:cxnLst/>
            <a:rect l="l" t="t" r="r" b="b"/>
            <a:pathLst>
              <a:path w="4848071" h="4114800">
                <a:moveTo>
                  <a:pt x="0" y="0"/>
                </a:moveTo>
                <a:lnTo>
                  <a:pt x="4848071" y="0"/>
                </a:lnTo>
                <a:lnTo>
                  <a:pt x="4848071" y="4114800"/>
                </a:lnTo>
                <a:lnTo>
                  <a:pt x="0" y="4114800"/>
                </a:lnTo>
                <a:lnTo>
                  <a:pt x="0" y="0"/>
                </a:lnTo>
                <a:close/>
              </a:path>
            </a:pathLst>
          </a:custGeom>
          <a:blipFill>
            <a:blip r:embed="rId2">
              <a:alphaModFix amt="5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a:off x="14630241" y="6629241"/>
            <a:ext cx="3657759" cy="3657759"/>
          </a:xfrm>
          <a:custGeom>
            <a:avLst/>
            <a:gdLst/>
            <a:ahLst/>
            <a:cxnLst/>
            <a:rect l="l" t="t" r="r" b="b"/>
            <a:pathLst>
              <a:path w="3657759" h="3657759">
                <a:moveTo>
                  <a:pt x="3657759" y="0"/>
                </a:moveTo>
                <a:lnTo>
                  <a:pt x="0" y="0"/>
                </a:lnTo>
                <a:lnTo>
                  <a:pt x="0" y="3657759"/>
                </a:lnTo>
                <a:lnTo>
                  <a:pt x="3657759" y="3657759"/>
                </a:lnTo>
                <a:lnTo>
                  <a:pt x="3657759"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flipH="1" flipV="1">
            <a:off x="13439929" y="0"/>
            <a:ext cx="4848071" cy="4114800"/>
          </a:xfrm>
          <a:custGeom>
            <a:avLst/>
            <a:gdLst/>
            <a:ahLst/>
            <a:cxnLst/>
            <a:rect l="l" t="t" r="r" b="b"/>
            <a:pathLst>
              <a:path w="4848071" h="4114800">
                <a:moveTo>
                  <a:pt x="4848071" y="4114800"/>
                </a:moveTo>
                <a:lnTo>
                  <a:pt x="0" y="4114800"/>
                </a:lnTo>
                <a:lnTo>
                  <a:pt x="0" y="0"/>
                </a:lnTo>
                <a:lnTo>
                  <a:pt x="4848071" y="0"/>
                </a:lnTo>
                <a:lnTo>
                  <a:pt x="4848071" y="411480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flipV="1">
            <a:off x="0" y="-57150"/>
            <a:ext cx="3657759" cy="3657759"/>
          </a:xfrm>
          <a:custGeom>
            <a:avLst/>
            <a:gdLst/>
            <a:ahLst/>
            <a:cxnLst/>
            <a:rect l="l" t="t" r="r" b="b"/>
            <a:pathLst>
              <a:path w="3657759" h="3657759">
                <a:moveTo>
                  <a:pt x="0" y="3657759"/>
                </a:moveTo>
                <a:lnTo>
                  <a:pt x="3657759" y="3657759"/>
                </a:lnTo>
                <a:lnTo>
                  <a:pt x="3657759" y="0"/>
                </a:lnTo>
                <a:lnTo>
                  <a:pt x="0" y="0"/>
                </a:lnTo>
                <a:lnTo>
                  <a:pt x="0" y="3657759"/>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6" name="Group 6"/>
          <p:cNvGrpSpPr/>
          <p:nvPr/>
        </p:nvGrpSpPr>
        <p:grpSpPr>
          <a:xfrm>
            <a:off x="1028700" y="1067319"/>
            <a:ext cx="16230600" cy="8190981"/>
            <a:chOff x="0" y="0"/>
            <a:chExt cx="4274726" cy="2157295"/>
          </a:xfrm>
        </p:grpSpPr>
        <p:sp>
          <p:nvSpPr>
            <p:cNvPr id="7" name="Freeform 7"/>
            <p:cNvSpPr/>
            <p:nvPr/>
          </p:nvSpPr>
          <p:spPr>
            <a:xfrm>
              <a:off x="0" y="0"/>
              <a:ext cx="4274726" cy="2157295"/>
            </a:xfrm>
            <a:custGeom>
              <a:avLst/>
              <a:gdLst/>
              <a:ahLst/>
              <a:cxnLst/>
              <a:rect l="l" t="t" r="r" b="b"/>
              <a:pathLst>
                <a:path w="4274726" h="2157295">
                  <a:moveTo>
                    <a:pt x="24327" y="0"/>
                  </a:moveTo>
                  <a:lnTo>
                    <a:pt x="4250399" y="0"/>
                  </a:lnTo>
                  <a:cubicBezTo>
                    <a:pt x="4263834" y="0"/>
                    <a:pt x="4274726" y="10891"/>
                    <a:pt x="4274726" y="24327"/>
                  </a:cubicBezTo>
                  <a:lnTo>
                    <a:pt x="4274726" y="2132968"/>
                  </a:lnTo>
                  <a:cubicBezTo>
                    <a:pt x="4274726" y="2146404"/>
                    <a:pt x="4263834" y="2157295"/>
                    <a:pt x="4250399" y="2157295"/>
                  </a:cubicBezTo>
                  <a:lnTo>
                    <a:pt x="24327" y="2157295"/>
                  </a:lnTo>
                  <a:cubicBezTo>
                    <a:pt x="17875" y="2157295"/>
                    <a:pt x="11687" y="2154732"/>
                    <a:pt x="7125" y="2150170"/>
                  </a:cubicBezTo>
                  <a:cubicBezTo>
                    <a:pt x="2563" y="2145608"/>
                    <a:pt x="0" y="2139420"/>
                    <a:pt x="0" y="2132968"/>
                  </a:cubicBezTo>
                  <a:lnTo>
                    <a:pt x="0" y="24327"/>
                  </a:lnTo>
                  <a:cubicBezTo>
                    <a:pt x="0" y="10891"/>
                    <a:pt x="10891" y="0"/>
                    <a:pt x="24327" y="0"/>
                  </a:cubicBezTo>
                  <a:close/>
                </a:path>
              </a:pathLst>
            </a:custGeom>
            <a:solidFill>
              <a:srgbClr val="F1F6F9"/>
            </a:solidFill>
            <a:ln w="133350" cap="rnd">
              <a:solidFill>
                <a:srgbClr val="394867"/>
              </a:solidFill>
              <a:prstDash val="solid"/>
              <a:round/>
            </a:ln>
          </p:spPr>
          <p:txBody>
            <a:bodyPr/>
            <a:lstStyle/>
            <a:p>
              <a:endParaRPr lang="en-US"/>
            </a:p>
          </p:txBody>
        </p:sp>
        <p:sp>
          <p:nvSpPr>
            <p:cNvPr id="8" name="TextBox 8"/>
            <p:cNvSpPr txBox="1"/>
            <p:nvPr/>
          </p:nvSpPr>
          <p:spPr>
            <a:xfrm>
              <a:off x="0" y="-38100"/>
              <a:ext cx="4274726" cy="2195395"/>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2424035" y="3307374"/>
            <a:ext cx="13439929" cy="3682220"/>
          </a:xfrm>
          <a:custGeom>
            <a:avLst/>
            <a:gdLst/>
            <a:ahLst/>
            <a:cxnLst/>
            <a:rect l="l" t="t" r="r" b="b"/>
            <a:pathLst>
              <a:path w="13439929" h="3682220">
                <a:moveTo>
                  <a:pt x="0" y="0"/>
                </a:moveTo>
                <a:lnTo>
                  <a:pt x="13439930" y="0"/>
                </a:lnTo>
                <a:lnTo>
                  <a:pt x="13439930" y="3682220"/>
                </a:lnTo>
                <a:lnTo>
                  <a:pt x="0" y="3682220"/>
                </a:lnTo>
                <a:lnTo>
                  <a:pt x="0" y="0"/>
                </a:lnTo>
                <a:close/>
              </a:path>
            </a:pathLst>
          </a:custGeom>
          <a:blipFill>
            <a:blip r:embed="rId6"/>
            <a:stretch>
              <a:fillRect t="-910" b="-640"/>
            </a:stretch>
          </a:blipFill>
        </p:spPr>
        <p:txBody>
          <a:bodyPr/>
          <a:lstStyle/>
          <a:p>
            <a:endParaRPr lang="en-US"/>
          </a:p>
        </p:txBody>
      </p:sp>
      <p:sp>
        <p:nvSpPr>
          <p:cNvPr id="10" name="TextBox 10"/>
          <p:cNvSpPr txBox="1"/>
          <p:nvPr/>
        </p:nvSpPr>
        <p:spPr>
          <a:xfrm>
            <a:off x="5139538" y="2105104"/>
            <a:ext cx="8008924" cy="955674"/>
          </a:xfrm>
          <a:prstGeom prst="rect">
            <a:avLst/>
          </a:prstGeom>
        </p:spPr>
        <p:txBody>
          <a:bodyPr lIns="0" tIns="0" rIns="0" bIns="0" rtlCol="0" anchor="t">
            <a:spAutoFit/>
          </a:bodyPr>
          <a:lstStyle/>
          <a:p>
            <a:pPr algn="just">
              <a:lnSpc>
                <a:spcPts val="6799"/>
              </a:lnSpc>
            </a:pPr>
            <a:r>
              <a:rPr lang="en-US" sz="8499" b="1">
                <a:solidFill>
                  <a:srgbClr val="14274E"/>
                </a:solidFill>
                <a:latin typeface="Clear Sans Bold"/>
                <a:ea typeface="Clear Sans Bold"/>
                <a:cs typeface="Clear Sans Bold"/>
                <a:sym typeface="Clear Sans Bold"/>
              </a:rPr>
              <a:t>Sơ đồ hệ thống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274E"/>
        </a:solidFill>
        <a:effectLst/>
      </p:bgPr>
    </p:bg>
    <p:spTree>
      <p:nvGrpSpPr>
        <p:cNvPr id="1" name=""/>
        <p:cNvGrpSpPr/>
        <p:nvPr/>
      </p:nvGrpSpPr>
      <p:grpSpPr>
        <a:xfrm>
          <a:off x="0" y="0"/>
          <a:ext cx="0" cy="0"/>
          <a:chOff x="0" y="0"/>
          <a:chExt cx="0" cy="0"/>
        </a:xfrm>
      </p:grpSpPr>
      <p:sp>
        <p:nvSpPr>
          <p:cNvPr id="2" name="Freeform 2"/>
          <p:cNvSpPr/>
          <p:nvPr/>
        </p:nvSpPr>
        <p:spPr>
          <a:xfrm>
            <a:off x="0" y="6172200"/>
            <a:ext cx="4848071" cy="4114800"/>
          </a:xfrm>
          <a:custGeom>
            <a:avLst/>
            <a:gdLst/>
            <a:ahLst/>
            <a:cxnLst/>
            <a:rect l="l" t="t" r="r" b="b"/>
            <a:pathLst>
              <a:path w="4848071" h="4114800">
                <a:moveTo>
                  <a:pt x="0" y="0"/>
                </a:moveTo>
                <a:lnTo>
                  <a:pt x="4848071" y="0"/>
                </a:lnTo>
                <a:lnTo>
                  <a:pt x="4848071" y="4114800"/>
                </a:lnTo>
                <a:lnTo>
                  <a:pt x="0" y="4114800"/>
                </a:lnTo>
                <a:lnTo>
                  <a:pt x="0" y="0"/>
                </a:lnTo>
                <a:close/>
              </a:path>
            </a:pathLst>
          </a:custGeom>
          <a:blipFill>
            <a:blip r:embed="rId2">
              <a:alphaModFix amt="5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a:off x="14630241" y="6629241"/>
            <a:ext cx="3657759" cy="3657759"/>
          </a:xfrm>
          <a:custGeom>
            <a:avLst/>
            <a:gdLst/>
            <a:ahLst/>
            <a:cxnLst/>
            <a:rect l="l" t="t" r="r" b="b"/>
            <a:pathLst>
              <a:path w="3657759" h="3657759">
                <a:moveTo>
                  <a:pt x="3657759" y="0"/>
                </a:moveTo>
                <a:lnTo>
                  <a:pt x="0" y="0"/>
                </a:lnTo>
                <a:lnTo>
                  <a:pt x="0" y="3657759"/>
                </a:lnTo>
                <a:lnTo>
                  <a:pt x="3657759" y="3657759"/>
                </a:lnTo>
                <a:lnTo>
                  <a:pt x="3657759"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flipH="1" flipV="1">
            <a:off x="13439929" y="0"/>
            <a:ext cx="4848071" cy="4114800"/>
          </a:xfrm>
          <a:custGeom>
            <a:avLst/>
            <a:gdLst/>
            <a:ahLst/>
            <a:cxnLst/>
            <a:rect l="l" t="t" r="r" b="b"/>
            <a:pathLst>
              <a:path w="4848071" h="4114800">
                <a:moveTo>
                  <a:pt x="4848071" y="4114800"/>
                </a:moveTo>
                <a:lnTo>
                  <a:pt x="0" y="4114800"/>
                </a:lnTo>
                <a:lnTo>
                  <a:pt x="0" y="0"/>
                </a:lnTo>
                <a:lnTo>
                  <a:pt x="4848071" y="0"/>
                </a:lnTo>
                <a:lnTo>
                  <a:pt x="4848071" y="411480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flipV="1">
            <a:off x="0" y="-57150"/>
            <a:ext cx="3657759" cy="3657759"/>
          </a:xfrm>
          <a:custGeom>
            <a:avLst/>
            <a:gdLst/>
            <a:ahLst/>
            <a:cxnLst/>
            <a:rect l="l" t="t" r="r" b="b"/>
            <a:pathLst>
              <a:path w="3657759" h="3657759">
                <a:moveTo>
                  <a:pt x="0" y="3657759"/>
                </a:moveTo>
                <a:lnTo>
                  <a:pt x="3657759" y="3657759"/>
                </a:lnTo>
                <a:lnTo>
                  <a:pt x="3657759" y="0"/>
                </a:lnTo>
                <a:lnTo>
                  <a:pt x="0" y="0"/>
                </a:lnTo>
                <a:lnTo>
                  <a:pt x="0" y="3657759"/>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6" name="Group 6"/>
          <p:cNvGrpSpPr/>
          <p:nvPr/>
        </p:nvGrpSpPr>
        <p:grpSpPr>
          <a:xfrm>
            <a:off x="919051" y="1067319"/>
            <a:ext cx="16230600" cy="8190981"/>
            <a:chOff x="0" y="0"/>
            <a:chExt cx="4274726" cy="2157295"/>
          </a:xfrm>
        </p:grpSpPr>
        <p:sp>
          <p:nvSpPr>
            <p:cNvPr id="7" name="Freeform 7"/>
            <p:cNvSpPr/>
            <p:nvPr/>
          </p:nvSpPr>
          <p:spPr>
            <a:xfrm>
              <a:off x="0" y="0"/>
              <a:ext cx="4274726" cy="2157295"/>
            </a:xfrm>
            <a:custGeom>
              <a:avLst/>
              <a:gdLst/>
              <a:ahLst/>
              <a:cxnLst/>
              <a:rect l="l" t="t" r="r" b="b"/>
              <a:pathLst>
                <a:path w="4274726" h="2157295">
                  <a:moveTo>
                    <a:pt x="24327" y="0"/>
                  </a:moveTo>
                  <a:lnTo>
                    <a:pt x="4250399" y="0"/>
                  </a:lnTo>
                  <a:cubicBezTo>
                    <a:pt x="4263834" y="0"/>
                    <a:pt x="4274726" y="10891"/>
                    <a:pt x="4274726" y="24327"/>
                  </a:cubicBezTo>
                  <a:lnTo>
                    <a:pt x="4274726" y="2132968"/>
                  </a:lnTo>
                  <a:cubicBezTo>
                    <a:pt x="4274726" y="2146404"/>
                    <a:pt x="4263834" y="2157295"/>
                    <a:pt x="4250399" y="2157295"/>
                  </a:cubicBezTo>
                  <a:lnTo>
                    <a:pt x="24327" y="2157295"/>
                  </a:lnTo>
                  <a:cubicBezTo>
                    <a:pt x="17875" y="2157295"/>
                    <a:pt x="11687" y="2154732"/>
                    <a:pt x="7125" y="2150170"/>
                  </a:cubicBezTo>
                  <a:cubicBezTo>
                    <a:pt x="2563" y="2145608"/>
                    <a:pt x="0" y="2139420"/>
                    <a:pt x="0" y="2132968"/>
                  </a:cubicBezTo>
                  <a:lnTo>
                    <a:pt x="0" y="24327"/>
                  </a:lnTo>
                  <a:cubicBezTo>
                    <a:pt x="0" y="10891"/>
                    <a:pt x="10891" y="0"/>
                    <a:pt x="24327" y="0"/>
                  </a:cubicBezTo>
                  <a:close/>
                </a:path>
              </a:pathLst>
            </a:custGeom>
            <a:solidFill>
              <a:srgbClr val="F1F6F9"/>
            </a:solidFill>
            <a:ln w="133350" cap="rnd">
              <a:solidFill>
                <a:srgbClr val="394867"/>
              </a:solidFill>
              <a:prstDash val="solid"/>
              <a:round/>
            </a:ln>
          </p:spPr>
          <p:txBody>
            <a:bodyPr/>
            <a:lstStyle/>
            <a:p>
              <a:endParaRPr lang="en-US"/>
            </a:p>
          </p:txBody>
        </p:sp>
        <p:sp>
          <p:nvSpPr>
            <p:cNvPr id="8" name="TextBox 8"/>
            <p:cNvSpPr txBox="1"/>
            <p:nvPr/>
          </p:nvSpPr>
          <p:spPr>
            <a:xfrm>
              <a:off x="0" y="-38100"/>
              <a:ext cx="4274726" cy="2195395"/>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5139538" y="2105104"/>
            <a:ext cx="9583880" cy="955674"/>
          </a:xfrm>
          <a:prstGeom prst="rect">
            <a:avLst/>
          </a:prstGeom>
        </p:spPr>
        <p:txBody>
          <a:bodyPr lIns="0" tIns="0" rIns="0" bIns="0" rtlCol="0" anchor="t">
            <a:spAutoFit/>
          </a:bodyPr>
          <a:lstStyle/>
          <a:p>
            <a:pPr algn="just">
              <a:lnSpc>
                <a:spcPts val="6799"/>
              </a:lnSpc>
            </a:pPr>
            <a:r>
              <a:rPr lang="en-US" sz="8499" b="1">
                <a:solidFill>
                  <a:srgbClr val="14274E"/>
                </a:solidFill>
                <a:latin typeface="Clear Sans Bold"/>
                <a:ea typeface="Clear Sans Bold"/>
                <a:cs typeface="Clear Sans Bold"/>
                <a:sym typeface="Clear Sans Bold"/>
              </a:rPr>
              <a:t>Cài đặt môi trường</a:t>
            </a:r>
          </a:p>
        </p:txBody>
      </p:sp>
      <p:sp>
        <p:nvSpPr>
          <p:cNvPr id="10" name="TextBox 10"/>
          <p:cNvSpPr txBox="1"/>
          <p:nvPr/>
        </p:nvSpPr>
        <p:spPr>
          <a:xfrm>
            <a:off x="2543863" y="3932626"/>
            <a:ext cx="12196761" cy="563809"/>
          </a:xfrm>
          <a:prstGeom prst="rect">
            <a:avLst/>
          </a:prstGeom>
        </p:spPr>
        <p:txBody>
          <a:bodyPr wrap="square" lIns="0" tIns="0" rIns="0" bIns="0" rtlCol="0" anchor="t">
            <a:spAutoFit/>
          </a:bodyPr>
          <a:lstStyle/>
          <a:p>
            <a:pPr marL="734059" lvl="1" indent="-367030" algn="ctr">
              <a:lnSpc>
                <a:spcPts val="4759"/>
              </a:lnSpc>
              <a:buFont typeface="Arial"/>
              <a:buChar char="•"/>
            </a:pPr>
            <a:r>
              <a:rPr lang="en-US" sz="3399" dirty="0">
                <a:solidFill>
                  <a:srgbClr val="14274E"/>
                </a:solidFill>
                <a:latin typeface="Times New Roman"/>
                <a:ea typeface="Times New Roman"/>
                <a:cs typeface="Times New Roman"/>
                <a:sym typeface="Times New Roman"/>
              </a:rPr>
              <a:t>Python 3.11.5, OpenCV, </a:t>
            </a:r>
            <a:r>
              <a:rPr lang="en-US" sz="3399" dirty="0" err="1">
                <a:solidFill>
                  <a:srgbClr val="14274E"/>
                </a:solidFill>
                <a:latin typeface="Times New Roman"/>
                <a:ea typeface="Times New Roman"/>
                <a:cs typeface="Times New Roman"/>
                <a:sym typeface="Times New Roman"/>
              </a:rPr>
              <a:t>Numpy</a:t>
            </a:r>
            <a:r>
              <a:rPr lang="en-US" sz="3399" dirty="0">
                <a:solidFill>
                  <a:srgbClr val="14274E"/>
                </a:solidFill>
                <a:latin typeface="Times New Roman"/>
                <a:ea typeface="Times New Roman"/>
                <a:cs typeface="Times New Roman"/>
                <a:sym typeface="Times New Roman"/>
              </a:rPr>
              <a:t>, </a:t>
            </a:r>
            <a:r>
              <a:rPr lang="en-US" sz="3399" dirty="0" err="1">
                <a:solidFill>
                  <a:srgbClr val="14274E"/>
                </a:solidFill>
                <a:latin typeface="Times New Roman"/>
                <a:ea typeface="Times New Roman"/>
                <a:cs typeface="Times New Roman"/>
                <a:sym typeface="Times New Roman"/>
              </a:rPr>
              <a:t>Yolov8s</a:t>
            </a:r>
            <a:r>
              <a:rPr lang="en-US" sz="3399" dirty="0">
                <a:solidFill>
                  <a:srgbClr val="14274E"/>
                </a:solidFill>
                <a:latin typeface="Times New Roman"/>
                <a:ea typeface="Times New Roman"/>
                <a:cs typeface="Times New Roman"/>
                <a:sym typeface="Times New Roman"/>
              </a:rPr>
              <a:t>,  Visual Studio Code.</a:t>
            </a:r>
          </a:p>
        </p:txBody>
      </p:sp>
      <p:sp>
        <p:nvSpPr>
          <p:cNvPr id="11" name="TextBox 11"/>
          <p:cNvSpPr txBox="1"/>
          <p:nvPr/>
        </p:nvSpPr>
        <p:spPr>
          <a:xfrm>
            <a:off x="2543863" y="4704079"/>
            <a:ext cx="8149739" cy="563809"/>
          </a:xfrm>
          <a:prstGeom prst="rect">
            <a:avLst/>
          </a:prstGeom>
        </p:spPr>
        <p:txBody>
          <a:bodyPr wrap="square" lIns="0" tIns="0" rIns="0" bIns="0" rtlCol="0" anchor="t">
            <a:spAutoFit/>
          </a:bodyPr>
          <a:lstStyle/>
          <a:p>
            <a:pPr marL="734059" lvl="1" indent="-367030" algn="ctr">
              <a:lnSpc>
                <a:spcPts val="4759"/>
              </a:lnSpc>
              <a:buFont typeface="Arial"/>
              <a:buChar char="•"/>
            </a:pPr>
            <a:r>
              <a:rPr lang="en-US" sz="3399" dirty="0" err="1">
                <a:solidFill>
                  <a:srgbClr val="394867"/>
                </a:solidFill>
                <a:latin typeface="Times New Roman"/>
                <a:ea typeface="Times New Roman"/>
                <a:cs typeface="Times New Roman"/>
                <a:sym typeface="Times New Roman"/>
              </a:rPr>
              <a:t>Chạy</a:t>
            </a:r>
            <a:r>
              <a:rPr lang="en-US" sz="3399" dirty="0">
                <a:solidFill>
                  <a:srgbClr val="394867"/>
                </a:solidFill>
                <a:latin typeface="Times New Roman"/>
                <a:ea typeface="Times New Roman"/>
                <a:cs typeface="Times New Roman"/>
                <a:sym typeface="Times New Roman"/>
              </a:rPr>
              <a:t> </a:t>
            </a:r>
            <a:r>
              <a:rPr lang="en-US" sz="3399" dirty="0" err="1">
                <a:solidFill>
                  <a:srgbClr val="394867"/>
                </a:solidFill>
                <a:latin typeface="Times New Roman"/>
                <a:ea typeface="Times New Roman"/>
                <a:cs typeface="Times New Roman"/>
                <a:sym typeface="Times New Roman"/>
              </a:rPr>
              <a:t>trên</a:t>
            </a:r>
            <a:r>
              <a:rPr lang="en-US" sz="3399" dirty="0">
                <a:solidFill>
                  <a:srgbClr val="394867"/>
                </a:solidFill>
                <a:latin typeface="Times New Roman"/>
                <a:ea typeface="Times New Roman"/>
                <a:cs typeface="Times New Roman"/>
                <a:sym typeface="Times New Roman"/>
              </a:rPr>
              <a:t> </a:t>
            </a:r>
            <a:r>
              <a:rPr lang="en-US" sz="3399" dirty="0" err="1">
                <a:solidFill>
                  <a:srgbClr val="394867"/>
                </a:solidFill>
                <a:latin typeface="Times New Roman"/>
                <a:ea typeface="Times New Roman"/>
                <a:cs typeface="Times New Roman"/>
                <a:sym typeface="Times New Roman"/>
              </a:rPr>
              <a:t>Windown</a:t>
            </a:r>
            <a:r>
              <a:rPr lang="en-US" sz="3399" dirty="0">
                <a:solidFill>
                  <a:srgbClr val="394867"/>
                </a:solidFill>
                <a:latin typeface="Times New Roman"/>
                <a:ea typeface="Times New Roman"/>
                <a:cs typeface="Times New Roman"/>
                <a:sym typeface="Times New Roman"/>
              </a:rPr>
              <a:t>/Linux, </a:t>
            </a:r>
            <a:r>
              <a:rPr lang="en-US" sz="3399" dirty="0" err="1">
                <a:solidFill>
                  <a:srgbClr val="394867"/>
                </a:solidFill>
                <a:latin typeface="Times New Roman"/>
                <a:ea typeface="Times New Roman"/>
                <a:cs typeface="Times New Roman"/>
                <a:sym typeface="Times New Roman"/>
              </a:rPr>
              <a:t>hỗ</a:t>
            </a:r>
            <a:r>
              <a:rPr lang="en-US" sz="3399" dirty="0">
                <a:solidFill>
                  <a:srgbClr val="394867"/>
                </a:solidFill>
                <a:latin typeface="Times New Roman"/>
                <a:ea typeface="Times New Roman"/>
                <a:cs typeface="Times New Roman"/>
                <a:sym typeface="Times New Roman"/>
              </a:rPr>
              <a:t> </a:t>
            </a:r>
            <a:r>
              <a:rPr lang="en-US" sz="3399" dirty="0" err="1">
                <a:solidFill>
                  <a:srgbClr val="394867"/>
                </a:solidFill>
                <a:latin typeface="Times New Roman"/>
                <a:ea typeface="Times New Roman"/>
                <a:cs typeface="Times New Roman"/>
                <a:sym typeface="Times New Roman"/>
              </a:rPr>
              <a:t>trợ</a:t>
            </a:r>
            <a:r>
              <a:rPr lang="en-US" sz="3399" dirty="0">
                <a:solidFill>
                  <a:srgbClr val="394867"/>
                </a:solidFill>
                <a:latin typeface="Times New Roman"/>
                <a:ea typeface="Times New Roman"/>
                <a:cs typeface="Times New Roman"/>
                <a:sym typeface="Times New Roman"/>
              </a:rPr>
              <a:t> GPU</a:t>
            </a:r>
          </a:p>
        </p:txBody>
      </p:sp>
      <p:sp>
        <p:nvSpPr>
          <p:cNvPr id="12" name="TextBox 12"/>
          <p:cNvSpPr txBox="1"/>
          <p:nvPr/>
        </p:nvSpPr>
        <p:spPr>
          <a:xfrm>
            <a:off x="2617075" y="5387339"/>
            <a:ext cx="6417276" cy="647065"/>
          </a:xfrm>
          <a:prstGeom prst="rect">
            <a:avLst/>
          </a:prstGeom>
        </p:spPr>
        <p:txBody>
          <a:bodyPr lIns="0" tIns="0" rIns="0" bIns="0" rtlCol="0" anchor="t">
            <a:spAutoFit/>
          </a:bodyPr>
          <a:lstStyle/>
          <a:p>
            <a:pPr marL="734059" lvl="1" indent="-367030" algn="ctr">
              <a:lnSpc>
                <a:spcPts val="4759"/>
              </a:lnSpc>
              <a:buFont typeface="Arial"/>
              <a:buChar char="•"/>
            </a:pPr>
            <a:r>
              <a:rPr lang="en-US" sz="3399" dirty="0">
                <a:solidFill>
                  <a:srgbClr val="394867"/>
                </a:solidFill>
                <a:latin typeface="Times New Roman"/>
                <a:ea typeface="Times New Roman"/>
                <a:cs typeface="Times New Roman"/>
                <a:sym typeface="Times New Roman"/>
              </a:rPr>
              <a:t>Cài </a:t>
            </a:r>
            <a:r>
              <a:rPr lang="en-US" sz="3399" dirty="0" err="1">
                <a:solidFill>
                  <a:srgbClr val="394867"/>
                </a:solidFill>
                <a:latin typeface="Times New Roman"/>
                <a:ea typeface="Times New Roman"/>
                <a:cs typeface="Times New Roman"/>
                <a:sym typeface="Times New Roman"/>
              </a:rPr>
              <a:t>đặt</a:t>
            </a:r>
            <a:r>
              <a:rPr lang="en-US" sz="3399" dirty="0">
                <a:solidFill>
                  <a:srgbClr val="394867"/>
                </a:solidFill>
                <a:latin typeface="Times New Roman"/>
                <a:ea typeface="Times New Roman"/>
                <a:cs typeface="Times New Roman"/>
                <a:sym typeface="Times New Roman"/>
              </a:rPr>
              <a:t> </a:t>
            </a:r>
            <a:r>
              <a:rPr lang="en-US" sz="3399" dirty="0" err="1">
                <a:solidFill>
                  <a:srgbClr val="394867"/>
                </a:solidFill>
                <a:latin typeface="Times New Roman"/>
                <a:ea typeface="Times New Roman"/>
                <a:cs typeface="Times New Roman"/>
                <a:sym typeface="Times New Roman"/>
              </a:rPr>
              <a:t>Ulltralytics</a:t>
            </a:r>
            <a:r>
              <a:rPr lang="en-US" sz="3399" dirty="0">
                <a:solidFill>
                  <a:srgbClr val="394867"/>
                </a:solidFill>
                <a:latin typeface="Times New Roman"/>
                <a:ea typeface="Times New Roman"/>
                <a:cs typeface="Times New Roman"/>
                <a:sym typeface="Times New Roman"/>
              </a:rPr>
              <a:t>, </a:t>
            </a:r>
            <a:r>
              <a:rPr lang="en-US" sz="3399" dirty="0" err="1">
                <a:solidFill>
                  <a:srgbClr val="394867"/>
                </a:solidFill>
                <a:latin typeface="Times New Roman"/>
                <a:ea typeface="Times New Roman"/>
                <a:cs typeface="Times New Roman"/>
                <a:sym typeface="Times New Roman"/>
              </a:rPr>
              <a:t>ByteTrack</a:t>
            </a:r>
            <a:endParaRPr lang="en-US" sz="3399" dirty="0">
              <a:solidFill>
                <a:srgbClr val="394867"/>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4274E"/>
        </a:solidFill>
        <a:effectLst/>
      </p:bgPr>
    </p:bg>
    <p:spTree>
      <p:nvGrpSpPr>
        <p:cNvPr id="1" name=""/>
        <p:cNvGrpSpPr/>
        <p:nvPr/>
      </p:nvGrpSpPr>
      <p:grpSpPr>
        <a:xfrm>
          <a:off x="0" y="0"/>
          <a:ext cx="0" cy="0"/>
          <a:chOff x="0" y="0"/>
          <a:chExt cx="0" cy="0"/>
        </a:xfrm>
      </p:grpSpPr>
      <p:sp>
        <p:nvSpPr>
          <p:cNvPr id="2" name="Freeform 2"/>
          <p:cNvSpPr/>
          <p:nvPr/>
        </p:nvSpPr>
        <p:spPr>
          <a:xfrm>
            <a:off x="0" y="6172200"/>
            <a:ext cx="4848071" cy="4114800"/>
          </a:xfrm>
          <a:custGeom>
            <a:avLst/>
            <a:gdLst/>
            <a:ahLst/>
            <a:cxnLst/>
            <a:rect l="l" t="t" r="r" b="b"/>
            <a:pathLst>
              <a:path w="4848071" h="4114800">
                <a:moveTo>
                  <a:pt x="0" y="0"/>
                </a:moveTo>
                <a:lnTo>
                  <a:pt x="4848071" y="0"/>
                </a:lnTo>
                <a:lnTo>
                  <a:pt x="4848071" y="4114800"/>
                </a:lnTo>
                <a:lnTo>
                  <a:pt x="0" y="4114800"/>
                </a:lnTo>
                <a:lnTo>
                  <a:pt x="0" y="0"/>
                </a:lnTo>
                <a:close/>
              </a:path>
            </a:pathLst>
          </a:custGeom>
          <a:blipFill>
            <a:blip r:embed="rId2">
              <a:alphaModFix amt="5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a:off x="14630241" y="6629241"/>
            <a:ext cx="3657759" cy="3657759"/>
          </a:xfrm>
          <a:custGeom>
            <a:avLst/>
            <a:gdLst/>
            <a:ahLst/>
            <a:cxnLst/>
            <a:rect l="l" t="t" r="r" b="b"/>
            <a:pathLst>
              <a:path w="3657759" h="3657759">
                <a:moveTo>
                  <a:pt x="3657759" y="0"/>
                </a:moveTo>
                <a:lnTo>
                  <a:pt x="0" y="0"/>
                </a:lnTo>
                <a:lnTo>
                  <a:pt x="0" y="3657759"/>
                </a:lnTo>
                <a:lnTo>
                  <a:pt x="3657759" y="3657759"/>
                </a:lnTo>
                <a:lnTo>
                  <a:pt x="3657759"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flipH="1" flipV="1">
            <a:off x="13439929" y="0"/>
            <a:ext cx="4848071" cy="4114800"/>
          </a:xfrm>
          <a:custGeom>
            <a:avLst/>
            <a:gdLst/>
            <a:ahLst/>
            <a:cxnLst/>
            <a:rect l="l" t="t" r="r" b="b"/>
            <a:pathLst>
              <a:path w="4848071" h="4114800">
                <a:moveTo>
                  <a:pt x="4848071" y="4114800"/>
                </a:moveTo>
                <a:lnTo>
                  <a:pt x="0" y="4114800"/>
                </a:lnTo>
                <a:lnTo>
                  <a:pt x="0" y="0"/>
                </a:lnTo>
                <a:lnTo>
                  <a:pt x="4848071" y="0"/>
                </a:lnTo>
                <a:lnTo>
                  <a:pt x="4848071" y="411480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flipV="1">
            <a:off x="0" y="-57150"/>
            <a:ext cx="3657759" cy="3657759"/>
          </a:xfrm>
          <a:custGeom>
            <a:avLst/>
            <a:gdLst/>
            <a:ahLst/>
            <a:cxnLst/>
            <a:rect l="l" t="t" r="r" b="b"/>
            <a:pathLst>
              <a:path w="3657759" h="3657759">
                <a:moveTo>
                  <a:pt x="0" y="3657759"/>
                </a:moveTo>
                <a:lnTo>
                  <a:pt x="3657759" y="3657759"/>
                </a:lnTo>
                <a:lnTo>
                  <a:pt x="3657759" y="0"/>
                </a:lnTo>
                <a:lnTo>
                  <a:pt x="0" y="0"/>
                </a:lnTo>
                <a:lnTo>
                  <a:pt x="0" y="3657759"/>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6" name="Group 6"/>
          <p:cNvGrpSpPr/>
          <p:nvPr/>
        </p:nvGrpSpPr>
        <p:grpSpPr>
          <a:xfrm>
            <a:off x="919051" y="1067319"/>
            <a:ext cx="16230600" cy="8190981"/>
            <a:chOff x="0" y="0"/>
            <a:chExt cx="4274726" cy="2157295"/>
          </a:xfrm>
        </p:grpSpPr>
        <p:sp>
          <p:nvSpPr>
            <p:cNvPr id="7" name="Freeform 7"/>
            <p:cNvSpPr/>
            <p:nvPr/>
          </p:nvSpPr>
          <p:spPr>
            <a:xfrm>
              <a:off x="0" y="0"/>
              <a:ext cx="4274726" cy="2157295"/>
            </a:xfrm>
            <a:custGeom>
              <a:avLst/>
              <a:gdLst/>
              <a:ahLst/>
              <a:cxnLst/>
              <a:rect l="l" t="t" r="r" b="b"/>
              <a:pathLst>
                <a:path w="4274726" h="2157295">
                  <a:moveTo>
                    <a:pt x="24327" y="0"/>
                  </a:moveTo>
                  <a:lnTo>
                    <a:pt x="4250399" y="0"/>
                  </a:lnTo>
                  <a:cubicBezTo>
                    <a:pt x="4263834" y="0"/>
                    <a:pt x="4274726" y="10891"/>
                    <a:pt x="4274726" y="24327"/>
                  </a:cubicBezTo>
                  <a:lnTo>
                    <a:pt x="4274726" y="2132968"/>
                  </a:lnTo>
                  <a:cubicBezTo>
                    <a:pt x="4274726" y="2146404"/>
                    <a:pt x="4263834" y="2157295"/>
                    <a:pt x="4250399" y="2157295"/>
                  </a:cubicBezTo>
                  <a:lnTo>
                    <a:pt x="24327" y="2157295"/>
                  </a:lnTo>
                  <a:cubicBezTo>
                    <a:pt x="17875" y="2157295"/>
                    <a:pt x="11687" y="2154732"/>
                    <a:pt x="7125" y="2150170"/>
                  </a:cubicBezTo>
                  <a:cubicBezTo>
                    <a:pt x="2563" y="2145608"/>
                    <a:pt x="0" y="2139420"/>
                    <a:pt x="0" y="2132968"/>
                  </a:cubicBezTo>
                  <a:lnTo>
                    <a:pt x="0" y="24327"/>
                  </a:lnTo>
                  <a:cubicBezTo>
                    <a:pt x="0" y="10891"/>
                    <a:pt x="10891" y="0"/>
                    <a:pt x="24327" y="0"/>
                  </a:cubicBezTo>
                  <a:close/>
                </a:path>
              </a:pathLst>
            </a:custGeom>
            <a:solidFill>
              <a:srgbClr val="F1F6F9"/>
            </a:solidFill>
            <a:ln w="133350" cap="rnd">
              <a:solidFill>
                <a:srgbClr val="394867"/>
              </a:solidFill>
              <a:prstDash val="solid"/>
              <a:round/>
            </a:ln>
          </p:spPr>
          <p:txBody>
            <a:bodyPr/>
            <a:lstStyle/>
            <a:p>
              <a:endParaRPr lang="en-US"/>
            </a:p>
          </p:txBody>
        </p:sp>
        <p:sp>
          <p:nvSpPr>
            <p:cNvPr id="8" name="TextBox 8"/>
            <p:cNvSpPr txBox="1"/>
            <p:nvPr/>
          </p:nvSpPr>
          <p:spPr>
            <a:xfrm>
              <a:off x="0" y="-38100"/>
              <a:ext cx="4274726" cy="2195395"/>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3783879" y="2105104"/>
            <a:ext cx="10939539" cy="955674"/>
          </a:xfrm>
          <a:prstGeom prst="rect">
            <a:avLst/>
          </a:prstGeom>
        </p:spPr>
        <p:txBody>
          <a:bodyPr lIns="0" tIns="0" rIns="0" bIns="0" rtlCol="0" anchor="t">
            <a:spAutoFit/>
          </a:bodyPr>
          <a:lstStyle/>
          <a:p>
            <a:pPr algn="just">
              <a:lnSpc>
                <a:spcPts val="6799"/>
              </a:lnSpc>
            </a:pPr>
            <a:r>
              <a:rPr lang="en-US" sz="8499" b="1">
                <a:solidFill>
                  <a:srgbClr val="14274E"/>
                </a:solidFill>
                <a:latin typeface="Clear Sans Bold"/>
                <a:ea typeface="Clear Sans Bold"/>
                <a:cs typeface="Clear Sans Bold"/>
                <a:sym typeface="Clear Sans Bold"/>
              </a:rPr>
              <a:t>Thử nghiệm hệ thống</a:t>
            </a:r>
          </a:p>
        </p:txBody>
      </p:sp>
      <p:sp>
        <p:nvSpPr>
          <p:cNvPr id="10" name="TextBox 10"/>
          <p:cNvSpPr txBox="1"/>
          <p:nvPr/>
        </p:nvSpPr>
        <p:spPr>
          <a:xfrm>
            <a:off x="2424035" y="3346320"/>
            <a:ext cx="12427823" cy="4640758"/>
          </a:xfrm>
          <a:prstGeom prst="rect">
            <a:avLst/>
          </a:prstGeom>
        </p:spPr>
        <p:txBody>
          <a:bodyPr lIns="0" tIns="0" rIns="0" bIns="0" rtlCol="0" anchor="t">
            <a:spAutoFit/>
          </a:bodyPr>
          <a:lstStyle/>
          <a:p>
            <a:pPr marL="431801" lvl="1" indent="-215900" algn="l">
              <a:lnSpc>
                <a:spcPts val="2800"/>
              </a:lnSpc>
              <a:buFont typeface="Arial"/>
              <a:buChar char="•"/>
            </a:pPr>
            <a:r>
              <a:rPr lang="en-US" sz="2000" b="1" dirty="0">
                <a:solidFill>
                  <a:srgbClr val="14274E"/>
                </a:solidFill>
                <a:latin typeface="Clear Sans Bold"/>
                <a:ea typeface="Clear Sans Bold"/>
                <a:cs typeface="Clear Sans Bold"/>
                <a:sym typeface="Clear Sans Bold"/>
              </a:rPr>
              <a:t>Input: Video </a:t>
            </a:r>
            <a:r>
              <a:rPr lang="en-US" sz="2000" b="1" dirty="0" err="1">
                <a:solidFill>
                  <a:srgbClr val="14274E"/>
                </a:solidFill>
                <a:latin typeface="Clear Sans Bold"/>
                <a:ea typeface="Clear Sans Bold"/>
                <a:cs typeface="Clear Sans Bold"/>
                <a:sym typeface="Clear Sans Bold"/>
              </a:rPr>
              <a:t>thực</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tế</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videomo2.mp4</a:t>
            </a:r>
            <a:r>
              <a:rPr lang="en-US" sz="2000" b="1" dirty="0">
                <a:solidFill>
                  <a:srgbClr val="14274E"/>
                </a:solidFill>
                <a:latin typeface="Clear Sans Bold"/>
                <a:ea typeface="Clear Sans Bold"/>
                <a:cs typeface="Clear Sans Bold"/>
                <a:sym typeface="Clear Sans Bold"/>
              </a:rPr>
              <a:t>.</a:t>
            </a:r>
          </a:p>
          <a:p>
            <a:pPr marL="431801" lvl="1" indent="-215900" algn="l">
              <a:lnSpc>
                <a:spcPts val="2800"/>
              </a:lnSpc>
              <a:buFont typeface="Arial"/>
              <a:buChar char="•"/>
            </a:pPr>
            <a:r>
              <a:rPr lang="en-US" sz="2000" b="1" dirty="0">
                <a:solidFill>
                  <a:srgbClr val="14274E"/>
                </a:solidFill>
                <a:latin typeface="Clear Sans Bold"/>
                <a:ea typeface="Clear Sans Bold"/>
                <a:cs typeface="Clear Sans Bold"/>
                <a:sym typeface="Clear Sans Bold"/>
              </a:rPr>
              <a:t>Quy </a:t>
            </a:r>
            <a:r>
              <a:rPr lang="en-US" sz="2000" b="1" dirty="0" err="1">
                <a:solidFill>
                  <a:srgbClr val="14274E"/>
                </a:solidFill>
                <a:latin typeface="Clear Sans Bold"/>
                <a:ea typeface="Clear Sans Bold"/>
                <a:cs typeface="Clear Sans Bold"/>
                <a:sym typeface="Clear Sans Bold"/>
              </a:rPr>
              <a:t>trình</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hệ</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thống</a:t>
            </a:r>
            <a:r>
              <a:rPr lang="en-US" sz="2000" b="1" dirty="0">
                <a:solidFill>
                  <a:srgbClr val="14274E"/>
                </a:solidFill>
                <a:latin typeface="Clear Sans Bold"/>
                <a:ea typeface="Clear Sans Bold"/>
                <a:cs typeface="Clear Sans Bold"/>
                <a:sym typeface="Clear Sans Bold"/>
              </a:rPr>
              <a:t>:</a:t>
            </a:r>
          </a:p>
          <a:p>
            <a:pPr marL="431801" lvl="1" indent="-215900" algn="l">
              <a:lnSpc>
                <a:spcPts val="2800"/>
              </a:lnSpc>
              <a:buAutoNum type="arabicPeriod"/>
            </a:pPr>
            <a:r>
              <a:rPr lang="en-US" sz="2000" b="1" dirty="0" err="1">
                <a:solidFill>
                  <a:srgbClr val="14274E"/>
                </a:solidFill>
                <a:latin typeface="Clear Sans Bold"/>
                <a:ea typeface="Clear Sans Bold"/>
                <a:cs typeface="Clear Sans Bold"/>
                <a:sym typeface="Clear Sans Bold"/>
              </a:rPr>
              <a:t>Phát</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hiện</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phương</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tiện</a:t>
            </a:r>
            <a:r>
              <a:rPr lang="en-US" sz="2000" b="1" dirty="0">
                <a:solidFill>
                  <a:srgbClr val="14274E"/>
                </a:solidFill>
                <a:latin typeface="Clear Sans Bold"/>
                <a:ea typeface="Clear Sans Bold"/>
                <a:cs typeface="Clear Sans Bold"/>
                <a:sym typeface="Clear Sans Bold"/>
              </a:rPr>
              <a:t>:</a:t>
            </a:r>
          </a:p>
          <a:p>
            <a:pPr marL="863601" lvl="2" indent="-287867" algn="l">
              <a:lnSpc>
                <a:spcPts val="2800"/>
              </a:lnSpc>
              <a:buFont typeface="Arial"/>
              <a:buChar char="⚬"/>
            </a:pPr>
            <a:r>
              <a:rPr lang="en-US" sz="2000" b="1" dirty="0" err="1">
                <a:solidFill>
                  <a:srgbClr val="14274E"/>
                </a:solidFill>
                <a:latin typeface="Clear Sans Bold"/>
                <a:ea typeface="Clear Sans Bold"/>
                <a:cs typeface="Clear Sans Bold"/>
                <a:sym typeface="Clear Sans Bold"/>
              </a:rPr>
              <a:t>Sử</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dụng</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mô</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hình</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YOLOv8s.pt</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để</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phát</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hiện</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các</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phương</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tiện</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trong</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từng</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khung</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hình</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của</a:t>
            </a:r>
            <a:r>
              <a:rPr lang="en-US" sz="2000" b="1" dirty="0">
                <a:solidFill>
                  <a:srgbClr val="14274E"/>
                </a:solidFill>
                <a:latin typeface="Clear Sans Bold"/>
                <a:ea typeface="Clear Sans Bold"/>
                <a:cs typeface="Clear Sans Bold"/>
                <a:sym typeface="Clear Sans Bold"/>
              </a:rPr>
              <a:t> video.</a:t>
            </a:r>
          </a:p>
          <a:p>
            <a:pPr marL="431801" lvl="1" indent="-215900" algn="l">
              <a:lnSpc>
                <a:spcPts val="2800"/>
              </a:lnSpc>
              <a:buAutoNum type="arabicPeriod"/>
            </a:pPr>
            <a:r>
              <a:rPr lang="en-US" sz="2000" b="1" dirty="0">
                <a:solidFill>
                  <a:srgbClr val="14274E"/>
                </a:solidFill>
                <a:latin typeface="Clear Sans Bold"/>
                <a:ea typeface="Clear Sans Bold"/>
                <a:cs typeface="Clear Sans Bold"/>
                <a:sym typeface="Clear Sans Bold"/>
              </a:rPr>
              <a:t>Theo </a:t>
            </a:r>
            <a:r>
              <a:rPr lang="en-US" sz="2000" b="1" dirty="0" err="1">
                <a:solidFill>
                  <a:srgbClr val="14274E"/>
                </a:solidFill>
                <a:latin typeface="Clear Sans Bold"/>
                <a:ea typeface="Clear Sans Bold"/>
                <a:cs typeface="Clear Sans Bold"/>
                <a:sym typeface="Clear Sans Bold"/>
              </a:rPr>
              <a:t>dõi</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phương</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tiện</a:t>
            </a:r>
            <a:r>
              <a:rPr lang="en-US" sz="2000" b="1" dirty="0">
                <a:solidFill>
                  <a:srgbClr val="14274E"/>
                </a:solidFill>
                <a:latin typeface="Clear Sans Bold"/>
                <a:ea typeface="Clear Sans Bold"/>
                <a:cs typeface="Clear Sans Bold"/>
                <a:sym typeface="Clear Sans Bold"/>
              </a:rPr>
              <a:t> (Tracking):</a:t>
            </a:r>
          </a:p>
          <a:p>
            <a:pPr marL="863601" lvl="2" indent="-287867" algn="l">
              <a:lnSpc>
                <a:spcPts val="2800"/>
              </a:lnSpc>
              <a:buFont typeface="Arial"/>
              <a:buChar char="⚬"/>
            </a:pPr>
            <a:r>
              <a:rPr lang="en-US" sz="2000" b="1" dirty="0" err="1">
                <a:solidFill>
                  <a:srgbClr val="14274E"/>
                </a:solidFill>
                <a:latin typeface="Clear Sans Bold"/>
                <a:ea typeface="Clear Sans Bold"/>
                <a:cs typeface="Clear Sans Bold"/>
                <a:sym typeface="Clear Sans Bold"/>
              </a:rPr>
              <a:t>Áp</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dụng</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thuật</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toán</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ByteTrack</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để</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gán</a:t>
            </a:r>
            <a:r>
              <a:rPr lang="en-US" sz="2000" b="1" dirty="0">
                <a:solidFill>
                  <a:srgbClr val="14274E"/>
                </a:solidFill>
                <a:latin typeface="Clear Sans Bold"/>
                <a:ea typeface="Clear Sans Bold"/>
                <a:cs typeface="Clear Sans Bold"/>
                <a:sym typeface="Clear Sans Bold"/>
              </a:rPr>
              <a:t> ID </a:t>
            </a:r>
            <a:r>
              <a:rPr lang="en-US" sz="2000" b="1" dirty="0" err="1">
                <a:solidFill>
                  <a:srgbClr val="14274E"/>
                </a:solidFill>
                <a:latin typeface="Clear Sans Bold"/>
                <a:ea typeface="Clear Sans Bold"/>
                <a:cs typeface="Clear Sans Bold"/>
                <a:sym typeface="Clear Sans Bold"/>
              </a:rPr>
              <a:t>và</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theo</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dõi</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các</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phương</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tiện</a:t>
            </a:r>
            <a:r>
              <a:rPr lang="en-US" sz="2000" b="1" dirty="0">
                <a:solidFill>
                  <a:srgbClr val="14274E"/>
                </a:solidFill>
                <a:latin typeface="Clear Sans Bold"/>
                <a:ea typeface="Clear Sans Bold"/>
                <a:cs typeface="Clear Sans Bold"/>
                <a:sym typeface="Clear Sans Bold"/>
              </a:rPr>
              <a:t> qua </a:t>
            </a:r>
            <a:r>
              <a:rPr lang="en-US" sz="2000" b="1" dirty="0" err="1">
                <a:solidFill>
                  <a:srgbClr val="14274E"/>
                </a:solidFill>
                <a:latin typeface="Clear Sans Bold"/>
                <a:ea typeface="Clear Sans Bold"/>
                <a:cs typeface="Clear Sans Bold"/>
                <a:sym typeface="Clear Sans Bold"/>
              </a:rPr>
              <a:t>các</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khung</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hình</a:t>
            </a:r>
            <a:r>
              <a:rPr lang="en-US" sz="2000" b="1" dirty="0">
                <a:solidFill>
                  <a:srgbClr val="14274E"/>
                </a:solidFill>
                <a:latin typeface="Clear Sans Bold"/>
                <a:ea typeface="Clear Sans Bold"/>
                <a:cs typeface="Clear Sans Bold"/>
                <a:sym typeface="Clear Sans Bold"/>
              </a:rPr>
              <a:t>.</a:t>
            </a:r>
          </a:p>
          <a:p>
            <a:pPr marL="431801" lvl="1" indent="-215900" algn="l">
              <a:lnSpc>
                <a:spcPts val="2800"/>
              </a:lnSpc>
              <a:buAutoNum type="arabicPeriod"/>
            </a:pPr>
            <a:r>
              <a:rPr lang="en-US" sz="2000" b="1" dirty="0" err="1">
                <a:solidFill>
                  <a:srgbClr val="14274E"/>
                </a:solidFill>
                <a:latin typeface="Clear Sans Bold"/>
                <a:ea typeface="Clear Sans Bold"/>
                <a:cs typeface="Clear Sans Bold"/>
                <a:sym typeface="Clear Sans Bold"/>
              </a:rPr>
              <a:t>Gán</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biển</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số</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với</a:t>
            </a:r>
            <a:r>
              <a:rPr lang="en-US" sz="2000" b="1" dirty="0">
                <a:solidFill>
                  <a:srgbClr val="14274E"/>
                </a:solidFill>
                <a:latin typeface="Clear Sans Bold"/>
                <a:ea typeface="Clear Sans Bold"/>
                <a:cs typeface="Clear Sans Bold"/>
                <a:sym typeface="Clear Sans Bold"/>
              </a:rPr>
              <a:t> ID </a:t>
            </a:r>
            <a:r>
              <a:rPr lang="en-US" sz="2000" b="1" dirty="0" err="1">
                <a:solidFill>
                  <a:srgbClr val="14274E"/>
                </a:solidFill>
                <a:latin typeface="Clear Sans Bold"/>
                <a:ea typeface="Clear Sans Bold"/>
                <a:cs typeface="Clear Sans Bold"/>
                <a:sym typeface="Clear Sans Bold"/>
              </a:rPr>
              <a:t>xe</a:t>
            </a:r>
            <a:r>
              <a:rPr lang="en-US" sz="2000" b="1" dirty="0">
                <a:solidFill>
                  <a:srgbClr val="14274E"/>
                </a:solidFill>
                <a:latin typeface="Clear Sans Bold"/>
                <a:ea typeface="Clear Sans Bold"/>
                <a:cs typeface="Clear Sans Bold"/>
                <a:sym typeface="Clear Sans Bold"/>
              </a:rPr>
              <a:t>:</a:t>
            </a:r>
          </a:p>
          <a:p>
            <a:pPr marL="863601" lvl="2" indent="-287867" algn="l">
              <a:lnSpc>
                <a:spcPts val="2800"/>
              </a:lnSpc>
              <a:buFont typeface="Arial"/>
              <a:buChar char="⚬"/>
            </a:pPr>
            <a:r>
              <a:rPr lang="en-US" sz="2000" b="1" dirty="0" err="1">
                <a:solidFill>
                  <a:srgbClr val="14274E"/>
                </a:solidFill>
                <a:latin typeface="Clear Sans Bold"/>
                <a:ea typeface="Clear Sans Bold"/>
                <a:cs typeface="Clear Sans Bold"/>
                <a:sym typeface="Clear Sans Bold"/>
              </a:rPr>
              <a:t>Mỗi</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biển</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số</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được</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gắn</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với</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đúng</a:t>
            </a:r>
            <a:r>
              <a:rPr lang="en-US" sz="2000" b="1" dirty="0">
                <a:solidFill>
                  <a:srgbClr val="14274E"/>
                </a:solidFill>
                <a:latin typeface="Clear Sans Bold"/>
                <a:ea typeface="Clear Sans Bold"/>
                <a:cs typeface="Clear Sans Bold"/>
                <a:sym typeface="Clear Sans Bold"/>
              </a:rPr>
              <a:t> ID </a:t>
            </a:r>
            <a:r>
              <a:rPr lang="en-US" sz="2000" b="1" dirty="0" err="1">
                <a:solidFill>
                  <a:srgbClr val="14274E"/>
                </a:solidFill>
                <a:latin typeface="Clear Sans Bold"/>
                <a:ea typeface="Clear Sans Bold"/>
                <a:cs typeface="Clear Sans Bold"/>
                <a:sym typeface="Clear Sans Bold"/>
              </a:rPr>
              <a:t>của</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xe</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nếu</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tọa</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độ</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trung</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tâm</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biển</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nằm</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trong</a:t>
            </a:r>
            <a:r>
              <a:rPr lang="en-US" sz="2000" b="1" dirty="0">
                <a:solidFill>
                  <a:srgbClr val="14274E"/>
                </a:solidFill>
                <a:latin typeface="Clear Sans Bold"/>
                <a:ea typeface="Clear Sans Bold"/>
                <a:cs typeface="Clear Sans Bold"/>
                <a:sym typeface="Clear Sans Bold"/>
              </a:rPr>
              <a:t> bounding box </a:t>
            </a:r>
            <a:r>
              <a:rPr lang="en-US" sz="2000" b="1" dirty="0" err="1">
                <a:solidFill>
                  <a:srgbClr val="14274E"/>
                </a:solidFill>
                <a:latin typeface="Clear Sans Bold"/>
                <a:ea typeface="Clear Sans Bold"/>
                <a:cs typeface="Clear Sans Bold"/>
                <a:sym typeface="Clear Sans Bold"/>
              </a:rPr>
              <a:t>của</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phương</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tiện</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đang</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được</a:t>
            </a:r>
            <a:r>
              <a:rPr lang="en-US" sz="2000" b="1" dirty="0">
                <a:solidFill>
                  <a:srgbClr val="14274E"/>
                </a:solidFill>
                <a:latin typeface="Clear Sans Bold"/>
                <a:ea typeface="Clear Sans Bold"/>
                <a:cs typeface="Clear Sans Bold"/>
                <a:sym typeface="Clear Sans Bold"/>
              </a:rPr>
              <a:t> track.</a:t>
            </a:r>
          </a:p>
          <a:p>
            <a:pPr marL="431801" lvl="1" indent="-215900" algn="l">
              <a:lnSpc>
                <a:spcPts val="2800"/>
              </a:lnSpc>
              <a:buAutoNum type="arabicPeriod"/>
            </a:pPr>
            <a:r>
              <a:rPr lang="en-US" sz="2000" b="1" dirty="0">
                <a:solidFill>
                  <a:srgbClr val="14274E"/>
                </a:solidFill>
                <a:latin typeface="Clear Sans Bold"/>
                <a:ea typeface="Clear Sans Bold"/>
                <a:cs typeface="Clear Sans Bold"/>
                <a:sym typeface="Clear Sans Bold"/>
              </a:rPr>
              <a:t>Lưu </a:t>
            </a:r>
            <a:r>
              <a:rPr lang="en-US" sz="2000" b="1" dirty="0" err="1">
                <a:solidFill>
                  <a:srgbClr val="14274E"/>
                </a:solidFill>
                <a:latin typeface="Clear Sans Bold"/>
                <a:ea typeface="Clear Sans Bold"/>
                <a:cs typeface="Clear Sans Bold"/>
                <a:sym typeface="Clear Sans Bold"/>
              </a:rPr>
              <a:t>kết</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quả</a:t>
            </a:r>
            <a:r>
              <a:rPr lang="en-US" sz="2000" b="1" dirty="0">
                <a:solidFill>
                  <a:srgbClr val="14274E"/>
                </a:solidFill>
                <a:latin typeface="Clear Sans Bold"/>
                <a:ea typeface="Clear Sans Bold"/>
                <a:cs typeface="Clear Sans Bold"/>
                <a:sym typeface="Clear Sans Bold"/>
              </a:rPr>
              <a:t> &amp; </a:t>
            </a:r>
            <a:r>
              <a:rPr lang="en-US" sz="2000" b="1" dirty="0" err="1">
                <a:solidFill>
                  <a:srgbClr val="14274E"/>
                </a:solidFill>
                <a:latin typeface="Clear Sans Bold"/>
                <a:ea typeface="Clear Sans Bold"/>
                <a:cs typeface="Clear Sans Bold"/>
                <a:sym typeface="Clear Sans Bold"/>
              </a:rPr>
              <a:t>hiển</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thị</a:t>
            </a:r>
            <a:r>
              <a:rPr lang="en-US" sz="2000" b="1" dirty="0">
                <a:solidFill>
                  <a:srgbClr val="14274E"/>
                </a:solidFill>
                <a:latin typeface="Clear Sans Bold"/>
                <a:ea typeface="Clear Sans Bold"/>
                <a:cs typeface="Clear Sans Bold"/>
                <a:sym typeface="Clear Sans Bold"/>
              </a:rPr>
              <a:t>:</a:t>
            </a:r>
          </a:p>
          <a:p>
            <a:pPr marL="863601" lvl="2" indent="-287867" algn="l">
              <a:lnSpc>
                <a:spcPts val="2800"/>
              </a:lnSpc>
              <a:buFont typeface="Arial"/>
              <a:buChar char="⚬"/>
            </a:pPr>
            <a:r>
              <a:rPr lang="en-US" sz="2000" b="1" dirty="0">
                <a:solidFill>
                  <a:srgbClr val="14274E"/>
                </a:solidFill>
                <a:latin typeface="Clear Sans Bold"/>
                <a:ea typeface="Clear Sans Bold"/>
                <a:cs typeface="Clear Sans Bold"/>
                <a:sym typeface="Clear Sans Bold"/>
              </a:rPr>
              <a:t>In </a:t>
            </a:r>
            <a:r>
              <a:rPr lang="en-US" sz="2000" b="1" dirty="0" err="1">
                <a:solidFill>
                  <a:srgbClr val="14274E"/>
                </a:solidFill>
                <a:latin typeface="Clear Sans Bold"/>
                <a:ea typeface="Clear Sans Bold"/>
                <a:cs typeface="Clear Sans Bold"/>
                <a:sym typeface="Clear Sans Bold"/>
              </a:rPr>
              <a:t>thông</a:t>
            </a:r>
            <a:r>
              <a:rPr lang="en-US" sz="2000" b="1" dirty="0">
                <a:solidFill>
                  <a:srgbClr val="14274E"/>
                </a:solidFill>
                <a:latin typeface="Clear Sans Bold"/>
                <a:ea typeface="Clear Sans Bold"/>
                <a:cs typeface="Clear Sans Bold"/>
                <a:sym typeface="Clear Sans Bold"/>
              </a:rPr>
              <a:t> tin </a:t>
            </a:r>
            <a:r>
              <a:rPr lang="en-US" sz="2000" b="1" dirty="0" err="1">
                <a:solidFill>
                  <a:srgbClr val="14274E"/>
                </a:solidFill>
                <a:latin typeface="Clear Sans Bold"/>
                <a:ea typeface="Clear Sans Bold"/>
                <a:cs typeface="Clear Sans Bold"/>
                <a:sym typeface="Clear Sans Bold"/>
              </a:rPr>
              <a:t>biển</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số</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theo</a:t>
            </a:r>
            <a:r>
              <a:rPr lang="en-US" sz="2000" b="1" dirty="0">
                <a:solidFill>
                  <a:srgbClr val="14274E"/>
                </a:solidFill>
                <a:latin typeface="Clear Sans Bold"/>
                <a:ea typeface="Clear Sans Bold"/>
                <a:cs typeface="Clear Sans Bold"/>
                <a:sym typeface="Clear Sans Bold"/>
              </a:rPr>
              <a:t> ID </a:t>
            </a:r>
            <a:r>
              <a:rPr lang="en-US" sz="2000" b="1" dirty="0" err="1">
                <a:solidFill>
                  <a:srgbClr val="14274E"/>
                </a:solidFill>
                <a:latin typeface="Clear Sans Bold"/>
                <a:ea typeface="Clear Sans Bold"/>
                <a:cs typeface="Clear Sans Bold"/>
                <a:sym typeface="Clear Sans Bold"/>
              </a:rPr>
              <a:t>xe</a:t>
            </a:r>
            <a:r>
              <a:rPr lang="en-US" sz="2000" b="1" dirty="0">
                <a:solidFill>
                  <a:srgbClr val="14274E"/>
                </a:solidFill>
                <a:latin typeface="Clear Sans Bold"/>
                <a:ea typeface="Clear Sans Bold"/>
                <a:cs typeface="Clear Sans Bold"/>
                <a:sym typeface="Clear Sans Bold"/>
              </a:rPr>
              <a:t>.</a:t>
            </a:r>
          </a:p>
          <a:p>
            <a:pPr marL="863601" lvl="2" indent="-287867" algn="l">
              <a:lnSpc>
                <a:spcPts val="2800"/>
              </a:lnSpc>
              <a:buFont typeface="Arial"/>
              <a:buChar char="⚬"/>
            </a:pPr>
            <a:r>
              <a:rPr lang="en-US" sz="2000" b="1" dirty="0" err="1">
                <a:solidFill>
                  <a:srgbClr val="14274E"/>
                </a:solidFill>
                <a:latin typeface="Clear Sans Bold"/>
                <a:ea typeface="Clear Sans Bold"/>
                <a:cs typeface="Clear Sans Bold"/>
                <a:sym typeface="Clear Sans Bold"/>
              </a:rPr>
              <a:t>Ghi</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khung</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hình</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đã</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nhận</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diện</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vào</a:t>
            </a:r>
            <a:r>
              <a:rPr lang="en-US" sz="2000" b="1" dirty="0">
                <a:solidFill>
                  <a:srgbClr val="14274E"/>
                </a:solidFill>
                <a:latin typeface="Clear Sans Bold"/>
                <a:ea typeface="Clear Sans Bold"/>
                <a:cs typeface="Clear Sans Bold"/>
                <a:sym typeface="Clear Sans Bold"/>
              </a:rPr>
              <a:t> video </a:t>
            </a:r>
            <a:r>
              <a:rPr lang="en-US" sz="2000" b="1" dirty="0" err="1">
                <a:solidFill>
                  <a:srgbClr val="14274E"/>
                </a:solidFill>
                <a:latin typeface="Clear Sans Bold"/>
                <a:ea typeface="Clear Sans Bold"/>
                <a:cs typeface="Clear Sans Bold"/>
                <a:sym typeface="Clear Sans Bold"/>
              </a:rPr>
              <a:t>mới</a:t>
            </a:r>
            <a:r>
              <a:rPr lang="en-US" sz="2000" b="1" dirty="0">
                <a:solidFill>
                  <a:srgbClr val="14274E"/>
                </a:solidFill>
                <a:latin typeface="Clear Sans Bold"/>
                <a:ea typeface="Clear Sans Bold"/>
                <a:cs typeface="Clear Sans Bold"/>
                <a:sym typeface="Clear Sans Bold"/>
              </a:rPr>
              <a:t> </a:t>
            </a:r>
            <a:r>
              <a:rPr lang="en-US" sz="2000" b="1" dirty="0" err="1">
                <a:solidFill>
                  <a:srgbClr val="14274E"/>
                </a:solidFill>
                <a:latin typeface="Clear Sans Bold"/>
                <a:ea typeface="Clear Sans Bold"/>
                <a:cs typeface="Clear Sans Bold"/>
                <a:sym typeface="Clear Sans Bold"/>
              </a:rPr>
              <a:t>output_scaled.avi</a:t>
            </a:r>
            <a:r>
              <a:rPr lang="en-US" sz="2000" b="1" dirty="0">
                <a:solidFill>
                  <a:srgbClr val="14274E"/>
                </a:solidFill>
                <a:latin typeface="Clear Sans Bold"/>
                <a:ea typeface="Clear Sans Bold"/>
                <a:cs typeface="Clear Sans Bold"/>
                <a:sym typeface="Clear Sans Bold"/>
              </a:rPr>
              <a:t>.</a:t>
            </a:r>
          </a:p>
          <a:p>
            <a:pPr algn="l">
              <a:lnSpc>
                <a:spcPts val="2800"/>
              </a:lnSpc>
            </a:pPr>
            <a:endParaRPr lang="en-US" sz="2000" b="1" dirty="0">
              <a:solidFill>
                <a:srgbClr val="14274E"/>
              </a:solidFill>
              <a:latin typeface="Clear Sans Bold"/>
              <a:ea typeface="Clear Sans Bold"/>
              <a:cs typeface="Clear Sans Bold"/>
              <a:sym typeface="Clear Sans 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4274E"/>
        </a:solidFill>
        <a:effectLst/>
      </p:bgPr>
    </p:bg>
    <p:spTree>
      <p:nvGrpSpPr>
        <p:cNvPr id="1" name=""/>
        <p:cNvGrpSpPr/>
        <p:nvPr/>
      </p:nvGrpSpPr>
      <p:grpSpPr>
        <a:xfrm>
          <a:off x="0" y="0"/>
          <a:ext cx="0" cy="0"/>
          <a:chOff x="0" y="0"/>
          <a:chExt cx="0" cy="0"/>
        </a:xfrm>
      </p:grpSpPr>
      <p:sp>
        <p:nvSpPr>
          <p:cNvPr id="2" name="Freeform 2"/>
          <p:cNvSpPr/>
          <p:nvPr/>
        </p:nvSpPr>
        <p:spPr>
          <a:xfrm flipH="1" flipV="1">
            <a:off x="14173200" y="-5715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0" y="622935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028700" y="1067319"/>
            <a:ext cx="16230600" cy="8190981"/>
            <a:chOff x="0" y="0"/>
            <a:chExt cx="4274726" cy="2157295"/>
          </a:xfrm>
        </p:grpSpPr>
        <p:sp>
          <p:nvSpPr>
            <p:cNvPr id="5" name="Freeform 5"/>
            <p:cNvSpPr/>
            <p:nvPr/>
          </p:nvSpPr>
          <p:spPr>
            <a:xfrm>
              <a:off x="0" y="0"/>
              <a:ext cx="4274726" cy="2157295"/>
            </a:xfrm>
            <a:custGeom>
              <a:avLst/>
              <a:gdLst/>
              <a:ahLst/>
              <a:cxnLst/>
              <a:rect l="l" t="t" r="r" b="b"/>
              <a:pathLst>
                <a:path w="4274726" h="2157295">
                  <a:moveTo>
                    <a:pt x="24327" y="0"/>
                  </a:moveTo>
                  <a:lnTo>
                    <a:pt x="4250399" y="0"/>
                  </a:lnTo>
                  <a:cubicBezTo>
                    <a:pt x="4263834" y="0"/>
                    <a:pt x="4274726" y="10891"/>
                    <a:pt x="4274726" y="24327"/>
                  </a:cubicBezTo>
                  <a:lnTo>
                    <a:pt x="4274726" y="2132968"/>
                  </a:lnTo>
                  <a:cubicBezTo>
                    <a:pt x="4274726" y="2146404"/>
                    <a:pt x="4263834" y="2157295"/>
                    <a:pt x="4250399" y="2157295"/>
                  </a:cubicBezTo>
                  <a:lnTo>
                    <a:pt x="24327" y="2157295"/>
                  </a:lnTo>
                  <a:cubicBezTo>
                    <a:pt x="17875" y="2157295"/>
                    <a:pt x="11687" y="2154732"/>
                    <a:pt x="7125" y="2150170"/>
                  </a:cubicBezTo>
                  <a:cubicBezTo>
                    <a:pt x="2563" y="2145608"/>
                    <a:pt x="0" y="2139420"/>
                    <a:pt x="0" y="2132968"/>
                  </a:cubicBezTo>
                  <a:lnTo>
                    <a:pt x="0" y="24327"/>
                  </a:lnTo>
                  <a:cubicBezTo>
                    <a:pt x="0" y="10891"/>
                    <a:pt x="10891" y="0"/>
                    <a:pt x="24327" y="0"/>
                  </a:cubicBezTo>
                  <a:close/>
                </a:path>
              </a:pathLst>
            </a:custGeom>
            <a:solidFill>
              <a:srgbClr val="F1F6F9"/>
            </a:solidFill>
            <a:ln w="133350" cap="rnd">
              <a:solidFill>
                <a:srgbClr val="394867"/>
              </a:solidFill>
              <a:prstDash val="solid"/>
              <a:round/>
            </a:ln>
          </p:spPr>
          <p:txBody>
            <a:bodyPr/>
            <a:lstStyle/>
            <a:p>
              <a:endParaRPr lang="en-US"/>
            </a:p>
          </p:txBody>
        </p:sp>
        <p:sp>
          <p:nvSpPr>
            <p:cNvPr id="6" name="TextBox 6"/>
            <p:cNvSpPr txBox="1"/>
            <p:nvPr/>
          </p:nvSpPr>
          <p:spPr>
            <a:xfrm>
              <a:off x="0" y="-38100"/>
              <a:ext cx="4274726" cy="2195395"/>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4761870" y="1765542"/>
            <a:ext cx="8764259" cy="955674"/>
          </a:xfrm>
          <a:prstGeom prst="rect">
            <a:avLst/>
          </a:prstGeom>
        </p:spPr>
        <p:txBody>
          <a:bodyPr lIns="0" tIns="0" rIns="0" bIns="0" rtlCol="0" anchor="t">
            <a:spAutoFit/>
          </a:bodyPr>
          <a:lstStyle/>
          <a:p>
            <a:pPr algn="ctr">
              <a:lnSpc>
                <a:spcPts val="6799"/>
              </a:lnSpc>
            </a:pPr>
            <a:r>
              <a:rPr lang="en-US" sz="8499" b="1">
                <a:solidFill>
                  <a:srgbClr val="14274E"/>
                </a:solidFill>
                <a:latin typeface="Clear Sans Bold"/>
                <a:ea typeface="Clear Sans Bold"/>
                <a:cs typeface="Clear Sans Bold"/>
                <a:sym typeface="Clear Sans Bold"/>
              </a:rPr>
              <a:t>Đánh giá kết quả</a:t>
            </a:r>
          </a:p>
        </p:txBody>
      </p:sp>
      <p:sp>
        <p:nvSpPr>
          <p:cNvPr id="8" name="TextBox 8"/>
          <p:cNvSpPr txBox="1"/>
          <p:nvPr/>
        </p:nvSpPr>
        <p:spPr>
          <a:xfrm>
            <a:off x="2374546" y="4010025"/>
            <a:ext cx="6321836" cy="3873500"/>
          </a:xfrm>
          <a:prstGeom prst="rect">
            <a:avLst/>
          </a:prstGeom>
        </p:spPr>
        <p:txBody>
          <a:bodyPr lIns="0" tIns="0" rIns="0" bIns="0" rtlCol="0" anchor="t">
            <a:spAutoFit/>
          </a:bodyPr>
          <a:lstStyle/>
          <a:p>
            <a:pPr marL="431801" lvl="1" indent="-215900" algn="l">
              <a:lnSpc>
                <a:spcPts val="2800"/>
              </a:lnSpc>
              <a:buFont typeface="Arial"/>
              <a:buChar char="•"/>
            </a:pPr>
            <a:r>
              <a:rPr lang="en-US" sz="2000">
                <a:solidFill>
                  <a:srgbClr val="14274E"/>
                </a:solidFill>
                <a:latin typeface="Clear Sans"/>
                <a:ea typeface="Clear Sans"/>
                <a:cs typeface="Clear Sans"/>
                <a:sym typeface="Clear Sans"/>
              </a:rPr>
              <a:t>Đếm phương tiện chính xác khi đi qua vùng đếm đã chỉ định.</a:t>
            </a:r>
          </a:p>
          <a:p>
            <a:pPr marL="431801" lvl="1" indent="-215900" algn="l">
              <a:lnSpc>
                <a:spcPts val="2800"/>
              </a:lnSpc>
              <a:buFont typeface="Arial"/>
              <a:buChar char="•"/>
            </a:pPr>
            <a:r>
              <a:rPr lang="en-US" sz="2000">
                <a:solidFill>
                  <a:srgbClr val="14274E"/>
                </a:solidFill>
                <a:latin typeface="Clear Sans"/>
                <a:ea typeface="Clear Sans"/>
                <a:cs typeface="Clear Sans"/>
                <a:sym typeface="Clear Sans"/>
              </a:rPr>
              <a:t>Mô hình YOLOv8s có tốc độ xử lý nhanh, phù hợp cho bài toán real-time.</a:t>
            </a:r>
          </a:p>
          <a:p>
            <a:pPr marL="431801" lvl="1" indent="-215900" algn="l">
              <a:lnSpc>
                <a:spcPts val="2800"/>
              </a:lnSpc>
              <a:buFont typeface="Arial"/>
              <a:buChar char="•"/>
            </a:pPr>
            <a:r>
              <a:rPr lang="en-US" sz="2000">
                <a:solidFill>
                  <a:srgbClr val="14274E"/>
                </a:solidFill>
                <a:latin typeface="Clear Sans"/>
                <a:ea typeface="Clear Sans"/>
                <a:cs typeface="Clear Sans"/>
                <a:sym typeface="Clear Sans"/>
              </a:rPr>
              <a:t>ByteTrack gán ID ổn định cho từng phương tiện, giúp tránh trùng lặp khi đếm.</a:t>
            </a:r>
          </a:p>
          <a:p>
            <a:pPr marL="431801" lvl="1" indent="-215900" algn="l">
              <a:lnSpc>
                <a:spcPts val="2800"/>
              </a:lnSpc>
              <a:buFont typeface="Arial"/>
              <a:buChar char="•"/>
            </a:pPr>
            <a:r>
              <a:rPr lang="en-US" sz="2000">
                <a:solidFill>
                  <a:srgbClr val="14274E"/>
                </a:solidFill>
                <a:latin typeface="Clear Sans"/>
                <a:ea typeface="Clear Sans"/>
                <a:cs typeface="Clear Sans"/>
                <a:sym typeface="Clear Sans"/>
              </a:rPr>
              <a:t>Có thể áp dụng cho nhiều tình huống giao thông thực tế như: ngã tư, bãi đậu xe, trạm thu phí.</a:t>
            </a:r>
          </a:p>
          <a:p>
            <a:pPr marL="431801" lvl="1" indent="-215900" algn="l">
              <a:lnSpc>
                <a:spcPts val="2800"/>
              </a:lnSpc>
              <a:buFont typeface="Arial"/>
              <a:buChar char="•"/>
            </a:pPr>
            <a:r>
              <a:rPr lang="en-US" sz="2000">
                <a:solidFill>
                  <a:srgbClr val="14274E"/>
                </a:solidFill>
                <a:latin typeface="Clear Sans"/>
                <a:ea typeface="Clear Sans"/>
                <a:cs typeface="Clear Sans"/>
                <a:sym typeface="Clear Sans"/>
              </a:rPr>
              <a:t>Kết quả được hiển thị rõ ràng, trực quan ngay trên video: vùng đếm, ID phương tiện.</a:t>
            </a:r>
          </a:p>
          <a:p>
            <a:pPr algn="l">
              <a:lnSpc>
                <a:spcPts val="2800"/>
              </a:lnSpc>
            </a:pPr>
            <a:endParaRPr lang="en-US" sz="2000">
              <a:solidFill>
                <a:srgbClr val="14274E"/>
              </a:solidFill>
              <a:latin typeface="Clear Sans"/>
              <a:ea typeface="Clear Sans"/>
              <a:cs typeface="Clear Sans"/>
              <a:sym typeface="Clear Sans"/>
            </a:endParaRPr>
          </a:p>
        </p:txBody>
      </p:sp>
      <p:sp>
        <p:nvSpPr>
          <p:cNvPr id="9" name="TextBox 9"/>
          <p:cNvSpPr txBox="1"/>
          <p:nvPr/>
        </p:nvSpPr>
        <p:spPr>
          <a:xfrm>
            <a:off x="2513153" y="2902191"/>
            <a:ext cx="1970590" cy="613410"/>
          </a:xfrm>
          <a:prstGeom prst="rect">
            <a:avLst/>
          </a:prstGeom>
        </p:spPr>
        <p:txBody>
          <a:bodyPr lIns="0" tIns="0" rIns="0" bIns="0" rtlCol="0" anchor="t">
            <a:spAutoFit/>
          </a:bodyPr>
          <a:lstStyle/>
          <a:p>
            <a:pPr algn="ctr">
              <a:lnSpc>
                <a:spcPts val="5039"/>
              </a:lnSpc>
              <a:spcBef>
                <a:spcPct val="0"/>
              </a:spcBef>
            </a:pPr>
            <a:r>
              <a:rPr lang="en-US" sz="3599">
                <a:solidFill>
                  <a:srgbClr val="14274E"/>
                </a:solidFill>
                <a:latin typeface="Open Sans"/>
                <a:ea typeface="Open Sans"/>
                <a:cs typeface="Open Sans"/>
                <a:sym typeface="Open Sans"/>
              </a:rPr>
              <a:t>Ưu điểm</a:t>
            </a:r>
          </a:p>
        </p:txBody>
      </p:sp>
      <p:sp>
        <p:nvSpPr>
          <p:cNvPr id="10" name="TextBox 10"/>
          <p:cNvSpPr txBox="1"/>
          <p:nvPr/>
        </p:nvSpPr>
        <p:spPr>
          <a:xfrm>
            <a:off x="9765175" y="2902191"/>
            <a:ext cx="2803967" cy="613410"/>
          </a:xfrm>
          <a:prstGeom prst="rect">
            <a:avLst/>
          </a:prstGeom>
        </p:spPr>
        <p:txBody>
          <a:bodyPr lIns="0" tIns="0" rIns="0" bIns="0" rtlCol="0" anchor="t">
            <a:spAutoFit/>
          </a:bodyPr>
          <a:lstStyle/>
          <a:p>
            <a:pPr algn="ctr">
              <a:lnSpc>
                <a:spcPts val="5039"/>
              </a:lnSpc>
              <a:spcBef>
                <a:spcPct val="0"/>
              </a:spcBef>
            </a:pPr>
            <a:r>
              <a:rPr lang="en-US" sz="3599">
                <a:solidFill>
                  <a:srgbClr val="14274E"/>
                </a:solidFill>
                <a:latin typeface="Open Sans"/>
                <a:ea typeface="Open Sans"/>
                <a:cs typeface="Open Sans"/>
                <a:sym typeface="Open Sans"/>
              </a:rPr>
              <a:t>Hạn chế</a:t>
            </a:r>
          </a:p>
        </p:txBody>
      </p:sp>
      <p:sp>
        <p:nvSpPr>
          <p:cNvPr id="11" name="TextBox 11"/>
          <p:cNvSpPr txBox="1"/>
          <p:nvPr/>
        </p:nvSpPr>
        <p:spPr>
          <a:xfrm>
            <a:off x="9765175" y="4010025"/>
            <a:ext cx="6630847" cy="3873500"/>
          </a:xfrm>
          <a:prstGeom prst="rect">
            <a:avLst/>
          </a:prstGeom>
        </p:spPr>
        <p:txBody>
          <a:bodyPr lIns="0" tIns="0" rIns="0" bIns="0" rtlCol="0" anchor="t">
            <a:spAutoFit/>
          </a:bodyPr>
          <a:lstStyle/>
          <a:p>
            <a:pPr marL="431801" lvl="1" indent="-215900" algn="l">
              <a:lnSpc>
                <a:spcPts val="2800"/>
              </a:lnSpc>
              <a:buFont typeface="Arial"/>
              <a:buChar char="•"/>
            </a:pPr>
            <a:r>
              <a:rPr lang="en-US" sz="2000">
                <a:solidFill>
                  <a:srgbClr val="14274E"/>
                </a:solidFill>
                <a:latin typeface="Clear Sans"/>
                <a:ea typeface="Clear Sans"/>
                <a:cs typeface="Clear Sans"/>
                <a:sym typeface="Clear Sans"/>
              </a:rPr>
              <a:t>Độ chính xác giảm khi nhiều xe chồng lấn nhau hoặc đi quá gần.</a:t>
            </a:r>
          </a:p>
          <a:p>
            <a:pPr marL="431801" lvl="1" indent="-215900" algn="l">
              <a:lnSpc>
                <a:spcPts val="2800"/>
              </a:lnSpc>
              <a:buFont typeface="Arial"/>
              <a:buChar char="•"/>
            </a:pPr>
            <a:r>
              <a:rPr lang="en-US" sz="2000">
                <a:solidFill>
                  <a:srgbClr val="14274E"/>
                </a:solidFill>
                <a:latin typeface="Clear Sans"/>
                <a:ea typeface="Clear Sans"/>
                <a:cs typeface="Clear Sans"/>
                <a:sym typeface="Clear Sans"/>
              </a:rPr>
              <a:t>Vùng đếm cần được xác định kỹ lưỡng, nếu không sẽ gây đếm sai hoặc bỏ sót.</a:t>
            </a:r>
          </a:p>
          <a:p>
            <a:pPr marL="431801" lvl="1" indent="-215900" algn="l">
              <a:lnSpc>
                <a:spcPts val="2800"/>
              </a:lnSpc>
              <a:buFont typeface="Arial"/>
              <a:buChar char="•"/>
            </a:pPr>
            <a:r>
              <a:rPr lang="en-US" sz="2000">
                <a:solidFill>
                  <a:srgbClr val="14274E"/>
                </a:solidFill>
                <a:latin typeface="Clear Sans"/>
                <a:ea typeface="Clear Sans"/>
                <a:cs typeface="Clear Sans"/>
                <a:sym typeface="Clear Sans"/>
              </a:rPr>
              <a:t>Một số phương tiện nhỏ (ví dụ xe máy nhỏ, xe đạp) có thể không được phát hiện, nếu model chưa được tinh chỉnh tốt.</a:t>
            </a:r>
          </a:p>
          <a:p>
            <a:pPr marL="431801" lvl="1" indent="-215900" algn="l">
              <a:lnSpc>
                <a:spcPts val="2800"/>
              </a:lnSpc>
              <a:buFont typeface="Arial"/>
              <a:buChar char="•"/>
            </a:pPr>
            <a:r>
              <a:rPr lang="en-US" sz="2000">
                <a:solidFill>
                  <a:srgbClr val="14274E"/>
                </a:solidFill>
                <a:latin typeface="Clear Sans"/>
                <a:ea typeface="Clear Sans"/>
                <a:cs typeface="Clear Sans"/>
                <a:sym typeface="Clear Sans"/>
              </a:rPr>
              <a:t>Không có phân loại rõ ràng từng loại xe (car, motorbike...), nếu không thêm filter classes=[...].</a:t>
            </a:r>
          </a:p>
          <a:p>
            <a:pPr algn="l">
              <a:lnSpc>
                <a:spcPts val="2800"/>
              </a:lnSpc>
            </a:pPr>
            <a:endParaRPr lang="en-US" sz="2000">
              <a:solidFill>
                <a:srgbClr val="14274E"/>
              </a:solidFill>
              <a:latin typeface="Clear Sans"/>
              <a:ea typeface="Clear Sans"/>
              <a:cs typeface="Clear Sans"/>
              <a:sym typeface="Clear Sans"/>
            </a:endParaRPr>
          </a:p>
          <a:p>
            <a:pPr algn="l">
              <a:lnSpc>
                <a:spcPts val="2800"/>
              </a:lnSpc>
            </a:pPr>
            <a:endParaRPr lang="en-US" sz="2000">
              <a:solidFill>
                <a:srgbClr val="14274E"/>
              </a:solidFill>
              <a:latin typeface="Clear Sans"/>
              <a:ea typeface="Clear Sans"/>
              <a:cs typeface="Clear Sans"/>
              <a:sym typeface="Clear Sans"/>
            </a:endParaRPr>
          </a:p>
        </p:txBody>
      </p:sp>
      <p:sp>
        <p:nvSpPr>
          <p:cNvPr id="12" name="AutoShape 12"/>
          <p:cNvSpPr/>
          <p:nvPr/>
        </p:nvSpPr>
        <p:spPr>
          <a:xfrm>
            <a:off x="2513153" y="3786625"/>
            <a:ext cx="6492240" cy="0"/>
          </a:xfrm>
          <a:prstGeom prst="line">
            <a:avLst/>
          </a:prstGeom>
          <a:ln w="38100" cap="flat">
            <a:solidFill>
              <a:srgbClr val="000000"/>
            </a:solidFill>
            <a:prstDash val="solid"/>
            <a:headEnd type="none" w="sm" len="sm"/>
            <a:tailEnd type="none" w="sm" len="sm"/>
          </a:ln>
        </p:spPr>
        <p:txBody>
          <a:bodyPr/>
          <a:lstStyle/>
          <a:p>
            <a:endParaRPr lang="en-US"/>
          </a:p>
        </p:txBody>
      </p:sp>
      <p:sp>
        <p:nvSpPr>
          <p:cNvPr id="13" name="AutoShape 13"/>
          <p:cNvSpPr/>
          <p:nvPr/>
        </p:nvSpPr>
        <p:spPr>
          <a:xfrm>
            <a:off x="9765175" y="3767575"/>
            <a:ext cx="6492240" cy="0"/>
          </a:xfrm>
          <a:prstGeom prst="line">
            <a:avLst/>
          </a:prstGeom>
          <a:ln w="38100" cap="flat">
            <a:solidFill>
              <a:srgbClr val="000000"/>
            </a:solidFill>
            <a:prstDash val="solid"/>
            <a:headEnd type="none" w="sm" len="sm"/>
            <a:tailEnd type="none" w="sm" len="sm"/>
          </a:ln>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274E"/>
        </a:solidFill>
        <a:effectLst/>
      </p:bgPr>
    </p:bg>
    <p:spTree>
      <p:nvGrpSpPr>
        <p:cNvPr id="1" name=""/>
        <p:cNvGrpSpPr/>
        <p:nvPr/>
      </p:nvGrpSpPr>
      <p:grpSpPr>
        <a:xfrm>
          <a:off x="0" y="0"/>
          <a:ext cx="0" cy="0"/>
          <a:chOff x="0" y="0"/>
          <a:chExt cx="0" cy="0"/>
        </a:xfrm>
      </p:grpSpPr>
      <p:sp>
        <p:nvSpPr>
          <p:cNvPr id="2" name="Freeform 2"/>
          <p:cNvSpPr/>
          <p:nvPr/>
        </p:nvSpPr>
        <p:spPr>
          <a:xfrm flipH="1">
            <a:off x="14317218" y="6172200"/>
            <a:ext cx="3970782" cy="4114800"/>
          </a:xfrm>
          <a:custGeom>
            <a:avLst/>
            <a:gdLst/>
            <a:ahLst/>
            <a:cxnLst/>
            <a:rect l="l" t="t" r="r" b="b"/>
            <a:pathLst>
              <a:path w="3970782" h="4114800">
                <a:moveTo>
                  <a:pt x="3970782" y="0"/>
                </a:moveTo>
                <a:lnTo>
                  <a:pt x="0" y="0"/>
                </a:lnTo>
                <a:lnTo>
                  <a:pt x="0" y="4114800"/>
                </a:lnTo>
                <a:lnTo>
                  <a:pt x="3970782" y="4114800"/>
                </a:lnTo>
                <a:lnTo>
                  <a:pt x="3970782"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V="1">
            <a:off x="0" y="0"/>
            <a:ext cx="3970782" cy="4114800"/>
          </a:xfrm>
          <a:custGeom>
            <a:avLst/>
            <a:gdLst/>
            <a:ahLst/>
            <a:cxnLst/>
            <a:rect l="l" t="t" r="r" b="b"/>
            <a:pathLst>
              <a:path w="3970782" h="4114800">
                <a:moveTo>
                  <a:pt x="0" y="4114800"/>
                </a:moveTo>
                <a:lnTo>
                  <a:pt x="3970782" y="4114800"/>
                </a:lnTo>
                <a:lnTo>
                  <a:pt x="3970782"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958923" y="1744480"/>
            <a:ext cx="16230600" cy="8190981"/>
            <a:chOff x="0" y="0"/>
            <a:chExt cx="4274726" cy="2157295"/>
          </a:xfrm>
        </p:grpSpPr>
        <p:sp>
          <p:nvSpPr>
            <p:cNvPr id="5" name="Freeform 5"/>
            <p:cNvSpPr/>
            <p:nvPr/>
          </p:nvSpPr>
          <p:spPr>
            <a:xfrm>
              <a:off x="0" y="0"/>
              <a:ext cx="4274726" cy="2157295"/>
            </a:xfrm>
            <a:custGeom>
              <a:avLst/>
              <a:gdLst/>
              <a:ahLst/>
              <a:cxnLst/>
              <a:rect l="l" t="t" r="r" b="b"/>
              <a:pathLst>
                <a:path w="4274726" h="2157295">
                  <a:moveTo>
                    <a:pt x="24327" y="0"/>
                  </a:moveTo>
                  <a:lnTo>
                    <a:pt x="4250399" y="0"/>
                  </a:lnTo>
                  <a:cubicBezTo>
                    <a:pt x="4263834" y="0"/>
                    <a:pt x="4274726" y="10891"/>
                    <a:pt x="4274726" y="24327"/>
                  </a:cubicBezTo>
                  <a:lnTo>
                    <a:pt x="4274726" y="2132968"/>
                  </a:lnTo>
                  <a:cubicBezTo>
                    <a:pt x="4274726" y="2146404"/>
                    <a:pt x="4263834" y="2157295"/>
                    <a:pt x="4250399" y="2157295"/>
                  </a:cubicBezTo>
                  <a:lnTo>
                    <a:pt x="24327" y="2157295"/>
                  </a:lnTo>
                  <a:cubicBezTo>
                    <a:pt x="17875" y="2157295"/>
                    <a:pt x="11687" y="2154732"/>
                    <a:pt x="7125" y="2150170"/>
                  </a:cubicBezTo>
                  <a:cubicBezTo>
                    <a:pt x="2563" y="2145608"/>
                    <a:pt x="0" y="2139420"/>
                    <a:pt x="0" y="2132968"/>
                  </a:cubicBezTo>
                  <a:lnTo>
                    <a:pt x="0" y="24327"/>
                  </a:lnTo>
                  <a:cubicBezTo>
                    <a:pt x="0" y="10891"/>
                    <a:pt x="10891" y="0"/>
                    <a:pt x="24327" y="0"/>
                  </a:cubicBezTo>
                  <a:close/>
                </a:path>
              </a:pathLst>
            </a:custGeom>
            <a:solidFill>
              <a:srgbClr val="F1F6F9"/>
            </a:solidFill>
            <a:ln w="133350" cap="rnd">
              <a:solidFill>
                <a:srgbClr val="394867"/>
              </a:solidFill>
              <a:prstDash val="solid"/>
              <a:round/>
            </a:ln>
          </p:spPr>
          <p:txBody>
            <a:bodyPr/>
            <a:lstStyle/>
            <a:p>
              <a:endParaRPr lang="en-US"/>
            </a:p>
          </p:txBody>
        </p:sp>
        <p:sp>
          <p:nvSpPr>
            <p:cNvPr id="6" name="TextBox 6"/>
            <p:cNvSpPr txBox="1"/>
            <p:nvPr/>
          </p:nvSpPr>
          <p:spPr>
            <a:xfrm>
              <a:off x="0" y="-38100"/>
              <a:ext cx="4274726" cy="2195395"/>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6108199" y="2390775"/>
            <a:ext cx="5488342" cy="955674"/>
          </a:xfrm>
          <a:prstGeom prst="rect">
            <a:avLst/>
          </a:prstGeom>
        </p:spPr>
        <p:txBody>
          <a:bodyPr lIns="0" tIns="0" rIns="0" bIns="0" rtlCol="0" anchor="t">
            <a:spAutoFit/>
          </a:bodyPr>
          <a:lstStyle/>
          <a:p>
            <a:pPr algn="just">
              <a:lnSpc>
                <a:spcPts val="6799"/>
              </a:lnSpc>
            </a:pPr>
            <a:r>
              <a:rPr lang="en-US" sz="8499" b="1">
                <a:solidFill>
                  <a:srgbClr val="14274E"/>
                </a:solidFill>
                <a:latin typeface="Clear Sans Bold"/>
                <a:ea typeface="Clear Sans Bold"/>
                <a:cs typeface="Clear Sans Bold"/>
                <a:sym typeface="Clear Sans Bold"/>
              </a:rPr>
              <a:t>Khó khăn</a:t>
            </a:r>
          </a:p>
        </p:txBody>
      </p:sp>
      <p:sp>
        <p:nvSpPr>
          <p:cNvPr id="8" name="TextBox 8"/>
          <p:cNvSpPr txBox="1"/>
          <p:nvPr/>
        </p:nvSpPr>
        <p:spPr>
          <a:xfrm>
            <a:off x="1162206" y="3413471"/>
            <a:ext cx="15380327" cy="3580765"/>
          </a:xfrm>
          <a:prstGeom prst="rect">
            <a:avLst/>
          </a:prstGeom>
        </p:spPr>
        <p:txBody>
          <a:bodyPr lIns="0" tIns="0" rIns="0" bIns="0" rtlCol="0" anchor="t">
            <a:spAutoFit/>
          </a:bodyPr>
          <a:lstStyle/>
          <a:p>
            <a:pPr marL="734059" lvl="1" indent="-367030" algn="l">
              <a:lnSpc>
                <a:spcPts val="4759"/>
              </a:lnSpc>
              <a:buFont typeface="Arial"/>
              <a:buChar char="•"/>
            </a:pPr>
            <a:r>
              <a:rPr lang="en-US" sz="3399">
                <a:solidFill>
                  <a:srgbClr val="14274E"/>
                </a:solidFill>
                <a:latin typeface="Clear Sans"/>
                <a:ea typeface="Clear Sans"/>
                <a:cs typeface="Clear Sans"/>
                <a:sym typeface="Clear Sans"/>
              </a:rPr>
              <a:t>Không biết nên chọn YOLOv5 hay YOLOv8; dùng model nào (s, m, l) cho phù hợp với tốc độ và độ chính xác.</a:t>
            </a:r>
          </a:p>
          <a:p>
            <a:pPr marL="734059" lvl="1" indent="-367030" algn="l">
              <a:lnSpc>
                <a:spcPts val="4759"/>
              </a:lnSpc>
              <a:buFont typeface="Arial"/>
              <a:buChar char="•"/>
            </a:pPr>
            <a:r>
              <a:rPr lang="en-US" sz="3399">
                <a:solidFill>
                  <a:srgbClr val="14274E"/>
                </a:solidFill>
                <a:latin typeface="Clear Sans"/>
                <a:ea typeface="Clear Sans"/>
                <a:cs typeface="Clear Sans"/>
                <a:sym typeface="Clear Sans"/>
              </a:rPr>
              <a:t>Một xe bị đếm nhiều lần hoặc không đếm được khi đi qua vùng.</a:t>
            </a:r>
          </a:p>
          <a:p>
            <a:pPr marL="734059" lvl="1" indent="-367030" algn="l">
              <a:lnSpc>
                <a:spcPts val="4759"/>
              </a:lnSpc>
              <a:buFont typeface="Arial"/>
              <a:buChar char="•"/>
            </a:pPr>
            <a:r>
              <a:rPr lang="en-US" sz="3399">
                <a:solidFill>
                  <a:srgbClr val="14274E"/>
                </a:solidFill>
                <a:latin typeface="Clear Sans"/>
                <a:ea typeface="Clear Sans"/>
                <a:cs typeface="Clear Sans"/>
                <a:sym typeface="Clear Sans"/>
              </a:rPr>
              <a:t>Xe bị mất ID giữa chừng hoặc đổi ID, gây trùng lặp đếm.</a:t>
            </a:r>
          </a:p>
          <a:p>
            <a:pPr marL="734059" lvl="1" indent="-367030" algn="l">
              <a:lnSpc>
                <a:spcPts val="4759"/>
              </a:lnSpc>
              <a:buFont typeface="Arial"/>
              <a:buChar char="•"/>
            </a:pPr>
            <a:r>
              <a:rPr lang="en-US" sz="3399">
                <a:solidFill>
                  <a:srgbClr val="14274E"/>
                </a:solidFill>
                <a:latin typeface="Clear Sans"/>
                <a:ea typeface="Clear Sans"/>
                <a:cs typeface="Clear Sans"/>
                <a:sym typeface="Clear Sans"/>
              </a:rPr>
              <a:t>Lỗi do version khác nhau của ultralytics, opencv, easyocr, hoặc byteTrack.yaml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4274E"/>
        </a:solidFill>
        <a:effectLst/>
      </p:bgPr>
    </p:bg>
    <p:spTree>
      <p:nvGrpSpPr>
        <p:cNvPr id="1" name=""/>
        <p:cNvGrpSpPr/>
        <p:nvPr/>
      </p:nvGrpSpPr>
      <p:grpSpPr>
        <a:xfrm>
          <a:off x="0" y="0"/>
          <a:ext cx="0" cy="0"/>
          <a:chOff x="0" y="0"/>
          <a:chExt cx="0" cy="0"/>
        </a:xfrm>
      </p:grpSpPr>
      <p:sp>
        <p:nvSpPr>
          <p:cNvPr id="2" name="Freeform 2"/>
          <p:cNvSpPr/>
          <p:nvPr/>
        </p:nvSpPr>
        <p:spPr>
          <a:xfrm flipH="1">
            <a:off x="14317218" y="6172200"/>
            <a:ext cx="3970782" cy="4114800"/>
          </a:xfrm>
          <a:custGeom>
            <a:avLst/>
            <a:gdLst/>
            <a:ahLst/>
            <a:cxnLst/>
            <a:rect l="l" t="t" r="r" b="b"/>
            <a:pathLst>
              <a:path w="3970782" h="4114800">
                <a:moveTo>
                  <a:pt x="3970782" y="0"/>
                </a:moveTo>
                <a:lnTo>
                  <a:pt x="0" y="0"/>
                </a:lnTo>
                <a:lnTo>
                  <a:pt x="0" y="4114800"/>
                </a:lnTo>
                <a:lnTo>
                  <a:pt x="3970782" y="4114800"/>
                </a:lnTo>
                <a:lnTo>
                  <a:pt x="3970782"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V="1">
            <a:off x="0" y="0"/>
            <a:ext cx="3970782" cy="4114800"/>
          </a:xfrm>
          <a:custGeom>
            <a:avLst/>
            <a:gdLst/>
            <a:ahLst/>
            <a:cxnLst/>
            <a:rect l="l" t="t" r="r" b="b"/>
            <a:pathLst>
              <a:path w="3970782" h="4114800">
                <a:moveTo>
                  <a:pt x="0" y="4114800"/>
                </a:moveTo>
                <a:lnTo>
                  <a:pt x="3970782" y="4114800"/>
                </a:lnTo>
                <a:lnTo>
                  <a:pt x="3970782"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028700" y="1067319"/>
            <a:ext cx="16230600" cy="8190981"/>
            <a:chOff x="0" y="0"/>
            <a:chExt cx="4274726" cy="2157295"/>
          </a:xfrm>
        </p:grpSpPr>
        <p:sp>
          <p:nvSpPr>
            <p:cNvPr id="5" name="Freeform 5"/>
            <p:cNvSpPr/>
            <p:nvPr/>
          </p:nvSpPr>
          <p:spPr>
            <a:xfrm>
              <a:off x="0" y="0"/>
              <a:ext cx="4274726" cy="2157295"/>
            </a:xfrm>
            <a:custGeom>
              <a:avLst/>
              <a:gdLst/>
              <a:ahLst/>
              <a:cxnLst/>
              <a:rect l="l" t="t" r="r" b="b"/>
              <a:pathLst>
                <a:path w="4274726" h="2157295">
                  <a:moveTo>
                    <a:pt x="24327" y="0"/>
                  </a:moveTo>
                  <a:lnTo>
                    <a:pt x="4250399" y="0"/>
                  </a:lnTo>
                  <a:cubicBezTo>
                    <a:pt x="4263834" y="0"/>
                    <a:pt x="4274726" y="10891"/>
                    <a:pt x="4274726" y="24327"/>
                  </a:cubicBezTo>
                  <a:lnTo>
                    <a:pt x="4274726" y="2132968"/>
                  </a:lnTo>
                  <a:cubicBezTo>
                    <a:pt x="4274726" y="2146404"/>
                    <a:pt x="4263834" y="2157295"/>
                    <a:pt x="4250399" y="2157295"/>
                  </a:cubicBezTo>
                  <a:lnTo>
                    <a:pt x="24327" y="2157295"/>
                  </a:lnTo>
                  <a:cubicBezTo>
                    <a:pt x="17875" y="2157295"/>
                    <a:pt x="11687" y="2154732"/>
                    <a:pt x="7125" y="2150170"/>
                  </a:cubicBezTo>
                  <a:cubicBezTo>
                    <a:pt x="2563" y="2145608"/>
                    <a:pt x="0" y="2139420"/>
                    <a:pt x="0" y="2132968"/>
                  </a:cubicBezTo>
                  <a:lnTo>
                    <a:pt x="0" y="24327"/>
                  </a:lnTo>
                  <a:cubicBezTo>
                    <a:pt x="0" y="10891"/>
                    <a:pt x="10891" y="0"/>
                    <a:pt x="24327" y="0"/>
                  </a:cubicBezTo>
                  <a:close/>
                </a:path>
              </a:pathLst>
            </a:custGeom>
            <a:solidFill>
              <a:srgbClr val="F1F6F9"/>
            </a:solidFill>
            <a:ln w="133350" cap="rnd">
              <a:solidFill>
                <a:srgbClr val="394867"/>
              </a:solidFill>
              <a:prstDash val="solid"/>
              <a:round/>
            </a:ln>
          </p:spPr>
          <p:txBody>
            <a:bodyPr/>
            <a:lstStyle/>
            <a:p>
              <a:endParaRPr lang="en-US"/>
            </a:p>
          </p:txBody>
        </p:sp>
        <p:sp>
          <p:nvSpPr>
            <p:cNvPr id="6" name="TextBox 6"/>
            <p:cNvSpPr txBox="1"/>
            <p:nvPr/>
          </p:nvSpPr>
          <p:spPr>
            <a:xfrm>
              <a:off x="0" y="-28575"/>
              <a:ext cx="4274726" cy="2185870"/>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4410333" y="1576406"/>
            <a:ext cx="9467334" cy="955674"/>
          </a:xfrm>
          <a:prstGeom prst="rect">
            <a:avLst/>
          </a:prstGeom>
        </p:spPr>
        <p:txBody>
          <a:bodyPr lIns="0" tIns="0" rIns="0" bIns="0" rtlCol="0" anchor="t">
            <a:spAutoFit/>
          </a:bodyPr>
          <a:lstStyle/>
          <a:p>
            <a:pPr algn="just">
              <a:lnSpc>
                <a:spcPts val="6799"/>
              </a:lnSpc>
            </a:pPr>
            <a:r>
              <a:rPr lang="en-US" sz="8499" b="1">
                <a:solidFill>
                  <a:srgbClr val="14274E"/>
                </a:solidFill>
                <a:latin typeface="Clear Sans Bold"/>
                <a:ea typeface="Clear Sans Bold"/>
                <a:cs typeface="Clear Sans Bold"/>
                <a:sym typeface="Clear Sans Bold"/>
              </a:rPr>
              <a:t>Hướng phát triển</a:t>
            </a:r>
          </a:p>
        </p:txBody>
      </p:sp>
      <p:sp>
        <p:nvSpPr>
          <p:cNvPr id="8" name="TextBox 8"/>
          <p:cNvSpPr txBox="1"/>
          <p:nvPr/>
        </p:nvSpPr>
        <p:spPr>
          <a:xfrm>
            <a:off x="1985391" y="3329305"/>
            <a:ext cx="12869502" cy="4309745"/>
          </a:xfrm>
          <a:prstGeom prst="rect">
            <a:avLst/>
          </a:prstGeom>
        </p:spPr>
        <p:txBody>
          <a:bodyPr lIns="0" tIns="0" rIns="0" bIns="0" rtlCol="0" anchor="t">
            <a:spAutoFit/>
          </a:bodyPr>
          <a:lstStyle/>
          <a:p>
            <a:pPr marL="647700" lvl="1" indent="-323850" algn="l">
              <a:lnSpc>
                <a:spcPts val="4200"/>
              </a:lnSpc>
              <a:buFont typeface="Arial"/>
              <a:buChar char="•"/>
            </a:pPr>
            <a:r>
              <a:rPr lang="en-US" sz="3000">
                <a:solidFill>
                  <a:srgbClr val="14274E"/>
                </a:solidFill>
                <a:latin typeface="Clear Sans"/>
                <a:ea typeface="Clear Sans"/>
                <a:cs typeface="Clear Sans"/>
                <a:sym typeface="Clear Sans"/>
              </a:rPr>
              <a:t>Thử nghiệm YOLOv8-x, YOLO-NAS hoặc các mô hình anchor-free như RT-DETR để cải thiện kết quả phát hiện trong điều kiện khó.</a:t>
            </a:r>
          </a:p>
          <a:p>
            <a:pPr marL="647700" lvl="1" indent="-323850" algn="l">
              <a:lnSpc>
                <a:spcPts val="4200"/>
              </a:lnSpc>
              <a:buFont typeface="Arial"/>
              <a:buChar char="•"/>
            </a:pPr>
            <a:r>
              <a:rPr lang="en-US" sz="3000">
                <a:solidFill>
                  <a:srgbClr val="14274E"/>
                </a:solidFill>
                <a:latin typeface="Clear Sans"/>
                <a:ea typeface="Clear Sans"/>
                <a:cs typeface="Clear Sans"/>
                <a:sym typeface="Clear Sans"/>
              </a:rPr>
              <a:t>Đưa hệ thống lên camera giám sát thực tế (CCTV, IP cam).</a:t>
            </a:r>
          </a:p>
          <a:p>
            <a:pPr marL="647700" lvl="1" indent="-323850" algn="l">
              <a:lnSpc>
                <a:spcPts val="4200"/>
              </a:lnSpc>
              <a:buFont typeface="Arial"/>
              <a:buChar char="•"/>
            </a:pPr>
            <a:r>
              <a:rPr lang="en-US" sz="3000">
                <a:solidFill>
                  <a:srgbClr val="14274E"/>
                </a:solidFill>
                <a:latin typeface="Clear Sans"/>
                <a:ea typeface="Clear Sans"/>
                <a:cs typeface="Clear Sans"/>
                <a:sym typeface="Clear Sans"/>
              </a:rPr>
              <a:t>Kết nối với server lưu trữ biển số để hỗ trợ an ninh, quản lý xe ra/vào.</a:t>
            </a:r>
          </a:p>
          <a:p>
            <a:pPr marL="647700" lvl="1" indent="-323850" algn="l">
              <a:lnSpc>
                <a:spcPts val="4200"/>
              </a:lnSpc>
              <a:buFont typeface="Arial"/>
              <a:buChar char="•"/>
            </a:pPr>
            <a:r>
              <a:rPr lang="en-US" sz="3000">
                <a:solidFill>
                  <a:srgbClr val="14274E"/>
                </a:solidFill>
                <a:latin typeface="Clear Sans"/>
                <a:ea typeface="Clear Sans"/>
                <a:cs typeface="Clear Sans"/>
                <a:sym typeface="Clear Sans"/>
              </a:rPr>
              <a:t>Thiết kế dashboard hiển thị: số lượng xe, loại xe, biển số, thời gian di chuyển.</a:t>
            </a:r>
          </a:p>
          <a:p>
            <a:pPr marL="647700" lvl="1" indent="-323850" algn="l">
              <a:lnSpc>
                <a:spcPts val="4200"/>
              </a:lnSpc>
              <a:buFont typeface="Arial"/>
              <a:buChar char="•"/>
            </a:pPr>
            <a:r>
              <a:rPr lang="en-US" sz="3000">
                <a:solidFill>
                  <a:srgbClr val="14274E"/>
                </a:solidFill>
                <a:latin typeface="Clear Sans"/>
                <a:ea typeface="Clear Sans"/>
                <a:cs typeface="Clear Sans"/>
                <a:sym typeface="Clear Sans"/>
              </a:rPr>
              <a:t>Xuất kết quả theo thời gian thực hoặc cuối ngày (CSV/Excel).</a:t>
            </a:r>
          </a:p>
          <a:p>
            <a:pPr algn="l">
              <a:lnSpc>
                <a:spcPts val="4759"/>
              </a:lnSpc>
            </a:pPr>
            <a:endParaRPr lang="en-US" sz="3000">
              <a:solidFill>
                <a:srgbClr val="14274E"/>
              </a:solidFill>
              <a:latin typeface="Clear Sans"/>
              <a:ea typeface="Clear Sans"/>
              <a:cs typeface="Clear Sans"/>
              <a:sym typeface="Clear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4274E"/>
        </a:solidFill>
        <a:effectLst/>
      </p:bgPr>
    </p:bg>
    <p:spTree>
      <p:nvGrpSpPr>
        <p:cNvPr id="1" name=""/>
        <p:cNvGrpSpPr/>
        <p:nvPr/>
      </p:nvGrpSpPr>
      <p:grpSpPr>
        <a:xfrm>
          <a:off x="0" y="0"/>
          <a:ext cx="0" cy="0"/>
          <a:chOff x="0" y="0"/>
          <a:chExt cx="0" cy="0"/>
        </a:xfrm>
      </p:grpSpPr>
      <p:sp>
        <p:nvSpPr>
          <p:cNvPr id="2" name="Freeform 2"/>
          <p:cNvSpPr/>
          <p:nvPr/>
        </p:nvSpPr>
        <p:spPr>
          <a:xfrm flipV="1">
            <a:off x="0" y="-57150"/>
            <a:ext cx="6229350" cy="6229350"/>
          </a:xfrm>
          <a:custGeom>
            <a:avLst/>
            <a:gdLst/>
            <a:ahLst/>
            <a:cxnLst/>
            <a:rect l="l" t="t" r="r" b="b"/>
            <a:pathLst>
              <a:path w="6229350" h="6229350">
                <a:moveTo>
                  <a:pt x="0" y="6229350"/>
                </a:moveTo>
                <a:lnTo>
                  <a:pt x="6229350" y="6229350"/>
                </a:lnTo>
                <a:lnTo>
                  <a:pt x="6229350" y="0"/>
                </a:lnTo>
                <a:lnTo>
                  <a:pt x="0" y="0"/>
                </a:lnTo>
                <a:lnTo>
                  <a:pt x="0" y="622935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3485922" y="3808731"/>
            <a:ext cx="11316156" cy="1830069"/>
          </a:xfrm>
          <a:prstGeom prst="rect">
            <a:avLst/>
          </a:prstGeom>
        </p:spPr>
        <p:txBody>
          <a:bodyPr lIns="0" tIns="0" rIns="0" bIns="0" rtlCol="0" anchor="t">
            <a:spAutoFit/>
          </a:bodyPr>
          <a:lstStyle/>
          <a:p>
            <a:pPr algn="ctr">
              <a:lnSpc>
                <a:spcPts val="12769"/>
              </a:lnSpc>
            </a:pPr>
            <a:r>
              <a:rPr lang="en-US" sz="15962" b="1">
                <a:solidFill>
                  <a:srgbClr val="F1F6F9"/>
                </a:solidFill>
                <a:latin typeface="Clear Sans Bold"/>
                <a:ea typeface="Clear Sans Bold"/>
                <a:cs typeface="Clear Sans Bold"/>
                <a:sym typeface="Clear Sans Bold"/>
              </a:rPr>
              <a:t>THANK YOU</a:t>
            </a:r>
          </a:p>
        </p:txBody>
      </p:sp>
      <p:sp>
        <p:nvSpPr>
          <p:cNvPr id="4" name="Freeform 4"/>
          <p:cNvSpPr/>
          <p:nvPr/>
        </p:nvSpPr>
        <p:spPr>
          <a:xfrm>
            <a:off x="0" y="6172200"/>
            <a:ext cx="4848071" cy="4114800"/>
          </a:xfrm>
          <a:custGeom>
            <a:avLst/>
            <a:gdLst/>
            <a:ahLst/>
            <a:cxnLst/>
            <a:rect l="l" t="t" r="r" b="b"/>
            <a:pathLst>
              <a:path w="4848071" h="4114800">
                <a:moveTo>
                  <a:pt x="0" y="0"/>
                </a:moveTo>
                <a:lnTo>
                  <a:pt x="4848071" y="0"/>
                </a:lnTo>
                <a:lnTo>
                  <a:pt x="484807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flipH="1" flipV="1">
            <a:off x="13439929" y="0"/>
            <a:ext cx="4848071" cy="4114800"/>
          </a:xfrm>
          <a:custGeom>
            <a:avLst/>
            <a:gdLst/>
            <a:ahLst/>
            <a:cxnLst/>
            <a:rect l="l" t="t" r="r" b="b"/>
            <a:pathLst>
              <a:path w="4848071" h="4114800">
                <a:moveTo>
                  <a:pt x="4848071" y="4114800"/>
                </a:moveTo>
                <a:lnTo>
                  <a:pt x="0" y="4114800"/>
                </a:lnTo>
                <a:lnTo>
                  <a:pt x="0" y="0"/>
                </a:lnTo>
                <a:lnTo>
                  <a:pt x="4848071" y="0"/>
                </a:lnTo>
                <a:lnTo>
                  <a:pt x="4848071" y="411480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flipH="1">
            <a:off x="12058650" y="4143375"/>
            <a:ext cx="6229350" cy="6229350"/>
          </a:xfrm>
          <a:custGeom>
            <a:avLst/>
            <a:gdLst/>
            <a:ahLst/>
            <a:cxnLst/>
            <a:rect l="l" t="t" r="r" b="b"/>
            <a:pathLst>
              <a:path w="6229350" h="6229350">
                <a:moveTo>
                  <a:pt x="6229350" y="0"/>
                </a:moveTo>
                <a:lnTo>
                  <a:pt x="0" y="0"/>
                </a:lnTo>
                <a:lnTo>
                  <a:pt x="0" y="6229350"/>
                </a:lnTo>
                <a:lnTo>
                  <a:pt x="6229350" y="6229350"/>
                </a:lnTo>
                <a:lnTo>
                  <a:pt x="622935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1172</Words>
  <Application>Microsoft Office PowerPoint</Application>
  <PresentationFormat>Custom</PresentationFormat>
  <Paragraphs>104</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Times New Roman</vt:lpstr>
      <vt:lpstr>Open Sans</vt:lpstr>
      <vt:lpstr>Clear Sans</vt:lpstr>
      <vt:lpstr>Clear Sans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MÔN XỬ LÝ ẢNH SỐ</dc:title>
  <cp:lastModifiedBy>2374802013578 - NGUYỄN PHƯỚC THÀNH - 71K29CNTT17</cp:lastModifiedBy>
  <cp:revision>14</cp:revision>
  <dcterms:created xsi:type="dcterms:W3CDTF">2006-08-16T00:00:00Z</dcterms:created>
  <dcterms:modified xsi:type="dcterms:W3CDTF">2025-08-03T09:24:06Z</dcterms:modified>
  <dc:identifier>DAGuXdswBHE</dc:identifier>
</cp:coreProperties>
</file>